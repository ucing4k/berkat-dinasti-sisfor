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and frame the lecture as a journey across the practices that define professional software engineering today. Emphasize that this is not a history lesson - every model discussed is in active use at major technology companies right now, and understanding why each one emerged is what separates engineers who can adapt from those who cannot. Preview the arc: from Agile’s human-centered values, through Scrum, XP, and DevOps, into cloud-native and AI-assisted engineering. Close by reading the five learning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forces did not exist at this intensity thirty years ago, which is exactly why software engineering practice keeps evolving. Ask students to think of an app they use daily and identify which of these five pressures its engineering team likely feels most. This sets up the rest of the lecture: every model, framework, and tool we discuss is essentially a response to one or more of these 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is a mindset defined by the 2001 Agile Manifesto, not a fixed set of rules. Its core insight is that early plans are always wrong to some degree, so teams should build in feedback and adaptation rather than trying to predict everything up front. Spotify is a favorite case study because it shows Agile values applied at organizational scale, while Atlassian shows how Agile collaboration gets tooled in practice. Scrum, next, is the most common way teams structure Agile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is the most widely adopted way to structure Agile work. Each sprint is a fixed time box that begins with planning, includes a short daily sync, and ends with a review and retrospective. Point out that Scrum defines roles, events, and artifacts but deliberately says nothing about engineering technique - that gap is exactly what Extreme Programming fills, which we cover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XP fills in the engineering discipline that Scrum leaves open. These five practices reinforce each other: pair programming and TDD produce cleaner code, continuous integration catches problems from that code immediately, and refactoring keeps the design healthy so small releases stay low-risk. XP is demanding to sustain, which is why it appears most often on high-change projects where quality and adaptability both matter intensely.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comparison to resolve a common student confusion: Agile, Scrum, and XP are not competing alternatives, they operate at different levels. Agile is the value system, Scrum is the most common way to organize a team around it, and XP supplies the engineering practices that make the code itself trustworthy. In practice, many real teams blend Scrum’s ceremonies with XP’s technical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DevOps is fundamentally a culture change before it is a toolchain. In traditional organizations, developers who write code and operators who run it are separate teams with different incentives, which creates hand-offs, delays, and blame when things break. DevOps merges these responsibilities so the same team that builds a feature also owns its reliability in production. Netflix and Amazon are frequently cited because their scale would be unmanageable without this shared-ownership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DevSecOps extends DevOps by treating security as a shared responsibility from day one rather than a final gate before release. "Shift-left" means moving security testing earlier in the pipeline, where fixing a vulnerability is far cheaper than after deployment. Financial technology is a natural example because regulators require continuous compliance evidence, which only automated, pipeline-embedded checks can realistically provide at release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difference between the three "continuous" terms, since students often conflate them: Continuous Integration is about merging code safely, Continuous Delivery means the code is always release-ready but a human decides when, and Continuous Deployment removes that human gate entirely. GitHub Actions and GitLab CI/CD are the tools most students will actually touch in coursework and internships, so connect this diagram directly to something they can try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Cloud-native is an architectural philosophy: build applications as independent microservices, package each in a container for consistency, and let an orchestrator like Kubernetes manage scaling, healing, and networking automatically. The diagram shows the nesting - your services live inside a cluster, which lives on cloud infrastructure. This is why a single failed service, or even a failed server, does not have to take down the entire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now touches nearly every phase of development: writing code, reviewing it, documenting it, testing it, and even clarifying what to build in the first place. These tools are assistants that accelerate a task the engineer still directs - they do not remove the need to understand the problem. Ask students which of these five they have already used, and how it changed their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genuinely open debate worth pausing on. AI clearly increases productivity and compresses development cycles, but every deployed system still needs someone accountable for its correctness, security, and ethical use - and AI models can be confidently wrong. Run this as a short structured debate: give one side two minutes to argue AI will replace much of the role, the other two minutes to argue it will not, then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trends extend directly from what we have covered today. AI-native and agentic AI push today’s coding assistants toward systems that plan and execute multi-step work under supervision. Platform engineering reflects the industry building reusable self-service infrastructure so product teams move faster. Autonomous testing and green software engineering respond to quality and sustainability pressures that will only grow through 2035.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timeline is the spine of the entire lecture: each stage exists because the previous one hit a limit. Waterfall’s rigidity gave rise to Agile’s adaptability; Agile’s lack of structure gave rise to Scrum and XP; the gap between building and running software gave rise to DevOps, and so on. Emphasize that this is not a replacement chain - most organizations today run Agile, DevOps, cloud-native, and AI-assisted practices simultaneously, layered on top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students into small groups and assign each group one of the five questions before a whole-class share-back. This case works well because a food delivery app genuinely needs every practice covered today: iterative features, cross-functional teams, an automated pipeline, elastic cloud scaling for demand spikes, and AI for recommendations and forecasting. Close by reading the three key takeaways aloud as the summary of the entire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image" Target="../media/image-8-1.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6" Type="http://schemas.openxmlformats.org/officeDocument/2006/relationships/image" Target="../media/image-10-2.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3C"/>
        </a:solidFill>
      </p:bgPr>
    </p:bg>
    <p:spTree>
      <p:nvGrpSpPr>
        <p:cNvPr id="1" name=""/>
        <p:cNvGrpSpPr/>
        <p:nvPr/>
      </p:nvGrpSpPr>
      <p:grpSpPr>
        <a:xfrm>
          <a:off x="0" y="0"/>
          <a:ext cx="0" cy="0"/>
          <a:chOff x="0" y="0"/>
          <a:chExt cx="0" cy="0"/>
        </a:xfrm>
      </p:grpSpPr>
      <p:sp>
        <p:nvSpPr>
          <p:cNvPr id="2" name="Shape 0"/>
          <p:cNvSpPr/>
          <p:nvPr/>
        </p:nvSpPr>
        <p:spPr>
          <a:xfrm>
            <a:off x="7863840" y="1097280"/>
            <a:ext cx="457200" cy="457200"/>
          </a:xfrm>
          <a:prstGeom prst="ellipse">
            <a:avLst/>
          </a:prstGeom>
          <a:solidFill>
            <a:srgbClr val="18A0C9"/>
          </a:solidFill>
          <a:ln/>
        </p:spPr>
      </p:sp>
      <p:sp>
        <p:nvSpPr>
          <p:cNvPr id="3" name="Shape 1"/>
          <p:cNvSpPr/>
          <p:nvPr/>
        </p:nvSpPr>
        <p:spPr>
          <a:xfrm>
            <a:off x="8778240" y="2148840"/>
            <a:ext cx="457200" cy="457200"/>
          </a:xfrm>
          <a:prstGeom prst="ellipse">
            <a:avLst/>
          </a:prstGeom>
          <a:solidFill>
            <a:srgbClr val="FF7A45"/>
          </a:solidFill>
          <a:ln/>
        </p:spPr>
      </p:sp>
      <p:sp>
        <p:nvSpPr>
          <p:cNvPr id="4" name="Shape 2"/>
          <p:cNvSpPr/>
          <p:nvPr/>
        </p:nvSpPr>
        <p:spPr>
          <a:xfrm>
            <a:off x="9692640" y="3200400"/>
            <a:ext cx="457200" cy="457200"/>
          </a:xfrm>
          <a:prstGeom prst="ellipse">
            <a:avLst/>
          </a:prstGeom>
          <a:solidFill>
            <a:srgbClr val="18A0C9"/>
          </a:solidFill>
          <a:ln/>
        </p:spPr>
      </p:sp>
      <p:sp>
        <p:nvSpPr>
          <p:cNvPr id="5" name="Shape 3"/>
          <p:cNvSpPr/>
          <p:nvPr/>
        </p:nvSpPr>
        <p:spPr>
          <a:xfrm>
            <a:off x="10607040" y="4251960"/>
            <a:ext cx="457200" cy="457200"/>
          </a:xfrm>
          <a:prstGeom prst="ellipse">
            <a:avLst/>
          </a:prstGeom>
          <a:solidFill>
            <a:srgbClr val="FF7A45"/>
          </a:solidFill>
          <a:ln/>
        </p:spPr>
      </p:sp>
      <p:sp>
        <p:nvSpPr>
          <p:cNvPr id="6" name="Shape 4"/>
          <p:cNvSpPr/>
          <p:nvPr/>
        </p:nvSpPr>
        <p:spPr>
          <a:xfrm>
            <a:off x="8092440" y="1554480"/>
            <a:ext cx="0" cy="594360"/>
          </a:xfrm>
          <a:prstGeom prst="line">
            <a:avLst/>
          </a:prstGeom>
          <a:noFill/>
          <a:ln w="19050">
            <a:solidFill>
              <a:srgbClr val="FFFFFF">
                <a:alpha val="45000"/>
              </a:srgbClr>
            </a:solidFill>
            <a:prstDash val="dash"/>
          </a:ln>
        </p:spPr>
      </p:sp>
      <p:sp>
        <p:nvSpPr>
          <p:cNvPr id="7" name="Shape 5"/>
          <p:cNvSpPr/>
          <p:nvPr/>
        </p:nvSpPr>
        <p:spPr>
          <a:xfrm>
            <a:off x="9006840" y="2606040"/>
            <a:ext cx="0" cy="594360"/>
          </a:xfrm>
          <a:prstGeom prst="line">
            <a:avLst/>
          </a:prstGeom>
          <a:noFill/>
          <a:ln w="19050">
            <a:solidFill>
              <a:srgbClr val="FFFFFF">
                <a:alpha val="45000"/>
              </a:srgbClr>
            </a:solidFill>
            <a:prstDash val="dash"/>
          </a:ln>
        </p:spPr>
      </p:sp>
      <p:sp>
        <p:nvSpPr>
          <p:cNvPr id="8" name="Shape 6"/>
          <p:cNvSpPr/>
          <p:nvPr/>
        </p:nvSpPr>
        <p:spPr>
          <a:xfrm>
            <a:off x="9921240" y="3657600"/>
            <a:ext cx="0" cy="594360"/>
          </a:xfrm>
          <a:prstGeom prst="line">
            <a:avLst/>
          </a:prstGeom>
          <a:noFill/>
          <a:ln w="19050">
            <a:solidFill>
              <a:srgbClr val="FFFFFF">
                <a:alpha val="45000"/>
              </a:srgbClr>
            </a:solidFill>
            <a:prstDash val="dash"/>
          </a:ln>
        </p:spPr>
      </p:sp>
      <p:sp>
        <p:nvSpPr>
          <p:cNvPr id="9" name="Text 7"/>
          <p:cNvSpPr/>
          <p:nvPr/>
        </p:nvSpPr>
        <p:spPr>
          <a:xfrm>
            <a:off x="822960" y="1234440"/>
            <a:ext cx="8229600" cy="365760"/>
          </a:xfrm>
          <a:prstGeom prst="rect">
            <a:avLst/>
          </a:prstGeom>
          <a:noFill/>
          <a:ln/>
        </p:spPr>
        <p:txBody>
          <a:bodyPr wrap="square" lIns="0" tIns="0" rIns="0" bIns="0" rtlCol="0" anchor="ctr"/>
          <a:lstStyle/>
          <a:p>
            <a:pPr indent="0" marL="0">
              <a:buNone/>
            </a:pPr>
            <a:r>
              <a:rPr lang="en-US" sz="1300" b="1" spc="200" kern="0" dirty="0">
                <a:solidFill>
                  <a:srgbClr val="FF7A45"/>
                </a:solidFill>
                <a:latin typeface="Calibri" pitchFamily="34" charset="0"/>
                <a:ea typeface="Calibri" pitchFamily="34" charset="-122"/>
                <a:cs typeface="Calibri" pitchFamily="34" charset="-120"/>
              </a:rPr>
              <a:t>INTERNATIONAL LECTURE SERIES · COMPUTER SCIENCE</a:t>
            </a:r>
            <a:endParaRPr lang="en-US" sz="1300" dirty="0"/>
          </a:p>
        </p:txBody>
      </p:sp>
      <p:sp>
        <p:nvSpPr>
          <p:cNvPr id="10" name="Text 8"/>
          <p:cNvSpPr/>
          <p:nvPr/>
        </p:nvSpPr>
        <p:spPr>
          <a:xfrm>
            <a:off x="822960" y="1691640"/>
            <a:ext cx="896112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Modern Software Engineering</a:t>
            </a:r>
            <a:endParaRPr lang="en-US" sz="4000" dirty="0"/>
          </a:p>
        </p:txBody>
      </p:sp>
      <p:sp>
        <p:nvSpPr>
          <p:cNvPr id="11" name="Text 9"/>
          <p:cNvSpPr/>
          <p:nvPr/>
        </p:nvSpPr>
        <p:spPr>
          <a:xfrm>
            <a:off x="822960" y="2542032"/>
            <a:ext cx="8595360" cy="502920"/>
          </a:xfrm>
          <a:prstGeom prst="rect">
            <a:avLst/>
          </a:prstGeom>
          <a:noFill/>
          <a:ln/>
        </p:spPr>
        <p:txBody>
          <a:bodyPr wrap="square" lIns="0" tIns="0" rIns="0" bIns="0" rtlCol="0" anchor="ctr"/>
          <a:lstStyle/>
          <a:p>
            <a:pPr indent="0" marL="0">
              <a:buNone/>
            </a:pPr>
            <a:r>
              <a:rPr lang="en-US" sz="1700" i="1" dirty="0">
                <a:solidFill>
                  <a:srgbClr val="9FB0D8"/>
                </a:solidFill>
                <a:latin typeface="Calibri" pitchFamily="34" charset="0"/>
                <a:ea typeface="Calibri" pitchFamily="34" charset="-122"/>
                <a:cs typeface="Calibri" pitchFamily="34" charset="-120"/>
              </a:rPr>
              <a:t>Agile, DevOps, Cloud-Native, and AI-Assisted Development</a:t>
            </a:r>
            <a:endParaRPr lang="en-US" sz="1700" dirty="0"/>
          </a:p>
        </p:txBody>
      </p:sp>
      <p:sp>
        <p:nvSpPr>
          <p:cNvPr id="12" name="Text 10"/>
          <p:cNvSpPr/>
          <p:nvPr/>
        </p:nvSpPr>
        <p:spPr>
          <a:xfrm>
            <a:off x="822960" y="2999232"/>
            <a:ext cx="8229600" cy="365760"/>
          </a:xfrm>
          <a:prstGeom prst="rect">
            <a:avLst/>
          </a:prstGeom>
          <a:noFill/>
          <a:ln/>
        </p:spPr>
        <p:txBody>
          <a:bodyPr wrap="square" lIns="0" tIns="0" rIns="0" bIns="0" rtlCol="0" anchor="ctr"/>
          <a:lstStyle/>
          <a:p>
            <a:pPr indent="0" marL="0">
              <a:buNone/>
            </a:pPr>
            <a:r>
              <a:rPr lang="en-US" sz="1250" dirty="0">
                <a:solidFill>
                  <a:srgbClr val="C7D3E8"/>
                </a:solidFill>
                <a:latin typeface="Calibri" pitchFamily="34" charset="0"/>
                <a:ea typeface="Calibri" pitchFamily="34" charset="-122"/>
                <a:cs typeface="Calibri" pitchFamily="34" charset="-120"/>
              </a:rPr>
              <a:t>The skills defining software engineering careers, 2026–2035</a:t>
            </a:r>
            <a:endParaRPr lang="en-US" sz="1250" dirty="0"/>
          </a:p>
        </p:txBody>
      </p:sp>
      <p:sp>
        <p:nvSpPr>
          <p:cNvPr id="13" name="Shape 11"/>
          <p:cNvSpPr/>
          <p:nvPr/>
        </p:nvSpPr>
        <p:spPr>
          <a:xfrm>
            <a:off x="822960" y="3520440"/>
            <a:ext cx="8138160" cy="2697480"/>
          </a:xfrm>
          <a:prstGeom prst="roundRect">
            <a:avLst>
              <a:gd name="adj" fmla="val 2712"/>
            </a:avLst>
          </a:prstGeom>
          <a:solidFill>
            <a:srgbClr val="1B2557"/>
          </a:solidFill>
          <a:ln w="12700">
            <a:solidFill>
              <a:srgbClr val="333F7A"/>
            </a:solidFill>
            <a:prstDash val="solid"/>
          </a:ln>
        </p:spPr>
      </p:sp>
      <p:sp>
        <p:nvSpPr>
          <p:cNvPr id="14" name="Text 12"/>
          <p:cNvSpPr/>
          <p:nvPr/>
        </p:nvSpPr>
        <p:spPr>
          <a:xfrm>
            <a:off x="1051560" y="3675888"/>
            <a:ext cx="5486400" cy="274320"/>
          </a:xfrm>
          <a:prstGeom prst="rect">
            <a:avLst/>
          </a:prstGeom>
          <a:noFill/>
          <a:ln/>
        </p:spPr>
        <p:txBody>
          <a:bodyPr wrap="square" lIns="0" tIns="0" rIns="0" bIns="0" rtlCol="0" anchor="ctr"/>
          <a:lstStyle/>
          <a:p>
            <a:pPr indent="0" marL="0">
              <a:buNone/>
            </a:pPr>
            <a:r>
              <a:rPr lang="en-US" sz="1200" b="1" spc="150" kern="0" dirty="0">
                <a:solidFill>
                  <a:srgbClr val="FF7A45"/>
                </a:solidFill>
                <a:latin typeface="Calibri" pitchFamily="34" charset="0"/>
                <a:ea typeface="Calibri" pitchFamily="34" charset="-122"/>
                <a:cs typeface="Calibri" pitchFamily="34" charset="-120"/>
              </a:rPr>
              <a:t>LEARNING OUTCOMES</a:t>
            </a:r>
            <a:endParaRPr lang="en-US" sz="1200" dirty="0"/>
          </a:p>
        </p:txBody>
      </p:sp>
      <p:sp>
        <p:nvSpPr>
          <p:cNvPr id="15" name="Text 13"/>
          <p:cNvSpPr/>
          <p:nvPr/>
        </p:nvSpPr>
        <p:spPr>
          <a:xfrm>
            <a:off x="1051560" y="3986784"/>
            <a:ext cx="7680960" cy="1645920"/>
          </a:xfrm>
          <a:prstGeom prst="rect">
            <a:avLst/>
          </a:prstGeom>
          <a:noFill/>
          <a:ln/>
        </p:spPr>
        <p:txBody>
          <a:bodyPr wrap="square" lIns="0" tIns="0" rIns="0" bIns="0" rtlCol="0" anchor="t"/>
          <a:lstStyle/>
          <a:p>
            <a:pPr marL="228600" indent="-228600">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Trace the evolution from Agile to AI-Native engineering</a:t>
            </a:r>
            <a:endParaRPr lang="en-US" sz="1350" dirty="0"/>
          </a:p>
          <a:p>
            <a:pPr marL="228600" indent="-228600">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Apply Scrum, XP, and DevOps practices confidently</a:t>
            </a:r>
            <a:endParaRPr lang="en-US" sz="1350" dirty="0"/>
          </a:p>
          <a:p>
            <a:pPr marL="228600" indent="-228600">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Explain CI/CD pipelines and cloud-native architecture</a:t>
            </a:r>
            <a:endParaRPr lang="en-US" sz="1350" dirty="0"/>
          </a:p>
          <a:p>
            <a:pPr marL="228600" indent="-228600">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Evaluate AI’s role across the development lifecycle</a:t>
            </a:r>
            <a:endParaRPr lang="en-US" sz="1350" dirty="0"/>
          </a:p>
          <a:p>
            <a:pPr marL="228600" indent="-228600">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Connect every practice to real industry workflows</a:t>
            </a:r>
            <a:endParaRPr lang="en-US" sz="1350" dirty="0"/>
          </a:p>
        </p:txBody>
      </p:sp>
      <p:sp>
        <p:nvSpPr>
          <p:cNvPr id="16" name="Shape 14"/>
          <p:cNvSpPr/>
          <p:nvPr/>
        </p:nvSpPr>
        <p:spPr>
          <a:xfrm>
            <a:off x="1051560" y="5742432"/>
            <a:ext cx="7680960" cy="0"/>
          </a:xfrm>
          <a:prstGeom prst="line">
            <a:avLst/>
          </a:prstGeom>
          <a:noFill/>
          <a:ln w="12700">
            <a:solidFill>
              <a:srgbClr val="333F7A"/>
            </a:solidFill>
            <a:prstDash val="solid"/>
          </a:ln>
        </p:spPr>
      </p:sp>
      <p:sp>
        <p:nvSpPr>
          <p:cNvPr id="17" name="Text 15"/>
          <p:cNvSpPr/>
          <p:nvPr/>
        </p:nvSpPr>
        <p:spPr>
          <a:xfrm>
            <a:off x="1051560" y="5852160"/>
            <a:ext cx="7680960" cy="320040"/>
          </a:xfrm>
          <a:prstGeom prst="rect">
            <a:avLst/>
          </a:prstGeom>
          <a:noFill/>
          <a:ln/>
        </p:spPr>
        <p:txBody>
          <a:bodyPr wrap="square" lIns="0" tIns="0" rIns="0" bIns="0" rtlCol="0" anchor="ctr"/>
          <a:lstStyle/>
          <a:p>
            <a:pPr indent="0" marL="0">
              <a:buNone/>
            </a:pPr>
            <a:r>
              <a:rPr lang="en-US" sz="1100" i="1" dirty="0">
                <a:solidFill>
                  <a:srgbClr val="9FB0D8"/>
                </a:solidFill>
                <a:latin typeface="Calibri" pitchFamily="34" charset="0"/>
                <a:ea typeface="Calibri" pitchFamily="34" charset="-122"/>
                <a:cs typeface="Calibri" pitchFamily="34" charset="-120"/>
              </a:rPr>
              <a:t>Industry relevance: the practices behind Google, Netflix, Spotify, and GitHub engineering teams</a:t>
            </a:r>
            <a:endParaRPr lang="en-US" sz="1100" dirty="0"/>
          </a:p>
        </p:txBody>
      </p:sp>
      <p:sp>
        <p:nvSpPr>
          <p:cNvPr id="18" name="Text 16"/>
          <p:cNvSpPr/>
          <p:nvPr/>
        </p:nvSpPr>
        <p:spPr>
          <a:xfrm>
            <a:off x="822960" y="6400800"/>
            <a:ext cx="7315200" cy="274320"/>
          </a:xfrm>
          <a:prstGeom prst="rect">
            <a:avLst/>
          </a:prstGeom>
          <a:noFill/>
          <a:ln/>
        </p:spPr>
        <p:txBody>
          <a:bodyPr wrap="square" lIns="0" tIns="0" rIns="0" bIns="0" rtlCol="0" anchor="ctr"/>
          <a:lstStyle/>
          <a:p>
            <a:pPr indent="0" marL="0">
              <a:buNone/>
            </a:pPr>
            <a:r>
              <a:rPr lang="en-US" sz="1050" dirty="0">
                <a:solidFill>
                  <a:srgbClr val="7E8AB5"/>
                </a:solidFill>
                <a:latin typeface="Calibri" pitchFamily="34" charset="0"/>
                <a:ea typeface="Calibri" pitchFamily="34" charset="-122"/>
                <a:cs typeface="Calibri" pitchFamily="34" charset="-120"/>
              </a:rPr>
              <a:t>Instructor Name  ·  Software Engineering Department  ·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Why Modern Software Engineering?</a:t>
            </a:r>
            <a:endParaRPr lang="en-US" sz="3200" dirty="0"/>
          </a:p>
        </p:txBody>
      </p:sp>
      <p:sp>
        <p:nvSpPr>
          <p:cNvPr id="4" name="Text 2"/>
          <p:cNvSpPr/>
          <p:nvPr/>
        </p:nvSpPr>
        <p:spPr>
          <a:xfrm>
            <a:off x="548640" y="1444752"/>
            <a:ext cx="10058400" cy="365760"/>
          </a:xfrm>
          <a:prstGeom prst="rect">
            <a:avLst/>
          </a:prstGeom>
          <a:noFill/>
          <a:ln/>
        </p:spPr>
        <p:txBody>
          <a:bodyPr wrap="square" lIns="0" tIns="0" rIns="0" bIns="0" rtlCol="0" anchor="ctr"/>
          <a:lstStyle/>
          <a:p>
            <a:pPr indent="0" marL="0">
              <a:buNone/>
            </a:pPr>
            <a:r>
              <a:rPr lang="en-US" sz="1450" i="1" dirty="0">
                <a:solidFill>
                  <a:srgbClr val="5B6478"/>
                </a:solidFill>
                <a:latin typeface="Calibri" pitchFamily="34" charset="0"/>
                <a:ea typeface="Calibri" pitchFamily="34" charset="-122"/>
                <a:cs typeface="Calibri" pitchFamily="34" charset="-120"/>
              </a:rPr>
              <a:t>Five forces are reshaping how software gets built:</a:t>
            </a:r>
            <a:endParaRPr lang="en-US" sz="1450" dirty="0"/>
          </a:p>
        </p:txBody>
      </p:sp>
      <p:sp>
        <p:nvSpPr>
          <p:cNvPr id="5" name="Shape 3"/>
          <p:cNvSpPr/>
          <p:nvPr/>
        </p:nvSpPr>
        <p:spPr>
          <a:xfrm>
            <a:off x="548640" y="2057400"/>
            <a:ext cx="2057400" cy="3383280"/>
          </a:xfrm>
          <a:prstGeom prst="roundRect">
            <a:avLst>
              <a:gd name="adj" fmla="val 3111"/>
            </a:avLst>
          </a:prstGeom>
          <a:solidFill>
            <a:srgbClr val="FFFFFF"/>
          </a:solidFill>
          <a:ln w="12700">
            <a:solidFill>
              <a:srgbClr val="DCE3EE"/>
            </a:solidFill>
            <a:prstDash val="solid"/>
          </a:ln>
        </p:spPr>
      </p:sp>
      <p:sp>
        <p:nvSpPr>
          <p:cNvPr id="6" name="Shape 4"/>
          <p:cNvSpPr/>
          <p:nvPr/>
        </p:nvSpPr>
        <p:spPr>
          <a:xfrm>
            <a:off x="1284732" y="2350008"/>
            <a:ext cx="585216" cy="585216"/>
          </a:xfrm>
          <a:prstGeom prst="ellipse">
            <a:avLst/>
          </a:prstGeom>
          <a:solidFill>
            <a:srgbClr val="22326B"/>
          </a:solidFill>
          <a:ln/>
        </p:spPr>
      </p:sp>
      <p:pic>
        <p:nvPicPr>
          <p:cNvPr id="7" name="Image 0" descr="/home/claude/mse_deck/icons/network.png">    </p:cNvPr>
          <p:cNvPicPr>
            <a:picLocks noChangeAspect="1"/>
          </p:cNvPicPr>
          <p:nvPr/>
        </p:nvPicPr>
        <p:blipFill>
          <a:blip r:embed="rId1"/>
          <a:stretch>
            <a:fillRect/>
          </a:stretch>
        </p:blipFill>
        <p:spPr>
          <a:xfrm>
            <a:off x="1413480" y="2478756"/>
            <a:ext cx="327721" cy="327721"/>
          </a:xfrm>
          <a:prstGeom prst="rect">
            <a:avLst/>
          </a:prstGeom>
        </p:spPr>
      </p:pic>
      <p:sp>
        <p:nvSpPr>
          <p:cNvPr id="8" name="Text 5"/>
          <p:cNvSpPr/>
          <p:nvPr/>
        </p:nvSpPr>
        <p:spPr>
          <a:xfrm>
            <a:off x="640080" y="3154680"/>
            <a:ext cx="1874520" cy="320040"/>
          </a:xfrm>
          <a:prstGeom prst="rect">
            <a:avLst/>
          </a:prstGeom>
          <a:noFill/>
          <a:ln/>
        </p:spPr>
        <p:txBody>
          <a:bodyPr wrap="square" lIns="0" tIns="0" rIns="0" bIns="0" rtlCol="0" anchor="ctr"/>
          <a:lstStyle/>
          <a:p>
            <a:pPr algn="ctr" indent="0" marL="0">
              <a:buNone/>
            </a:pPr>
            <a:r>
              <a:rPr lang="en-US" sz="1450" b="1" dirty="0">
                <a:solidFill>
                  <a:srgbClr val="121A3C"/>
                </a:solidFill>
                <a:latin typeface="Calibri" pitchFamily="34" charset="0"/>
                <a:ea typeface="Calibri" pitchFamily="34" charset="-122"/>
                <a:cs typeface="Calibri" pitchFamily="34" charset="-120"/>
              </a:rPr>
              <a:t>Complexity</a:t>
            </a:r>
            <a:endParaRPr lang="en-US" sz="1450" dirty="0"/>
          </a:p>
        </p:txBody>
      </p:sp>
      <p:sp>
        <p:nvSpPr>
          <p:cNvPr id="9" name="Text 6"/>
          <p:cNvSpPr/>
          <p:nvPr/>
        </p:nvSpPr>
        <p:spPr>
          <a:xfrm>
            <a:off x="713232" y="3566160"/>
            <a:ext cx="1728216" cy="1691640"/>
          </a:xfrm>
          <a:prstGeom prst="rect">
            <a:avLst/>
          </a:prstGeom>
          <a:noFill/>
          <a:ln/>
        </p:spPr>
        <p:txBody>
          <a:bodyPr wrap="square" lIns="0" tIns="0" rIns="0" bIns="0" rtlCol="0" anchor="t"/>
          <a:lstStyle/>
          <a:p>
            <a:pPr algn="ctr" indent="0" marL="0">
              <a:lnSpc>
                <a:spcPct val="120000"/>
              </a:lnSpc>
              <a:buNone/>
            </a:pPr>
            <a:r>
              <a:rPr lang="en-US" sz="1100" dirty="0">
                <a:solidFill>
                  <a:srgbClr val="5B6478"/>
                </a:solidFill>
                <a:latin typeface="Calibri" pitchFamily="34" charset="0"/>
                <a:ea typeface="Calibri" pitchFamily="34" charset="-122"/>
                <a:cs typeface="Calibri" pitchFamily="34" charset="-120"/>
              </a:rPr>
              <a:t>Software systems grow larger and more interconnected every year.</a:t>
            </a:r>
            <a:endParaRPr lang="en-US" sz="1100" dirty="0"/>
          </a:p>
        </p:txBody>
      </p:sp>
      <p:sp>
        <p:nvSpPr>
          <p:cNvPr id="10" name="Shape 7"/>
          <p:cNvSpPr/>
          <p:nvPr/>
        </p:nvSpPr>
        <p:spPr>
          <a:xfrm>
            <a:off x="2807208" y="2057400"/>
            <a:ext cx="2057400" cy="3383280"/>
          </a:xfrm>
          <a:prstGeom prst="roundRect">
            <a:avLst>
              <a:gd name="adj" fmla="val 3111"/>
            </a:avLst>
          </a:prstGeom>
          <a:solidFill>
            <a:srgbClr val="FFFFFF"/>
          </a:solidFill>
          <a:ln w="12700">
            <a:solidFill>
              <a:srgbClr val="DCE3EE"/>
            </a:solidFill>
            <a:prstDash val="solid"/>
          </a:ln>
        </p:spPr>
      </p:sp>
      <p:sp>
        <p:nvSpPr>
          <p:cNvPr id="11" name="Shape 8"/>
          <p:cNvSpPr/>
          <p:nvPr/>
        </p:nvSpPr>
        <p:spPr>
          <a:xfrm>
            <a:off x="3543300" y="2350008"/>
            <a:ext cx="585216" cy="585216"/>
          </a:xfrm>
          <a:prstGeom prst="ellipse">
            <a:avLst/>
          </a:prstGeom>
          <a:solidFill>
            <a:srgbClr val="18A0C9"/>
          </a:solidFill>
          <a:ln/>
        </p:spPr>
      </p:sp>
      <p:pic>
        <p:nvPicPr>
          <p:cNvPr id="12" name="Image 1" descr="/home/claude/mse_deck/icons/bolt.png">    </p:cNvPr>
          <p:cNvPicPr>
            <a:picLocks noChangeAspect="1"/>
          </p:cNvPicPr>
          <p:nvPr/>
        </p:nvPicPr>
        <p:blipFill>
          <a:blip r:embed="rId2"/>
          <a:stretch>
            <a:fillRect/>
          </a:stretch>
        </p:blipFill>
        <p:spPr>
          <a:xfrm>
            <a:off x="3672048" y="2478756"/>
            <a:ext cx="327721" cy="327721"/>
          </a:xfrm>
          <a:prstGeom prst="rect">
            <a:avLst/>
          </a:prstGeom>
        </p:spPr>
      </p:pic>
      <p:sp>
        <p:nvSpPr>
          <p:cNvPr id="13" name="Text 9"/>
          <p:cNvSpPr/>
          <p:nvPr/>
        </p:nvSpPr>
        <p:spPr>
          <a:xfrm>
            <a:off x="2898648" y="3154680"/>
            <a:ext cx="1874520" cy="320040"/>
          </a:xfrm>
          <a:prstGeom prst="rect">
            <a:avLst/>
          </a:prstGeom>
          <a:noFill/>
          <a:ln/>
        </p:spPr>
        <p:txBody>
          <a:bodyPr wrap="square" lIns="0" tIns="0" rIns="0" bIns="0" rtlCol="0" anchor="ctr"/>
          <a:lstStyle/>
          <a:p>
            <a:pPr algn="ctr" indent="0" marL="0">
              <a:buNone/>
            </a:pPr>
            <a:r>
              <a:rPr lang="en-US" sz="1450" b="1" dirty="0">
                <a:solidFill>
                  <a:srgbClr val="121A3C"/>
                </a:solidFill>
                <a:latin typeface="Calibri" pitchFamily="34" charset="0"/>
                <a:ea typeface="Calibri" pitchFamily="34" charset="-122"/>
                <a:cs typeface="Calibri" pitchFamily="34" charset="-120"/>
              </a:rPr>
              <a:t>Speed</a:t>
            </a:r>
            <a:endParaRPr lang="en-US" sz="1450" dirty="0"/>
          </a:p>
        </p:txBody>
      </p:sp>
      <p:sp>
        <p:nvSpPr>
          <p:cNvPr id="14" name="Text 10"/>
          <p:cNvSpPr/>
          <p:nvPr/>
        </p:nvSpPr>
        <p:spPr>
          <a:xfrm>
            <a:off x="2971800" y="3566160"/>
            <a:ext cx="1728216" cy="1691640"/>
          </a:xfrm>
          <a:prstGeom prst="rect">
            <a:avLst/>
          </a:prstGeom>
          <a:noFill/>
          <a:ln/>
        </p:spPr>
        <p:txBody>
          <a:bodyPr wrap="square" lIns="0" tIns="0" rIns="0" bIns="0" rtlCol="0" anchor="t"/>
          <a:lstStyle/>
          <a:p>
            <a:pPr algn="ctr" indent="0" marL="0">
              <a:lnSpc>
                <a:spcPct val="120000"/>
              </a:lnSpc>
              <a:buNone/>
            </a:pPr>
            <a:r>
              <a:rPr lang="en-US" sz="1100" dirty="0">
                <a:solidFill>
                  <a:srgbClr val="5B6478"/>
                </a:solidFill>
                <a:latin typeface="Calibri" pitchFamily="34" charset="0"/>
                <a:ea typeface="Calibri" pitchFamily="34" charset="-122"/>
                <a:cs typeface="Calibri" pitchFamily="34" charset="-120"/>
              </a:rPr>
              <a:t>Markets demand faster releases than ever before.</a:t>
            </a:r>
            <a:endParaRPr lang="en-US" sz="1100" dirty="0"/>
          </a:p>
        </p:txBody>
      </p:sp>
      <p:sp>
        <p:nvSpPr>
          <p:cNvPr id="15" name="Shape 11"/>
          <p:cNvSpPr/>
          <p:nvPr/>
        </p:nvSpPr>
        <p:spPr>
          <a:xfrm>
            <a:off x="5065776" y="2057400"/>
            <a:ext cx="2057400" cy="3383280"/>
          </a:xfrm>
          <a:prstGeom prst="roundRect">
            <a:avLst>
              <a:gd name="adj" fmla="val 3111"/>
            </a:avLst>
          </a:prstGeom>
          <a:solidFill>
            <a:srgbClr val="FFFFFF"/>
          </a:solidFill>
          <a:ln w="12700">
            <a:solidFill>
              <a:srgbClr val="DCE3EE"/>
            </a:solidFill>
            <a:prstDash val="solid"/>
          </a:ln>
        </p:spPr>
      </p:sp>
      <p:sp>
        <p:nvSpPr>
          <p:cNvPr id="16" name="Shape 12"/>
          <p:cNvSpPr/>
          <p:nvPr/>
        </p:nvSpPr>
        <p:spPr>
          <a:xfrm>
            <a:off x="5801868" y="2350008"/>
            <a:ext cx="585216" cy="585216"/>
          </a:xfrm>
          <a:prstGeom prst="ellipse">
            <a:avLst/>
          </a:prstGeom>
          <a:solidFill>
            <a:srgbClr val="22326B"/>
          </a:solidFill>
          <a:ln/>
        </p:spPr>
      </p:sp>
      <p:pic>
        <p:nvPicPr>
          <p:cNvPr id="17" name="Image 2" descr="/home/claude/mse_deck/icons/comments.png">    </p:cNvPr>
          <p:cNvPicPr>
            <a:picLocks noChangeAspect="1"/>
          </p:cNvPicPr>
          <p:nvPr/>
        </p:nvPicPr>
        <p:blipFill>
          <a:blip r:embed="rId3"/>
          <a:stretch>
            <a:fillRect/>
          </a:stretch>
        </p:blipFill>
        <p:spPr>
          <a:xfrm>
            <a:off x="5930616" y="2478756"/>
            <a:ext cx="327721" cy="327721"/>
          </a:xfrm>
          <a:prstGeom prst="rect">
            <a:avLst/>
          </a:prstGeom>
        </p:spPr>
      </p:pic>
      <p:sp>
        <p:nvSpPr>
          <p:cNvPr id="18" name="Text 13"/>
          <p:cNvSpPr/>
          <p:nvPr/>
        </p:nvSpPr>
        <p:spPr>
          <a:xfrm>
            <a:off x="5157216" y="3154680"/>
            <a:ext cx="1874520" cy="320040"/>
          </a:xfrm>
          <a:prstGeom prst="rect">
            <a:avLst/>
          </a:prstGeom>
          <a:noFill/>
          <a:ln/>
        </p:spPr>
        <p:txBody>
          <a:bodyPr wrap="square" lIns="0" tIns="0" rIns="0" bIns="0" rtlCol="0" anchor="ctr"/>
          <a:lstStyle/>
          <a:p>
            <a:pPr algn="ctr" indent="0" marL="0">
              <a:buNone/>
            </a:pPr>
            <a:r>
              <a:rPr lang="en-US" sz="1450" b="1" dirty="0">
                <a:solidFill>
                  <a:srgbClr val="121A3C"/>
                </a:solidFill>
                <a:latin typeface="Calibri" pitchFamily="34" charset="0"/>
                <a:ea typeface="Calibri" pitchFamily="34" charset="-122"/>
                <a:cs typeface="Calibri" pitchFamily="34" charset="-120"/>
              </a:rPr>
              <a:t>Expectations</a:t>
            </a:r>
            <a:endParaRPr lang="en-US" sz="1450" dirty="0"/>
          </a:p>
        </p:txBody>
      </p:sp>
      <p:sp>
        <p:nvSpPr>
          <p:cNvPr id="19" name="Text 14"/>
          <p:cNvSpPr/>
          <p:nvPr/>
        </p:nvSpPr>
        <p:spPr>
          <a:xfrm>
            <a:off x="5230368" y="3566160"/>
            <a:ext cx="1728216" cy="1691640"/>
          </a:xfrm>
          <a:prstGeom prst="rect">
            <a:avLst/>
          </a:prstGeom>
          <a:noFill/>
          <a:ln/>
        </p:spPr>
        <p:txBody>
          <a:bodyPr wrap="square" lIns="0" tIns="0" rIns="0" bIns="0" rtlCol="0" anchor="t"/>
          <a:lstStyle/>
          <a:p>
            <a:pPr algn="ctr" indent="0" marL="0">
              <a:lnSpc>
                <a:spcPct val="120000"/>
              </a:lnSpc>
              <a:buNone/>
            </a:pPr>
            <a:r>
              <a:rPr lang="en-US" sz="1100" dirty="0">
                <a:solidFill>
                  <a:srgbClr val="5B6478"/>
                </a:solidFill>
                <a:latin typeface="Calibri" pitchFamily="34" charset="0"/>
                <a:ea typeface="Calibri" pitchFamily="34" charset="-122"/>
                <a:cs typeface="Calibri" pitchFamily="34" charset="-120"/>
              </a:rPr>
              <a:t>Customers expect continuous updates and reliability.</a:t>
            </a:r>
            <a:endParaRPr lang="en-US" sz="1100" dirty="0"/>
          </a:p>
        </p:txBody>
      </p:sp>
      <p:sp>
        <p:nvSpPr>
          <p:cNvPr id="20" name="Shape 15"/>
          <p:cNvSpPr/>
          <p:nvPr/>
        </p:nvSpPr>
        <p:spPr>
          <a:xfrm>
            <a:off x="7324344" y="2057400"/>
            <a:ext cx="2057400" cy="3383280"/>
          </a:xfrm>
          <a:prstGeom prst="roundRect">
            <a:avLst>
              <a:gd name="adj" fmla="val 3111"/>
            </a:avLst>
          </a:prstGeom>
          <a:solidFill>
            <a:srgbClr val="FFFFFF"/>
          </a:solidFill>
          <a:ln w="12700">
            <a:solidFill>
              <a:srgbClr val="DCE3EE"/>
            </a:solidFill>
            <a:prstDash val="solid"/>
          </a:ln>
        </p:spPr>
      </p:sp>
      <p:sp>
        <p:nvSpPr>
          <p:cNvPr id="21" name="Shape 16"/>
          <p:cNvSpPr/>
          <p:nvPr/>
        </p:nvSpPr>
        <p:spPr>
          <a:xfrm>
            <a:off x="8060436" y="2350008"/>
            <a:ext cx="585216" cy="585216"/>
          </a:xfrm>
          <a:prstGeom prst="ellipse">
            <a:avLst/>
          </a:prstGeom>
          <a:solidFill>
            <a:srgbClr val="18A0C9"/>
          </a:solidFill>
          <a:ln/>
        </p:spPr>
      </p:sp>
      <p:pic>
        <p:nvPicPr>
          <p:cNvPr id="22" name="Image 3" descr="/home/claude/mse_deck/icons/expand.png">    </p:cNvPr>
          <p:cNvPicPr>
            <a:picLocks noChangeAspect="1"/>
          </p:cNvPicPr>
          <p:nvPr/>
        </p:nvPicPr>
        <p:blipFill>
          <a:blip r:embed="rId4"/>
          <a:stretch>
            <a:fillRect/>
          </a:stretch>
        </p:blipFill>
        <p:spPr>
          <a:xfrm>
            <a:off x="8189184" y="2478756"/>
            <a:ext cx="327721" cy="327721"/>
          </a:xfrm>
          <a:prstGeom prst="rect">
            <a:avLst/>
          </a:prstGeom>
        </p:spPr>
      </p:pic>
      <p:sp>
        <p:nvSpPr>
          <p:cNvPr id="23" name="Text 17"/>
          <p:cNvSpPr/>
          <p:nvPr/>
        </p:nvSpPr>
        <p:spPr>
          <a:xfrm>
            <a:off x="7415784" y="3154680"/>
            <a:ext cx="1874520" cy="320040"/>
          </a:xfrm>
          <a:prstGeom prst="rect">
            <a:avLst/>
          </a:prstGeom>
          <a:noFill/>
          <a:ln/>
        </p:spPr>
        <p:txBody>
          <a:bodyPr wrap="square" lIns="0" tIns="0" rIns="0" bIns="0" rtlCol="0" anchor="ctr"/>
          <a:lstStyle/>
          <a:p>
            <a:pPr algn="ctr" indent="0" marL="0">
              <a:buNone/>
            </a:pPr>
            <a:r>
              <a:rPr lang="en-US" sz="1450" b="1" dirty="0">
                <a:solidFill>
                  <a:srgbClr val="121A3C"/>
                </a:solidFill>
                <a:latin typeface="Calibri" pitchFamily="34" charset="0"/>
                <a:ea typeface="Calibri" pitchFamily="34" charset="-122"/>
                <a:cs typeface="Calibri" pitchFamily="34" charset="-120"/>
              </a:rPr>
              <a:t>Scale</a:t>
            </a:r>
            <a:endParaRPr lang="en-US" sz="1450" dirty="0"/>
          </a:p>
        </p:txBody>
      </p:sp>
      <p:sp>
        <p:nvSpPr>
          <p:cNvPr id="24" name="Text 18"/>
          <p:cNvSpPr/>
          <p:nvPr/>
        </p:nvSpPr>
        <p:spPr>
          <a:xfrm>
            <a:off x="7488936" y="3566160"/>
            <a:ext cx="1728216" cy="1691640"/>
          </a:xfrm>
          <a:prstGeom prst="rect">
            <a:avLst/>
          </a:prstGeom>
          <a:noFill/>
          <a:ln/>
        </p:spPr>
        <p:txBody>
          <a:bodyPr wrap="square" lIns="0" tIns="0" rIns="0" bIns="0" rtlCol="0" anchor="t"/>
          <a:lstStyle/>
          <a:p>
            <a:pPr algn="ctr" indent="0" marL="0">
              <a:lnSpc>
                <a:spcPct val="120000"/>
              </a:lnSpc>
              <a:buNone/>
            </a:pPr>
            <a:r>
              <a:rPr lang="en-US" sz="1100" dirty="0">
                <a:solidFill>
                  <a:srgbClr val="5B6478"/>
                </a:solidFill>
                <a:latin typeface="Calibri" pitchFamily="34" charset="0"/>
                <a:ea typeface="Calibri" pitchFamily="34" charset="-122"/>
                <a:cs typeface="Calibri" pitchFamily="34" charset="-120"/>
              </a:rPr>
              <a:t>Systems must scale smoothly to millions of users.</a:t>
            </a:r>
            <a:endParaRPr lang="en-US" sz="1100" dirty="0"/>
          </a:p>
        </p:txBody>
      </p:sp>
      <p:sp>
        <p:nvSpPr>
          <p:cNvPr id="25" name="Shape 19"/>
          <p:cNvSpPr/>
          <p:nvPr/>
        </p:nvSpPr>
        <p:spPr>
          <a:xfrm>
            <a:off x="9582912" y="2057400"/>
            <a:ext cx="2057400" cy="3383280"/>
          </a:xfrm>
          <a:prstGeom prst="roundRect">
            <a:avLst>
              <a:gd name="adj" fmla="val 3111"/>
            </a:avLst>
          </a:prstGeom>
          <a:solidFill>
            <a:srgbClr val="FFFFFF"/>
          </a:solidFill>
          <a:ln w="12700">
            <a:solidFill>
              <a:srgbClr val="DCE3EE"/>
            </a:solidFill>
            <a:prstDash val="solid"/>
          </a:ln>
        </p:spPr>
      </p:sp>
      <p:sp>
        <p:nvSpPr>
          <p:cNvPr id="26" name="Shape 20"/>
          <p:cNvSpPr/>
          <p:nvPr/>
        </p:nvSpPr>
        <p:spPr>
          <a:xfrm>
            <a:off x="10319004" y="2350008"/>
            <a:ext cx="585216" cy="585216"/>
          </a:xfrm>
          <a:prstGeom prst="ellipse">
            <a:avLst/>
          </a:prstGeom>
          <a:solidFill>
            <a:srgbClr val="22326B"/>
          </a:solidFill>
          <a:ln/>
        </p:spPr>
      </p:sp>
      <p:pic>
        <p:nvPicPr>
          <p:cNvPr id="27" name="Image 4" descr="/home/claude/mse_deck/icons/sync.png">    </p:cNvPr>
          <p:cNvPicPr>
            <a:picLocks noChangeAspect="1"/>
          </p:cNvPicPr>
          <p:nvPr/>
        </p:nvPicPr>
        <p:blipFill>
          <a:blip r:embed="rId5"/>
          <a:stretch>
            <a:fillRect/>
          </a:stretch>
        </p:blipFill>
        <p:spPr>
          <a:xfrm>
            <a:off x="10447752" y="2478756"/>
            <a:ext cx="327721" cy="327721"/>
          </a:xfrm>
          <a:prstGeom prst="rect">
            <a:avLst/>
          </a:prstGeom>
        </p:spPr>
      </p:pic>
      <p:sp>
        <p:nvSpPr>
          <p:cNvPr id="28" name="Text 21"/>
          <p:cNvSpPr/>
          <p:nvPr/>
        </p:nvSpPr>
        <p:spPr>
          <a:xfrm>
            <a:off x="9674352" y="3154680"/>
            <a:ext cx="1874520" cy="320040"/>
          </a:xfrm>
          <a:prstGeom prst="rect">
            <a:avLst/>
          </a:prstGeom>
          <a:noFill/>
          <a:ln/>
        </p:spPr>
        <p:txBody>
          <a:bodyPr wrap="square" lIns="0" tIns="0" rIns="0" bIns="0" rtlCol="0" anchor="ctr"/>
          <a:lstStyle/>
          <a:p>
            <a:pPr algn="ctr" indent="0" marL="0">
              <a:buNone/>
            </a:pPr>
            <a:r>
              <a:rPr lang="en-US" sz="1450" b="1" dirty="0">
                <a:solidFill>
                  <a:srgbClr val="121A3C"/>
                </a:solidFill>
                <a:latin typeface="Calibri" pitchFamily="34" charset="0"/>
                <a:ea typeface="Calibri" pitchFamily="34" charset="-122"/>
                <a:cs typeface="Calibri" pitchFamily="34" charset="-120"/>
              </a:rPr>
              <a:t>Automation</a:t>
            </a:r>
            <a:endParaRPr lang="en-US" sz="1450" dirty="0"/>
          </a:p>
        </p:txBody>
      </p:sp>
      <p:sp>
        <p:nvSpPr>
          <p:cNvPr id="29" name="Text 22"/>
          <p:cNvSpPr/>
          <p:nvPr/>
        </p:nvSpPr>
        <p:spPr>
          <a:xfrm>
            <a:off x="9747504" y="3566160"/>
            <a:ext cx="1728216" cy="1691640"/>
          </a:xfrm>
          <a:prstGeom prst="rect">
            <a:avLst/>
          </a:prstGeom>
          <a:noFill/>
          <a:ln/>
        </p:spPr>
        <p:txBody>
          <a:bodyPr wrap="square" lIns="0" tIns="0" rIns="0" bIns="0" rtlCol="0" anchor="t"/>
          <a:lstStyle/>
          <a:p>
            <a:pPr algn="ctr" indent="0" marL="0">
              <a:lnSpc>
                <a:spcPct val="120000"/>
              </a:lnSpc>
              <a:buNone/>
            </a:pPr>
            <a:r>
              <a:rPr lang="en-US" sz="1100" dirty="0">
                <a:solidFill>
                  <a:srgbClr val="5B6478"/>
                </a:solidFill>
                <a:latin typeface="Calibri" pitchFamily="34" charset="0"/>
                <a:ea typeface="Calibri" pitchFamily="34" charset="-122"/>
                <a:cs typeface="Calibri" pitchFamily="34" charset="-120"/>
              </a:rPr>
              <a:t>Automation is now essential, not optional.</a:t>
            </a:r>
            <a:endParaRPr lang="en-US" sz="1100" dirty="0"/>
          </a:p>
        </p:txBody>
      </p:sp>
      <p:sp>
        <p:nvSpPr>
          <p:cNvPr id="30" name="Text 23"/>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31" name="Text 2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FOUNDATIONAL MINDSET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Agile Development</a:t>
            </a:r>
            <a:endParaRPr lang="en-US" sz="3200" dirty="0"/>
          </a:p>
        </p:txBody>
      </p:sp>
      <p:sp>
        <p:nvSpPr>
          <p:cNvPr id="4" name="Text 2"/>
          <p:cNvSpPr/>
          <p:nvPr/>
        </p:nvSpPr>
        <p:spPr>
          <a:xfrm>
            <a:off x="548640" y="1691640"/>
            <a:ext cx="6217920" cy="3657600"/>
          </a:xfrm>
          <a:prstGeom prst="rect">
            <a:avLst/>
          </a:prstGeom>
          <a:noFill/>
          <a:ln/>
        </p:spPr>
        <p:txBody>
          <a:bodyPr wrap="square" lIns="0" tIns="0" rIns="0" bIns="0" rtlCol="0" anchor="t"/>
          <a:lstStyle/>
          <a:p>
            <a:pPr marL="228600" indent="-228600">
              <a:spcAft>
                <a:spcPts val="1900"/>
              </a:spcAft>
              <a:buSzPct val="100000"/>
              <a:buChar char="▪"/>
            </a:pPr>
            <a:r>
              <a:rPr lang="en-US" sz="1550" dirty="0">
                <a:solidFill>
                  <a:srgbClr val="1E2433"/>
                </a:solidFill>
                <a:latin typeface="Calibri" pitchFamily="34" charset="0"/>
                <a:ea typeface="Calibri" pitchFamily="34" charset="-122"/>
                <a:cs typeface="Calibri" pitchFamily="34" charset="-120"/>
              </a:rPr>
              <a:t>Values individuals and interactions over rigid processes</a:t>
            </a:r>
            <a:endParaRPr lang="en-US" sz="1550" dirty="0"/>
          </a:p>
          <a:p>
            <a:pPr marL="228600" indent="-228600">
              <a:spcAft>
                <a:spcPts val="1900"/>
              </a:spcAft>
              <a:buSzPct val="100000"/>
              <a:buChar char="▪"/>
            </a:pPr>
            <a:r>
              <a:rPr lang="en-US" sz="1550" dirty="0">
                <a:solidFill>
                  <a:srgbClr val="1E2433"/>
                </a:solidFill>
                <a:latin typeface="Calibri" pitchFamily="34" charset="0"/>
                <a:ea typeface="Calibri" pitchFamily="34" charset="-122"/>
                <a:cs typeface="Calibri" pitchFamily="34" charset="-120"/>
              </a:rPr>
              <a:t>Customer collaboration drives continuous requirement refinement</a:t>
            </a:r>
            <a:endParaRPr lang="en-US" sz="1550" dirty="0"/>
          </a:p>
          <a:p>
            <a:pPr marL="228600" indent="-228600">
              <a:spcAft>
                <a:spcPts val="1900"/>
              </a:spcAft>
              <a:buSzPct val="100000"/>
              <a:buChar char="▪"/>
            </a:pPr>
            <a:r>
              <a:rPr lang="en-US" sz="1550" dirty="0">
                <a:solidFill>
                  <a:srgbClr val="1E2433"/>
                </a:solidFill>
                <a:latin typeface="Calibri" pitchFamily="34" charset="0"/>
                <a:ea typeface="Calibri" pitchFamily="34" charset="-122"/>
                <a:cs typeface="Calibri" pitchFamily="34" charset="-120"/>
              </a:rPr>
              <a:t>Adaptive planning responds to changing priorities</a:t>
            </a:r>
            <a:endParaRPr lang="en-US" sz="1550" dirty="0"/>
          </a:p>
          <a:p>
            <a:pPr marL="228600" indent="-228600">
              <a:spcAft>
                <a:spcPts val="1900"/>
              </a:spcAft>
              <a:buSzPct val="100000"/>
              <a:buChar char="▪"/>
            </a:pPr>
            <a:r>
              <a:rPr lang="en-US" sz="1550" dirty="0">
                <a:solidFill>
                  <a:srgbClr val="1E2433"/>
                </a:solidFill>
                <a:latin typeface="Calibri" pitchFamily="34" charset="0"/>
                <a:ea typeface="Calibri" pitchFamily="34" charset="-122"/>
                <a:cs typeface="Calibri" pitchFamily="34" charset="-120"/>
              </a:rPr>
              <a:t>Iterative delivery ships value in small increments</a:t>
            </a:r>
            <a:endParaRPr lang="en-US" sz="1550" dirty="0"/>
          </a:p>
          <a:p>
            <a:pPr marL="228600" indent="-228600">
              <a:spcAft>
                <a:spcPts val="1900"/>
              </a:spcAft>
              <a:buSzPct val="100000"/>
              <a:buChar char="▪"/>
            </a:pPr>
            <a:r>
              <a:rPr lang="en-US" sz="1550" dirty="0">
                <a:solidFill>
                  <a:srgbClr val="1E2433"/>
                </a:solidFill>
                <a:latin typeface="Calibri" pitchFamily="34" charset="0"/>
                <a:ea typeface="Calibri" pitchFamily="34" charset="-122"/>
                <a:cs typeface="Calibri" pitchFamily="34" charset="-120"/>
              </a:rPr>
              <a:t>Continuous feedback loops improve quality each cycle</a:t>
            </a:r>
            <a:endParaRPr lang="en-US" sz="1550" dirty="0"/>
          </a:p>
        </p:txBody>
      </p:sp>
      <p:sp>
        <p:nvSpPr>
          <p:cNvPr id="5" name="Shape 3"/>
          <p:cNvSpPr/>
          <p:nvPr/>
        </p:nvSpPr>
        <p:spPr>
          <a:xfrm>
            <a:off x="7178040" y="1691640"/>
            <a:ext cx="4480560" cy="3931920"/>
          </a:xfrm>
          <a:prstGeom prst="roundRect">
            <a:avLst>
              <a:gd name="adj" fmla="val 1860"/>
            </a:avLst>
          </a:prstGeom>
          <a:solidFill>
            <a:srgbClr val="121A3C"/>
          </a:solidFill>
          <a:ln/>
        </p:spPr>
      </p:sp>
      <p:sp>
        <p:nvSpPr>
          <p:cNvPr id="6" name="Shape 4"/>
          <p:cNvSpPr/>
          <p:nvPr/>
        </p:nvSpPr>
        <p:spPr>
          <a:xfrm>
            <a:off x="7452360" y="1947672"/>
            <a:ext cx="548640" cy="548640"/>
          </a:xfrm>
          <a:prstGeom prst="ellipse">
            <a:avLst/>
          </a:prstGeom>
          <a:solidFill>
            <a:srgbClr val="FF7A45"/>
          </a:solidFill>
          <a:ln/>
        </p:spPr>
      </p:sp>
      <p:pic>
        <p:nvPicPr>
          <p:cNvPr id="7" name="Image 0" descr="/home/claude/mse_deck/icons/handshake.png">    </p:cNvPr>
          <p:cNvPicPr>
            <a:picLocks noChangeAspect="1"/>
          </p:cNvPicPr>
          <p:nvPr/>
        </p:nvPicPr>
        <p:blipFill>
          <a:blip r:embed="rId1"/>
          <a:stretch>
            <a:fillRect/>
          </a:stretch>
        </p:blipFill>
        <p:spPr>
          <a:xfrm>
            <a:off x="7573061" y="2068373"/>
            <a:ext cx="307238" cy="307238"/>
          </a:xfrm>
          <a:prstGeom prst="rect">
            <a:avLst/>
          </a:prstGeom>
        </p:spPr>
      </p:pic>
      <p:sp>
        <p:nvSpPr>
          <p:cNvPr id="8" name="Text 5"/>
          <p:cNvSpPr/>
          <p:nvPr/>
        </p:nvSpPr>
        <p:spPr>
          <a:xfrm>
            <a:off x="8138160" y="1984248"/>
            <a:ext cx="3291840" cy="274320"/>
          </a:xfrm>
          <a:prstGeom prst="rect">
            <a:avLst/>
          </a:prstGeom>
          <a:noFill/>
          <a:ln/>
        </p:spPr>
        <p:txBody>
          <a:bodyPr wrap="square" lIns="0" tIns="0" rIns="0" bIns="0" rtlCol="0" anchor="ctr"/>
          <a:lstStyle/>
          <a:p>
            <a:pPr indent="0" marL="0">
              <a:buNone/>
            </a:pPr>
            <a:r>
              <a:rPr lang="en-US" sz="1100" b="1" spc="150" kern="0" dirty="0">
                <a:solidFill>
                  <a:srgbClr val="FF7A45"/>
                </a:solidFill>
                <a:latin typeface="Calibri" pitchFamily="34" charset="0"/>
                <a:ea typeface="Calibri" pitchFamily="34" charset="-122"/>
                <a:cs typeface="Calibri" pitchFamily="34" charset="-120"/>
              </a:rPr>
              <a:t>INDUSTRY SPOTLIGHT</a:t>
            </a:r>
            <a:endParaRPr lang="en-US" sz="1100" dirty="0"/>
          </a:p>
        </p:txBody>
      </p:sp>
      <p:sp>
        <p:nvSpPr>
          <p:cNvPr id="9" name="Text 6"/>
          <p:cNvSpPr/>
          <p:nvPr/>
        </p:nvSpPr>
        <p:spPr>
          <a:xfrm>
            <a:off x="8138160" y="2221992"/>
            <a:ext cx="329184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Spotify &amp; Atlassian</a:t>
            </a:r>
            <a:endParaRPr lang="en-US" sz="1700" dirty="0"/>
          </a:p>
        </p:txBody>
      </p:sp>
      <p:sp>
        <p:nvSpPr>
          <p:cNvPr id="10" name="Text 7"/>
          <p:cNvSpPr/>
          <p:nvPr/>
        </p:nvSpPr>
        <p:spPr>
          <a:xfrm>
            <a:off x="7452360" y="2743200"/>
            <a:ext cx="3931920" cy="914400"/>
          </a:xfrm>
          <a:prstGeom prst="rect">
            <a:avLst/>
          </a:prstGeom>
          <a:noFill/>
          <a:ln/>
        </p:spPr>
        <p:txBody>
          <a:bodyPr wrap="square" lIns="0" tIns="0" rIns="0" bIns="0" rtlCol="0" anchor="ctr"/>
          <a:lstStyle/>
          <a:p>
            <a:pPr indent="0" marL="0">
              <a:lnSpc>
                <a:spcPct val="120000"/>
              </a:lnSpc>
              <a:buNone/>
            </a:pPr>
            <a:r>
              <a:rPr lang="en-US" sz="1200" dirty="0">
                <a:solidFill>
                  <a:srgbClr val="C7D3E8"/>
                </a:solidFill>
                <a:latin typeface="Calibri" pitchFamily="34" charset="0"/>
                <a:ea typeface="Calibri" pitchFamily="34" charset="-122"/>
                <a:cs typeface="Calibri" pitchFamily="34" charset="-120"/>
              </a:rPr>
              <a:t>Spotify’s autonomous "squads" popularized Agile at scale, each owning a feature end-to-end.</a:t>
            </a:r>
            <a:endParaRPr lang="en-US" sz="1200" dirty="0"/>
          </a:p>
        </p:txBody>
      </p:sp>
      <p:sp>
        <p:nvSpPr>
          <p:cNvPr id="11" name="Shape 8"/>
          <p:cNvSpPr/>
          <p:nvPr/>
        </p:nvSpPr>
        <p:spPr>
          <a:xfrm>
            <a:off x="7452360" y="3703320"/>
            <a:ext cx="3931920" cy="0"/>
          </a:xfrm>
          <a:prstGeom prst="line">
            <a:avLst/>
          </a:prstGeom>
          <a:noFill/>
          <a:ln w="12700">
            <a:solidFill>
              <a:srgbClr val="333F7A"/>
            </a:solidFill>
            <a:prstDash val="solid"/>
          </a:ln>
        </p:spPr>
      </p:sp>
      <p:sp>
        <p:nvSpPr>
          <p:cNvPr id="12" name="Text 9"/>
          <p:cNvSpPr/>
          <p:nvPr/>
        </p:nvSpPr>
        <p:spPr>
          <a:xfrm>
            <a:off x="7452360" y="3840480"/>
            <a:ext cx="3931920" cy="1371600"/>
          </a:xfrm>
          <a:prstGeom prst="rect">
            <a:avLst/>
          </a:prstGeom>
          <a:noFill/>
          <a:ln/>
        </p:spPr>
        <p:txBody>
          <a:bodyPr wrap="square" lIns="0" tIns="0" rIns="0" bIns="0" rtlCol="0" anchor="ctr"/>
          <a:lstStyle/>
          <a:p>
            <a:pPr indent="0" marL="0">
              <a:lnSpc>
                <a:spcPct val="120000"/>
              </a:lnSpc>
              <a:buNone/>
            </a:pPr>
            <a:r>
              <a:rPr lang="en-US" sz="1200" dirty="0">
                <a:solidFill>
                  <a:srgbClr val="C7D3E8"/>
                </a:solidFill>
                <a:latin typeface="Calibri" pitchFamily="34" charset="0"/>
                <a:ea typeface="Calibri" pitchFamily="34" charset="-122"/>
                <a:cs typeface="Calibri" pitchFamily="34" charset="-120"/>
              </a:rPr>
              <a:t>Atlassian builds Jira and Confluence — tools that operationalize Agile collaboration for teams worldwide.</a:t>
            </a:r>
            <a:endParaRPr lang="en-US" sz="1200" dirty="0"/>
          </a:p>
        </p:txBody>
      </p:sp>
      <p:sp>
        <p:nvSpPr>
          <p:cNvPr id="13" name="Text 10"/>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14" name="Text 1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FOUNDATIONAL MINDSET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The Scrum Framework</a:t>
            </a:r>
            <a:endParaRPr lang="en-US" sz="3200" dirty="0"/>
          </a:p>
        </p:txBody>
      </p:sp>
      <p:sp>
        <p:nvSpPr>
          <p:cNvPr id="4" name="Text 2"/>
          <p:cNvSpPr/>
          <p:nvPr/>
        </p:nvSpPr>
        <p:spPr>
          <a:xfrm>
            <a:off x="548640" y="1828800"/>
            <a:ext cx="5669280" cy="3657600"/>
          </a:xfrm>
          <a:prstGeom prst="rect">
            <a:avLst/>
          </a:prstGeom>
          <a:noFill/>
          <a:ln/>
        </p:spPr>
        <p:txBody>
          <a:bodyPr wrap="square" lIns="0" tIns="0" rIns="0" bIns="0" rtlCol="0" anchor="t"/>
          <a:lstStyle/>
          <a:p>
            <a:pPr marL="228600" indent="-228600">
              <a:spcAft>
                <a:spcPts val="1700"/>
              </a:spcAft>
              <a:buSzPct val="100000"/>
              <a:buChar char="▪"/>
            </a:pPr>
            <a:r>
              <a:rPr lang="en-US" sz="1500" dirty="0">
                <a:solidFill>
                  <a:srgbClr val="1E2433"/>
                </a:solidFill>
                <a:latin typeface="Calibri" pitchFamily="34" charset="0"/>
                <a:ea typeface="Calibri" pitchFamily="34" charset="-122"/>
                <a:cs typeface="Calibri" pitchFamily="34" charset="-120"/>
              </a:rPr>
              <a:t>Roles: Product Owner, Scrum Master, Development Team</a:t>
            </a:r>
            <a:endParaRPr lang="en-US" sz="1500" dirty="0"/>
          </a:p>
          <a:p>
            <a:pPr marL="228600" indent="-228600">
              <a:spcAft>
                <a:spcPts val="1700"/>
              </a:spcAft>
              <a:buSzPct val="100000"/>
              <a:buChar char="▪"/>
            </a:pPr>
            <a:r>
              <a:rPr lang="en-US" sz="1500" dirty="0">
                <a:solidFill>
                  <a:srgbClr val="1E2433"/>
                </a:solidFill>
                <a:latin typeface="Calibri" pitchFamily="34" charset="0"/>
                <a:ea typeface="Calibri" pitchFamily="34" charset="-122"/>
                <a:cs typeface="Calibri" pitchFamily="34" charset="-120"/>
              </a:rPr>
              <a:t>Artifacts: Product Backlog, Sprint Backlog, Increment</a:t>
            </a:r>
            <a:endParaRPr lang="en-US" sz="1500" dirty="0"/>
          </a:p>
          <a:p>
            <a:pPr marL="228600" indent="-228600">
              <a:spcAft>
                <a:spcPts val="1700"/>
              </a:spcAft>
              <a:buSzPct val="100000"/>
              <a:buChar char="▪"/>
            </a:pPr>
            <a:r>
              <a:rPr lang="en-US" sz="1500" dirty="0">
                <a:solidFill>
                  <a:srgbClr val="1E2433"/>
                </a:solidFill>
                <a:latin typeface="Calibri" pitchFamily="34" charset="0"/>
                <a:ea typeface="Calibri" pitchFamily="34" charset="-122"/>
                <a:cs typeface="Calibri" pitchFamily="34" charset="-120"/>
              </a:rPr>
              <a:t>Sprint workflow repeats every one to four weeks</a:t>
            </a:r>
            <a:endParaRPr lang="en-US" sz="1500" dirty="0"/>
          </a:p>
          <a:p>
            <a:pPr marL="228600" indent="-228600">
              <a:spcAft>
                <a:spcPts val="1700"/>
              </a:spcAft>
              <a:buSzPct val="100000"/>
              <a:buChar char="▪"/>
            </a:pPr>
            <a:r>
              <a:rPr lang="en-US" sz="1500" dirty="0">
                <a:solidFill>
                  <a:srgbClr val="1E2433"/>
                </a:solidFill>
                <a:latin typeface="Calibri" pitchFamily="34" charset="0"/>
                <a:ea typeface="Calibri" pitchFamily="34" charset="-122"/>
                <a:cs typeface="Calibri" pitchFamily="34" charset="-120"/>
              </a:rPr>
              <a:t>Built on inspect, adapt, and transparency</a:t>
            </a:r>
            <a:endParaRPr lang="en-US" sz="1500" dirty="0"/>
          </a:p>
          <a:p>
            <a:pPr marL="228600" indent="-228600">
              <a:spcAft>
                <a:spcPts val="1700"/>
              </a:spcAft>
              <a:buSzPct val="100000"/>
              <a:buChar char="▪"/>
            </a:pPr>
            <a:r>
              <a:rPr lang="en-US" sz="1500" dirty="0">
                <a:solidFill>
                  <a:srgbClr val="1E2433"/>
                </a:solidFill>
                <a:latin typeface="Calibri" pitchFamily="34" charset="0"/>
                <a:ea typeface="Calibri" pitchFamily="34" charset="-122"/>
                <a:cs typeface="Calibri" pitchFamily="34" charset="-120"/>
              </a:rPr>
              <a:t>Example: Microsoft Teams ships features via sprints</a:t>
            </a:r>
            <a:endParaRPr lang="en-US" sz="1500" dirty="0"/>
          </a:p>
        </p:txBody>
      </p:sp>
      <p:sp>
        <p:nvSpPr>
          <p:cNvPr id="5" name="Shape 3"/>
          <p:cNvSpPr/>
          <p:nvPr/>
        </p:nvSpPr>
        <p:spPr>
          <a:xfrm>
            <a:off x="8577072" y="3044952"/>
            <a:ext cx="1133856" cy="1133856"/>
          </a:xfrm>
          <a:prstGeom prst="ellipse">
            <a:avLst/>
          </a:prstGeom>
          <a:solidFill>
            <a:srgbClr val="FF7A45"/>
          </a:solidFill>
          <a:ln w="25400">
            <a:solidFill>
              <a:srgbClr val="FFFFFF"/>
            </a:solidFill>
            <a:prstDash val="solid"/>
          </a:ln>
        </p:spPr>
      </p:sp>
      <p:sp>
        <p:nvSpPr>
          <p:cNvPr id="6" name="Text 4"/>
          <p:cNvSpPr/>
          <p:nvPr/>
        </p:nvSpPr>
        <p:spPr>
          <a:xfrm>
            <a:off x="8577072" y="3044952"/>
            <a:ext cx="1133856" cy="1133856"/>
          </a:xfrm>
          <a:prstGeom prst="rect">
            <a:avLst/>
          </a:prstGeom>
          <a:noFill/>
          <a:ln/>
        </p:spPr>
        <p:txBody>
          <a:bodyPr wrap="square" lIns="0" tIns="0" rIns="0" bIns="0" rtlCol="0" anchor="ctr"/>
          <a:lstStyle/>
          <a:p>
            <a:pPr algn="ctr" indent="0" marL="0">
              <a:lnSpc>
                <a:spcPct val="100000"/>
              </a:lnSpc>
              <a:buNone/>
            </a:pPr>
            <a:r>
              <a:rPr lang="en-US" sz="1050" b="1" dirty="0">
                <a:solidFill>
                  <a:srgbClr val="121A3C"/>
                </a:solidFill>
                <a:latin typeface="Calibri" pitchFamily="34" charset="0"/>
                <a:ea typeface="Calibri" pitchFamily="34" charset="-122"/>
                <a:cs typeface="Calibri" pitchFamily="34" charset="-120"/>
              </a:rPr>
              <a:t>SPRINT</a:t>
            </a:r>
            <a:endParaRPr lang="en-US" sz="1050" dirty="0"/>
          </a:p>
          <a:p>
            <a:pPr algn="ctr" indent="0" marL="0">
              <a:lnSpc>
                <a:spcPct val="100000"/>
              </a:lnSpc>
              <a:buNone/>
            </a:pPr>
            <a:r>
              <a:rPr lang="en-US" sz="1050" b="1" dirty="0">
                <a:solidFill>
                  <a:srgbClr val="121A3C"/>
                </a:solidFill>
                <a:latin typeface="Calibri" pitchFamily="34" charset="0"/>
                <a:ea typeface="Calibri" pitchFamily="34" charset="-122"/>
                <a:cs typeface="Calibri" pitchFamily="34" charset="-120"/>
              </a:rPr>
              <a:t>1–4 wks</a:t>
            </a:r>
            <a:endParaRPr lang="en-US" sz="1050" dirty="0"/>
          </a:p>
        </p:txBody>
      </p:sp>
      <p:sp>
        <p:nvSpPr>
          <p:cNvPr id="7" name="Shape 5"/>
          <p:cNvSpPr/>
          <p:nvPr/>
        </p:nvSpPr>
        <p:spPr>
          <a:xfrm>
            <a:off x="8526780" y="1440180"/>
            <a:ext cx="1234440" cy="1234440"/>
          </a:xfrm>
          <a:prstGeom prst="ellipse">
            <a:avLst/>
          </a:prstGeom>
          <a:solidFill>
            <a:srgbClr val="18A0C9"/>
          </a:solidFill>
          <a:ln w="25400">
            <a:solidFill>
              <a:srgbClr val="FFFFFF"/>
            </a:solidFill>
            <a:prstDash val="solid"/>
          </a:ln>
        </p:spPr>
      </p:sp>
      <p:sp>
        <p:nvSpPr>
          <p:cNvPr id="8" name="Text 6"/>
          <p:cNvSpPr/>
          <p:nvPr/>
        </p:nvSpPr>
        <p:spPr>
          <a:xfrm>
            <a:off x="8526780" y="1440180"/>
            <a:ext cx="1234440" cy="123444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Sprint</a:t>
            </a:r>
            <a:endParaRPr lang="en-US" sz="1050" dirty="0"/>
          </a:p>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Planning</a:t>
            </a:r>
            <a:endParaRPr lang="en-US" sz="1050" dirty="0"/>
          </a:p>
        </p:txBody>
      </p:sp>
      <p:sp>
        <p:nvSpPr>
          <p:cNvPr id="9" name="Shape 7"/>
          <p:cNvSpPr/>
          <p:nvPr/>
        </p:nvSpPr>
        <p:spPr>
          <a:xfrm>
            <a:off x="10081260" y="2994660"/>
            <a:ext cx="1234440" cy="1234440"/>
          </a:xfrm>
          <a:prstGeom prst="ellipse">
            <a:avLst/>
          </a:prstGeom>
          <a:solidFill>
            <a:srgbClr val="18A0C9"/>
          </a:solidFill>
          <a:ln w="25400">
            <a:solidFill>
              <a:srgbClr val="FFFFFF"/>
            </a:solidFill>
            <a:prstDash val="solid"/>
          </a:ln>
        </p:spPr>
      </p:sp>
      <p:sp>
        <p:nvSpPr>
          <p:cNvPr id="10" name="Text 8"/>
          <p:cNvSpPr/>
          <p:nvPr/>
        </p:nvSpPr>
        <p:spPr>
          <a:xfrm>
            <a:off x="10081260" y="2994660"/>
            <a:ext cx="1234440" cy="123444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Daily</a:t>
            </a:r>
            <a:endParaRPr lang="en-US" sz="1050" dirty="0"/>
          </a:p>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Scrum</a:t>
            </a:r>
            <a:endParaRPr lang="en-US" sz="1050" dirty="0"/>
          </a:p>
        </p:txBody>
      </p:sp>
      <p:sp>
        <p:nvSpPr>
          <p:cNvPr id="11" name="Shape 9"/>
          <p:cNvSpPr/>
          <p:nvPr/>
        </p:nvSpPr>
        <p:spPr>
          <a:xfrm>
            <a:off x="8526780" y="4549140"/>
            <a:ext cx="1234440" cy="1234440"/>
          </a:xfrm>
          <a:prstGeom prst="ellipse">
            <a:avLst/>
          </a:prstGeom>
          <a:solidFill>
            <a:srgbClr val="18A0C9"/>
          </a:solidFill>
          <a:ln w="25400">
            <a:solidFill>
              <a:srgbClr val="FFFFFF"/>
            </a:solidFill>
            <a:prstDash val="solid"/>
          </a:ln>
        </p:spPr>
      </p:sp>
      <p:sp>
        <p:nvSpPr>
          <p:cNvPr id="12" name="Text 10"/>
          <p:cNvSpPr/>
          <p:nvPr/>
        </p:nvSpPr>
        <p:spPr>
          <a:xfrm>
            <a:off x="8526780" y="4549140"/>
            <a:ext cx="1234440" cy="123444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Sprint</a:t>
            </a:r>
            <a:endParaRPr lang="en-US" sz="1050" dirty="0"/>
          </a:p>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Review</a:t>
            </a:r>
            <a:endParaRPr lang="en-US" sz="1050" dirty="0"/>
          </a:p>
        </p:txBody>
      </p:sp>
      <p:sp>
        <p:nvSpPr>
          <p:cNvPr id="13" name="Shape 11"/>
          <p:cNvSpPr/>
          <p:nvPr/>
        </p:nvSpPr>
        <p:spPr>
          <a:xfrm>
            <a:off x="6972300" y="2994660"/>
            <a:ext cx="1234440" cy="1234440"/>
          </a:xfrm>
          <a:prstGeom prst="ellipse">
            <a:avLst/>
          </a:prstGeom>
          <a:solidFill>
            <a:srgbClr val="18A0C9"/>
          </a:solidFill>
          <a:ln w="25400">
            <a:solidFill>
              <a:srgbClr val="FFFFFF"/>
            </a:solidFill>
            <a:prstDash val="solid"/>
          </a:ln>
        </p:spPr>
      </p:sp>
      <p:sp>
        <p:nvSpPr>
          <p:cNvPr id="14" name="Text 12"/>
          <p:cNvSpPr/>
          <p:nvPr/>
        </p:nvSpPr>
        <p:spPr>
          <a:xfrm>
            <a:off x="6972300" y="2994660"/>
            <a:ext cx="1234440" cy="123444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Retro-</a:t>
            </a:r>
            <a:endParaRPr lang="en-US" sz="1050" dirty="0"/>
          </a:p>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spective</a:t>
            </a:r>
            <a:endParaRPr lang="en-US" sz="1050" dirty="0"/>
          </a:p>
        </p:txBody>
      </p:sp>
      <p:sp>
        <p:nvSpPr>
          <p:cNvPr id="15" name="Shape 13"/>
          <p:cNvSpPr/>
          <p:nvPr/>
        </p:nvSpPr>
        <p:spPr>
          <a:xfrm>
            <a:off x="9646920" y="2468880"/>
            <a:ext cx="731520" cy="640080"/>
          </a:xfrm>
          <a:prstGeom prst="line">
            <a:avLst/>
          </a:prstGeom>
          <a:noFill/>
          <a:ln w="22225">
            <a:solidFill>
              <a:srgbClr val="5B6478"/>
            </a:solidFill>
            <a:prstDash val="solid"/>
            <a:tailEnd type="triangle"/>
          </a:ln>
        </p:spPr>
      </p:sp>
      <p:sp>
        <p:nvSpPr>
          <p:cNvPr id="16" name="Shape 14"/>
          <p:cNvSpPr/>
          <p:nvPr/>
        </p:nvSpPr>
        <p:spPr>
          <a:xfrm flipH="1">
            <a:off x="9646920" y="4114800"/>
            <a:ext cx="731520" cy="640080"/>
          </a:xfrm>
          <a:prstGeom prst="line">
            <a:avLst/>
          </a:prstGeom>
          <a:noFill/>
          <a:ln w="22225">
            <a:solidFill>
              <a:srgbClr val="5B6478"/>
            </a:solidFill>
            <a:prstDash val="solid"/>
            <a:tailEnd type="triangle"/>
          </a:ln>
        </p:spPr>
      </p:sp>
      <p:sp>
        <p:nvSpPr>
          <p:cNvPr id="17" name="Shape 15"/>
          <p:cNvSpPr/>
          <p:nvPr/>
        </p:nvSpPr>
        <p:spPr>
          <a:xfrm flipH="1" flipV="1">
            <a:off x="7909560" y="4114800"/>
            <a:ext cx="731520" cy="640080"/>
          </a:xfrm>
          <a:prstGeom prst="line">
            <a:avLst/>
          </a:prstGeom>
          <a:noFill/>
          <a:ln w="22225">
            <a:solidFill>
              <a:srgbClr val="5B6478"/>
            </a:solidFill>
            <a:prstDash val="solid"/>
            <a:tailEnd type="triangle"/>
          </a:ln>
        </p:spPr>
      </p:sp>
      <p:sp>
        <p:nvSpPr>
          <p:cNvPr id="18" name="Shape 16"/>
          <p:cNvSpPr/>
          <p:nvPr/>
        </p:nvSpPr>
        <p:spPr>
          <a:xfrm flipV="1">
            <a:off x="7909560" y="2468880"/>
            <a:ext cx="731520" cy="640080"/>
          </a:xfrm>
          <a:prstGeom prst="line">
            <a:avLst/>
          </a:prstGeom>
          <a:noFill/>
          <a:ln w="22225">
            <a:solidFill>
              <a:srgbClr val="5B6478"/>
            </a:solidFill>
            <a:prstDash val="solid"/>
            <a:tailEnd type="triangle"/>
          </a:ln>
        </p:spPr>
      </p:sp>
      <p:sp>
        <p:nvSpPr>
          <p:cNvPr id="19" name="Text 17"/>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20" name="Text 18"/>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FOUNDATIONAL MINDSET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Extreme Programming (XP)</a:t>
            </a:r>
            <a:endParaRPr lang="en-US" sz="3200" dirty="0"/>
          </a:p>
        </p:txBody>
      </p:sp>
      <p:sp>
        <p:nvSpPr>
          <p:cNvPr id="4" name="Shape 2"/>
          <p:cNvSpPr/>
          <p:nvPr/>
        </p:nvSpPr>
        <p:spPr>
          <a:xfrm>
            <a:off x="548640" y="1783080"/>
            <a:ext cx="2057400" cy="3429000"/>
          </a:xfrm>
          <a:prstGeom prst="roundRect">
            <a:avLst>
              <a:gd name="adj" fmla="val 3111"/>
            </a:avLst>
          </a:prstGeom>
          <a:solidFill>
            <a:srgbClr val="FFFFFF"/>
          </a:solidFill>
          <a:ln w="12700">
            <a:solidFill>
              <a:srgbClr val="DCE3EE"/>
            </a:solidFill>
            <a:prstDash val="solid"/>
          </a:ln>
        </p:spPr>
      </p:sp>
      <p:sp>
        <p:nvSpPr>
          <p:cNvPr id="5" name="Shape 3"/>
          <p:cNvSpPr/>
          <p:nvPr/>
        </p:nvSpPr>
        <p:spPr>
          <a:xfrm>
            <a:off x="1284732" y="2057400"/>
            <a:ext cx="585216" cy="585216"/>
          </a:xfrm>
          <a:prstGeom prst="ellipse">
            <a:avLst/>
          </a:prstGeom>
          <a:solidFill>
            <a:srgbClr val="22326B"/>
          </a:solidFill>
          <a:ln/>
        </p:spPr>
      </p:sp>
      <p:pic>
        <p:nvPicPr>
          <p:cNvPr id="6" name="Image 0" descr="/home/claude/mse_deck/icons/users.png">    </p:cNvPr>
          <p:cNvPicPr>
            <a:picLocks noChangeAspect="1"/>
          </p:cNvPicPr>
          <p:nvPr/>
        </p:nvPicPr>
        <p:blipFill>
          <a:blip r:embed="rId1"/>
          <a:stretch>
            <a:fillRect/>
          </a:stretch>
        </p:blipFill>
        <p:spPr>
          <a:xfrm>
            <a:off x="1413480" y="2186148"/>
            <a:ext cx="327721" cy="327721"/>
          </a:xfrm>
          <a:prstGeom prst="rect">
            <a:avLst/>
          </a:prstGeom>
        </p:spPr>
      </p:pic>
      <p:sp>
        <p:nvSpPr>
          <p:cNvPr id="7" name="Text 4"/>
          <p:cNvSpPr/>
          <p:nvPr/>
        </p:nvSpPr>
        <p:spPr>
          <a:xfrm>
            <a:off x="621792" y="2862072"/>
            <a:ext cx="1911096" cy="548640"/>
          </a:xfrm>
          <a:prstGeom prst="rect">
            <a:avLst/>
          </a:prstGeom>
          <a:noFill/>
          <a:ln/>
        </p:spPr>
        <p:txBody>
          <a:bodyPr wrap="square" lIns="0" tIns="0" rIns="0" bIns="0" rtlCol="0" anchor="t"/>
          <a:lstStyle/>
          <a:p>
            <a:pPr algn="ctr" indent="0" marL="0">
              <a:lnSpc>
                <a:spcPct val="105000"/>
              </a:lnSpc>
              <a:buNone/>
            </a:pPr>
            <a:r>
              <a:rPr lang="en-US" sz="1250" b="1" dirty="0">
                <a:solidFill>
                  <a:srgbClr val="121A3C"/>
                </a:solidFill>
                <a:latin typeface="Calibri" pitchFamily="34" charset="0"/>
                <a:ea typeface="Calibri" pitchFamily="34" charset="-122"/>
                <a:cs typeface="Calibri" pitchFamily="34" charset="-120"/>
              </a:rPr>
              <a:t>Pair Programming</a:t>
            </a:r>
            <a:endParaRPr lang="en-US" sz="1250" dirty="0"/>
          </a:p>
        </p:txBody>
      </p:sp>
      <p:sp>
        <p:nvSpPr>
          <p:cNvPr id="8" name="Text 5"/>
          <p:cNvSpPr/>
          <p:nvPr/>
        </p:nvSpPr>
        <p:spPr>
          <a:xfrm>
            <a:off x="694944" y="3474720"/>
            <a:ext cx="1764792" cy="1554480"/>
          </a:xfrm>
          <a:prstGeom prst="rect">
            <a:avLst/>
          </a:prstGeom>
          <a:noFill/>
          <a:ln/>
        </p:spPr>
        <p:txBody>
          <a:bodyPr wrap="square" lIns="0" tIns="0" rIns="0" bIns="0" rtlCol="0" anchor="t"/>
          <a:lstStyle/>
          <a:p>
            <a:pPr algn="ctr" indent="0" marL="0">
              <a:lnSpc>
                <a:spcPct val="120000"/>
              </a:lnSpc>
              <a:buNone/>
            </a:pPr>
            <a:r>
              <a:rPr lang="en-US" sz="1050" dirty="0">
                <a:solidFill>
                  <a:srgbClr val="5B6478"/>
                </a:solidFill>
                <a:latin typeface="Calibri" pitchFamily="34" charset="0"/>
                <a:ea typeface="Calibri" pitchFamily="34" charset="-122"/>
                <a:cs typeface="Calibri" pitchFamily="34" charset="-120"/>
              </a:rPr>
              <a:t>Two engineers, one workstation, shared knowledge.</a:t>
            </a:r>
            <a:endParaRPr lang="en-US" sz="1050" dirty="0"/>
          </a:p>
        </p:txBody>
      </p:sp>
      <p:sp>
        <p:nvSpPr>
          <p:cNvPr id="9" name="Shape 6"/>
          <p:cNvSpPr/>
          <p:nvPr/>
        </p:nvSpPr>
        <p:spPr>
          <a:xfrm>
            <a:off x="2807208" y="1783080"/>
            <a:ext cx="2057400" cy="3429000"/>
          </a:xfrm>
          <a:prstGeom prst="roundRect">
            <a:avLst>
              <a:gd name="adj" fmla="val 3111"/>
            </a:avLst>
          </a:prstGeom>
          <a:solidFill>
            <a:srgbClr val="FFFFFF"/>
          </a:solidFill>
          <a:ln w="12700">
            <a:solidFill>
              <a:srgbClr val="DCE3EE"/>
            </a:solidFill>
            <a:prstDash val="solid"/>
          </a:ln>
        </p:spPr>
      </p:sp>
      <p:sp>
        <p:nvSpPr>
          <p:cNvPr id="10" name="Shape 7"/>
          <p:cNvSpPr/>
          <p:nvPr/>
        </p:nvSpPr>
        <p:spPr>
          <a:xfrm>
            <a:off x="3543300" y="2057400"/>
            <a:ext cx="585216" cy="585216"/>
          </a:xfrm>
          <a:prstGeom prst="ellipse">
            <a:avLst/>
          </a:prstGeom>
          <a:solidFill>
            <a:srgbClr val="18A0C9"/>
          </a:solidFill>
          <a:ln/>
        </p:spPr>
      </p:sp>
      <p:pic>
        <p:nvPicPr>
          <p:cNvPr id="11" name="Image 1" descr="/home/claude/mse_deck/icons/checkcircle.png">    </p:cNvPr>
          <p:cNvPicPr>
            <a:picLocks noChangeAspect="1"/>
          </p:cNvPicPr>
          <p:nvPr/>
        </p:nvPicPr>
        <p:blipFill>
          <a:blip r:embed="rId2"/>
          <a:stretch>
            <a:fillRect/>
          </a:stretch>
        </p:blipFill>
        <p:spPr>
          <a:xfrm>
            <a:off x="3672048" y="2186148"/>
            <a:ext cx="327721" cy="327721"/>
          </a:xfrm>
          <a:prstGeom prst="rect">
            <a:avLst/>
          </a:prstGeom>
        </p:spPr>
      </p:pic>
      <p:sp>
        <p:nvSpPr>
          <p:cNvPr id="12" name="Text 8"/>
          <p:cNvSpPr/>
          <p:nvPr/>
        </p:nvSpPr>
        <p:spPr>
          <a:xfrm>
            <a:off x="2880360" y="2862072"/>
            <a:ext cx="1911096" cy="548640"/>
          </a:xfrm>
          <a:prstGeom prst="rect">
            <a:avLst/>
          </a:prstGeom>
          <a:noFill/>
          <a:ln/>
        </p:spPr>
        <p:txBody>
          <a:bodyPr wrap="square" lIns="0" tIns="0" rIns="0" bIns="0" rtlCol="0" anchor="t"/>
          <a:lstStyle/>
          <a:p>
            <a:pPr algn="ctr" indent="0" marL="0">
              <a:lnSpc>
                <a:spcPct val="105000"/>
              </a:lnSpc>
              <a:buNone/>
            </a:pPr>
            <a:r>
              <a:rPr lang="en-US" sz="1250" b="1" dirty="0">
                <a:solidFill>
                  <a:srgbClr val="121A3C"/>
                </a:solidFill>
                <a:latin typeface="Calibri" pitchFamily="34" charset="0"/>
                <a:ea typeface="Calibri" pitchFamily="34" charset="-122"/>
                <a:cs typeface="Calibri" pitchFamily="34" charset="-120"/>
              </a:rPr>
              <a:t>Test-Driven Dev.</a:t>
            </a:r>
            <a:endParaRPr lang="en-US" sz="1250" dirty="0"/>
          </a:p>
        </p:txBody>
      </p:sp>
      <p:sp>
        <p:nvSpPr>
          <p:cNvPr id="13" name="Text 9"/>
          <p:cNvSpPr/>
          <p:nvPr/>
        </p:nvSpPr>
        <p:spPr>
          <a:xfrm>
            <a:off x="2953512" y="3474720"/>
            <a:ext cx="1764792" cy="1554480"/>
          </a:xfrm>
          <a:prstGeom prst="rect">
            <a:avLst/>
          </a:prstGeom>
          <a:noFill/>
          <a:ln/>
        </p:spPr>
        <p:txBody>
          <a:bodyPr wrap="square" lIns="0" tIns="0" rIns="0" bIns="0" rtlCol="0" anchor="t"/>
          <a:lstStyle/>
          <a:p>
            <a:pPr algn="ctr" indent="0" marL="0">
              <a:lnSpc>
                <a:spcPct val="120000"/>
              </a:lnSpc>
              <a:buNone/>
            </a:pPr>
            <a:r>
              <a:rPr lang="en-US" sz="1050" dirty="0">
                <a:solidFill>
                  <a:srgbClr val="5B6478"/>
                </a:solidFill>
                <a:latin typeface="Calibri" pitchFamily="34" charset="0"/>
                <a:ea typeface="Calibri" pitchFamily="34" charset="-122"/>
                <a:cs typeface="Calibri" pitchFamily="34" charset="-120"/>
              </a:rPr>
              <a:t>Write the test before writing the code.</a:t>
            </a:r>
            <a:endParaRPr lang="en-US" sz="1050" dirty="0"/>
          </a:p>
        </p:txBody>
      </p:sp>
      <p:sp>
        <p:nvSpPr>
          <p:cNvPr id="14" name="Shape 10"/>
          <p:cNvSpPr/>
          <p:nvPr/>
        </p:nvSpPr>
        <p:spPr>
          <a:xfrm>
            <a:off x="5065776" y="1783080"/>
            <a:ext cx="2057400" cy="3429000"/>
          </a:xfrm>
          <a:prstGeom prst="roundRect">
            <a:avLst>
              <a:gd name="adj" fmla="val 3111"/>
            </a:avLst>
          </a:prstGeom>
          <a:solidFill>
            <a:srgbClr val="FFFFFF"/>
          </a:solidFill>
          <a:ln w="12700">
            <a:solidFill>
              <a:srgbClr val="DCE3EE"/>
            </a:solidFill>
            <a:prstDash val="solid"/>
          </a:ln>
        </p:spPr>
      </p:sp>
      <p:sp>
        <p:nvSpPr>
          <p:cNvPr id="15" name="Shape 11"/>
          <p:cNvSpPr/>
          <p:nvPr/>
        </p:nvSpPr>
        <p:spPr>
          <a:xfrm>
            <a:off x="5801868" y="2057400"/>
            <a:ext cx="585216" cy="585216"/>
          </a:xfrm>
          <a:prstGeom prst="ellipse">
            <a:avLst/>
          </a:prstGeom>
          <a:solidFill>
            <a:srgbClr val="22326B"/>
          </a:solidFill>
          <a:ln/>
        </p:spPr>
      </p:sp>
      <p:pic>
        <p:nvPicPr>
          <p:cNvPr id="16" name="Image 2" descr="/home/claude/mse_deck/icons/sync.png">    </p:cNvPr>
          <p:cNvPicPr>
            <a:picLocks noChangeAspect="1"/>
          </p:cNvPicPr>
          <p:nvPr/>
        </p:nvPicPr>
        <p:blipFill>
          <a:blip r:embed="rId3"/>
          <a:stretch>
            <a:fillRect/>
          </a:stretch>
        </p:blipFill>
        <p:spPr>
          <a:xfrm>
            <a:off x="5930616" y="2186148"/>
            <a:ext cx="327721" cy="327721"/>
          </a:xfrm>
          <a:prstGeom prst="rect">
            <a:avLst/>
          </a:prstGeom>
        </p:spPr>
      </p:pic>
      <p:sp>
        <p:nvSpPr>
          <p:cNvPr id="17" name="Text 12"/>
          <p:cNvSpPr/>
          <p:nvPr/>
        </p:nvSpPr>
        <p:spPr>
          <a:xfrm>
            <a:off x="5138928" y="2862072"/>
            <a:ext cx="1911096" cy="548640"/>
          </a:xfrm>
          <a:prstGeom prst="rect">
            <a:avLst/>
          </a:prstGeom>
          <a:noFill/>
          <a:ln/>
        </p:spPr>
        <p:txBody>
          <a:bodyPr wrap="square" lIns="0" tIns="0" rIns="0" bIns="0" rtlCol="0" anchor="t"/>
          <a:lstStyle/>
          <a:p>
            <a:pPr algn="ctr" indent="0" marL="0">
              <a:lnSpc>
                <a:spcPct val="105000"/>
              </a:lnSpc>
              <a:buNone/>
            </a:pPr>
            <a:r>
              <a:rPr lang="en-US" sz="1250" b="1" dirty="0">
                <a:solidFill>
                  <a:srgbClr val="121A3C"/>
                </a:solidFill>
                <a:latin typeface="Calibri" pitchFamily="34" charset="0"/>
                <a:ea typeface="Calibri" pitchFamily="34" charset="-122"/>
                <a:cs typeface="Calibri" pitchFamily="34" charset="-120"/>
              </a:rPr>
              <a:t>Continuous Integration</a:t>
            </a:r>
            <a:endParaRPr lang="en-US" sz="1250" dirty="0"/>
          </a:p>
        </p:txBody>
      </p:sp>
      <p:sp>
        <p:nvSpPr>
          <p:cNvPr id="18" name="Text 13"/>
          <p:cNvSpPr/>
          <p:nvPr/>
        </p:nvSpPr>
        <p:spPr>
          <a:xfrm>
            <a:off x="5212080" y="3474720"/>
            <a:ext cx="1764792" cy="1554480"/>
          </a:xfrm>
          <a:prstGeom prst="rect">
            <a:avLst/>
          </a:prstGeom>
          <a:noFill/>
          <a:ln/>
        </p:spPr>
        <p:txBody>
          <a:bodyPr wrap="square" lIns="0" tIns="0" rIns="0" bIns="0" rtlCol="0" anchor="t"/>
          <a:lstStyle/>
          <a:p>
            <a:pPr algn="ctr" indent="0" marL="0">
              <a:lnSpc>
                <a:spcPct val="120000"/>
              </a:lnSpc>
              <a:buNone/>
            </a:pPr>
            <a:r>
              <a:rPr lang="en-US" sz="1050" dirty="0">
                <a:solidFill>
                  <a:srgbClr val="5B6478"/>
                </a:solidFill>
                <a:latin typeface="Calibri" pitchFamily="34" charset="0"/>
                <a:ea typeface="Calibri" pitchFamily="34" charset="-122"/>
                <a:cs typeface="Calibri" pitchFamily="34" charset="-120"/>
              </a:rPr>
              <a:t>Merge code into the mainline many times a day.</a:t>
            </a:r>
            <a:endParaRPr lang="en-US" sz="1050" dirty="0"/>
          </a:p>
        </p:txBody>
      </p:sp>
      <p:sp>
        <p:nvSpPr>
          <p:cNvPr id="19" name="Shape 14"/>
          <p:cNvSpPr/>
          <p:nvPr/>
        </p:nvSpPr>
        <p:spPr>
          <a:xfrm>
            <a:off x="7324344" y="1783080"/>
            <a:ext cx="2057400" cy="3429000"/>
          </a:xfrm>
          <a:prstGeom prst="roundRect">
            <a:avLst>
              <a:gd name="adj" fmla="val 3111"/>
            </a:avLst>
          </a:prstGeom>
          <a:solidFill>
            <a:srgbClr val="FFFFFF"/>
          </a:solidFill>
          <a:ln w="12700">
            <a:solidFill>
              <a:srgbClr val="DCE3EE"/>
            </a:solidFill>
            <a:prstDash val="solid"/>
          </a:ln>
        </p:spPr>
      </p:sp>
      <p:sp>
        <p:nvSpPr>
          <p:cNvPr id="20" name="Shape 15"/>
          <p:cNvSpPr/>
          <p:nvPr/>
        </p:nvSpPr>
        <p:spPr>
          <a:xfrm>
            <a:off x="8060436" y="2057400"/>
            <a:ext cx="585216" cy="585216"/>
          </a:xfrm>
          <a:prstGeom prst="ellipse">
            <a:avLst/>
          </a:prstGeom>
          <a:solidFill>
            <a:srgbClr val="18A0C9"/>
          </a:solidFill>
          <a:ln/>
        </p:spPr>
      </p:sp>
      <p:pic>
        <p:nvPicPr>
          <p:cNvPr id="21" name="Image 3" descr="/home/claude/mse_deck/icons/cogs.png">    </p:cNvPr>
          <p:cNvPicPr>
            <a:picLocks noChangeAspect="1"/>
          </p:cNvPicPr>
          <p:nvPr/>
        </p:nvPicPr>
        <p:blipFill>
          <a:blip r:embed="rId4"/>
          <a:stretch>
            <a:fillRect/>
          </a:stretch>
        </p:blipFill>
        <p:spPr>
          <a:xfrm>
            <a:off x="8189184" y="2186148"/>
            <a:ext cx="327721" cy="327721"/>
          </a:xfrm>
          <a:prstGeom prst="rect">
            <a:avLst/>
          </a:prstGeom>
        </p:spPr>
      </p:pic>
      <p:sp>
        <p:nvSpPr>
          <p:cNvPr id="22" name="Text 16"/>
          <p:cNvSpPr/>
          <p:nvPr/>
        </p:nvSpPr>
        <p:spPr>
          <a:xfrm>
            <a:off x="7397496" y="2862072"/>
            <a:ext cx="1911096" cy="548640"/>
          </a:xfrm>
          <a:prstGeom prst="rect">
            <a:avLst/>
          </a:prstGeom>
          <a:noFill/>
          <a:ln/>
        </p:spPr>
        <p:txBody>
          <a:bodyPr wrap="square" lIns="0" tIns="0" rIns="0" bIns="0" rtlCol="0" anchor="t"/>
          <a:lstStyle/>
          <a:p>
            <a:pPr algn="ctr" indent="0" marL="0">
              <a:lnSpc>
                <a:spcPct val="105000"/>
              </a:lnSpc>
              <a:buNone/>
            </a:pPr>
            <a:r>
              <a:rPr lang="en-US" sz="1250" b="1" dirty="0">
                <a:solidFill>
                  <a:srgbClr val="121A3C"/>
                </a:solidFill>
                <a:latin typeface="Calibri" pitchFamily="34" charset="0"/>
                <a:ea typeface="Calibri" pitchFamily="34" charset="-122"/>
                <a:cs typeface="Calibri" pitchFamily="34" charset="-120"/>
              </a:rPr>
              <a:t>Refactoring</a:t>
            </a:r>
            <a:endParaRPr lang="en-US" sz="1250" dirty="0"/>
          </a:p>
        </p:txBody>
      </p:sp>
      <p:sp>
        <p:nvSpPr>
          <p:cNvPr id="23" name="Text 17"/>
          <p:cNvSpPr/>
          <p:nvPr/>
        </p:nvSpPr>
        <p:spPr>
          <a:xfrm>
            <a:off x="7470648" y="3474720"/>
            <a:ext cx="1764792" cy="1554480"/>
          </a:xfrm>
          <a:prstGeom prst="rect">
            <a:avLst/>
          </a:prstGeom>
          <a:noFill/>
          <a:ln/>
        </p:spPr>
        <p:txBody>
          <a:bodyPr wrap="square" lIns="0" tIns="0" rIns="0" bIns="0" rtlCol="0" anchor="t"/>
          <a:lstStyle/>
          <a:p>
            <a:pPr algn="ctr" indent="0" marL="0">
              <a:lnSpc>
                <a:spcPct val="120000"/>
              </a:lnSpc>
              <a:buNone/>
            </a:pPr>
            <a:r>
              <a:rPr lang="en-US" sz="1050" dirty="0">
                <a:solidFill>
                  <a:srgbClr val="5B6478"/>
                </a:solidFill>
                <a:latin typeface="Calibri" pitchFamily="34" charset="0"/>
                <a:ea typeface="Calibri" pitchFamily="34" charset="-122"/>
                <a:cs typeface="Calibri" pitchFamily="34" charset="-120"/>
              </a:rPr>
              <a:t>Improve code design without changing behavior.</a:t>
            </a:r>
            <a:endParaRPr lang="en-US" sz="1050" dirty="0"/>
          </a:p>
        </p:txBody>
      </p:sp>
      <p:sp>
        <p:nvSpPr>
          <p:cNvPr id="24" name="Shape 18"/>
          <p:cNvSpPr/>
          <p:nvPr/>
        </p:nvSpPr>
        <p:spPr>
          <a:xfrm>
            <a:off x="9582912" y="1783080"/>
            <a:ext cx="2057400" cy="3429000"/>
          </a:xfrm>
          <a:prstGeom prst="roundRect">
            <a:avLst>
              <a:gd name="adj" fmla="val 3111"/>
            </a:avLst>
          </a:prstGeom>
          <a:solidFill>
            <a:srgbClr val="FFFFFF"/>
          </a:solidFill>
          <a:ln w="12700">
            <a:solidFill>
              <a:srgbClr val="DCE3EE"/>
            </a:solidFill>
            <a:prstDash val="solid"/>
          </a:ln>
        </p:spPr>
      </p:sp>
      <p:sp>
        <p:nvSpPr>
          <p:cNvPr id="25" name="Shape 19"/>
          <p:cNvSpPr/>
          <p:nvPr/>
        </p:nvSpPr>
        <p:spPr>
          <a:xfrm>
            <a:off x="10319004" y="2057400"/>
            <a:ext cx="585216" cy="585216"/>
          </a:xfrm>
          <a:prstGeom prst="ellipse">
            <a:avLst/>
          </a:prstGeom>
          <a:solidFill>
            <a:srgbClr val="22326B"/>
          </a:solidFill>
          <a:ln/>
        </p:spPr>
      </p:sp>
      <p:pic>
        <p:nvPicPr>
          <p:cNvPr id="26" name="Image 4" descr="/home/claude/mse_deck/icons/rocket.png">    </p:cNvPr>
          <p:cNvPicPr>
            <a:picLocks noChangeAspect="1"/>
          </p:cNvPicPr>
          <p:nvPr/>
        </p:nvPicPr>
        <p:blipFill>
          <a:blip r:embed="rId5"/>
          <a:stretch>
            <a:fillRect/>
          </a:stretch>
        </p:blipFill>
        <p:spPr>
          <a:xfrm>
            <a:off x="10447752" y="2186148"/>
            <a:ext cx="327721" cy="327721"/>
          </a:xfrm>
          <a:prstGeom prst="rect">
            <a:avLst/>
          </a:prstGeom>
        </p:spPr>
      </p:pic>
      <p:sp>
        <p:nvSpPr>
          <p:cNvPr id="27" name="Text 20"/>
          <p:cNvSpPr/>
          <p:nvPr/>
        </p:nvSpPr>
        <p:spPr>
          <a:xfrm>
            <a:off x="9656064" y="2862072"/>
            <a:ext cx="1911096" cy="548640"/>
          </a:xfrm>
          <a:prstGeom prst="rect">
            <a:avLst/>
          </a:prstGeom>
          <a:noFill/>
          <a:ln/>
        </p:spPr>
        <p:txBody>
          <a:bodyPr wrap="square" lIns="0" tIns="0" rIns="0" bIns="0" rtlCol="0" anchor="t"/>
          <a:lstStyle/>
          <a:p>
            <a:pPr algn="ctr" indent="0" marL="0">
              <a:lnSpc>
                <a:spcPct val="105000"/>
              </a:lnSpc>
              <a:buNone/>
            </a:pPr>
            <a:r>
              <a:rPr lang="en-US" sz="1250" b="1" dirty="0">
                <a:solidFill>
                  <a:srgbClr val="121A3C"/>
                </a:solidFill>
                <a:latin typeface="Calibri" pitchFamily="34" charset="0"/>
                <a:ea typeface="Calibri" pitchFamily="34" charset="-122"/>
                <a:cs typeface="Calibri" pitchFamily="34" charset="-120"/>
              </a:rPr>
              <a:t>Small Releases</a:t>
            </a:r>
            <a:endParaRPr lang="en-US" sz="1250" dirty="0"/>
          </a:p>
        </p:txBody>
      </p:sp>
      <p:sp>
        <p:nvSpPr>
          <p:cNvPr id="28" name="Text 21"/>
          <p:cNvSpPr/>
          <p:nvPr/>
        </p:nvSpPr>
        <p:spPr>
          <a:xfrm>
            <a:off x="9729216" y="3474720"/>
            <a:ext cx="1764792" cy="1554480"/>
          </a:xfrm>
          <a:prstGeom prst="rect">
            <a:avLst/>
          </a:prstGeom>
          <a:noFill/>
          <a:ln/>
        </p:spPr>
        <p:txBody>
          <a:bodyPr wrap="square" lIns="0" tIns="0" rIns="0" bIns="0" rtlCol="0" anchor="t"/>
          <a:lstStyle/>
          <a:p>
            <a:pPr algn="ctr" indent="0" marL="0">
              <a:lnSpc>
                <a:spcPct val="120000"/>
              </a:lnSpc>
              <a:buNone/>
            </a:pPr>
            <a:r>
              <a:rPr lang="en-US" sz="1050" dirty="0">
                <a:solidFill>
                  <a:srgbClr val="5B6478"/>
                </a:solidFill>
                <a:latin typeface="Calibri" pitchFamily="34" charset="0"/>
                <a:ea typeface="Calibri" pitchFamily="34" charset="-122"/>
                <a:cs typeface="Calibri" pitchFamily="34" charset="-120"/>
              </a:rPr>
              <a:t>Ship frequently to reduce integration risk.</a:t>
            </a:r>
            <a:endParaRPr lang="en-US" sz="1050" dirty="0"/>
          </a:p>
        </p:txBody>
      </p:sp>
      <p:sp>
        <p:nvSpPr>
          <p:cNvPr id="29" name="Shape 22"/>
          <p:cNvSpPr/>
          <p:nvPr/>
        </p:nvSpPr>
        <p:spPr>
          <a:xfrm>
            <a:off x="548640" y="5413248"/>
            <a:ext cx="11091672" cy="594360"/>
          </a:xfrm>
          <a:prstGeom prst="roundRect">
            <a:avLst>
              <a:gd name="adj" fmla="val 9231"/>
            </a:avLst>
          </a:prstGeom>
          <a:solidFill>
            <a:srgbClr val="EEF2F9"/>
          </a:solidFill>
          <a:ln/>
        </p:spPr>
      </p:sp>
      <p:sp>
        <p:nvSpPr>
          <p:cNvPr id="30" name="Text 23"/>
          <p:cNvSpPr/>
          <p:nvPr/>
        </p:nvSpPr>
        <p:spPr>
          <a:xfrm>
            <a:off x="777240" y="5413248"/>
            <a:ext cx="10607040" cy="594360"/>
          </a:xfrm>
          <a:prstGeom prst="rect">
            <a:avLst/>
          </a:prstGeom>
          <a:noFill/>
          <a:ln/>
        </p:spPr>
        <p:txBody>
          <a:bodyPr wrap="square" lIns="0" tIns="0" rIns="0" bIns="0" rtlCol="0" anchor="ctr"/>
          <a:lstStyle/>
          <a:p>
            <a:pPr indent="0" marL="0">
              <a:buNone/>
            </a:pPr>
            <a:r>
              <a:rPr lang="en-US" sz="1250" b="1" dirty="0">
                <a:solidFill>
                  <a:srgbClr val="121A3C"/>
                </a:solidFill>
                <a:latin typeface="Calibri" pitchFamily="34" charset="0"/>
                <a:ea typeface="Calibri" pitchFamily="34" charset="-122"/>
                <a:cs typeface="Calibri" pitchFamily="34" charset="-120"/>
              </a:rPr>
              <a:t>Industry fit:  </a:t>
            </a:r>
            <a:pPr indent="0" marL="0">
              <a:buNone/>
            </a:pPr>
            <a:r>
              <a:rPr lang="en-US" sz="1250" dirty="0">
                <a:solidFill>
                  <a:srgbClr val="5B6478"/>
                </a:solidFill>
                <a:latin typeface="Calibri" pitchFamily="34" charset="0"/>
                <a:ea typeface="Calibri" pitchFamily="34" charset="-122"/>
                <a:cs typeface="Calibri" pitchFamily="34" charset="-120"/>
              </a:rPr>
              <a:t>High-change software projects where requirements shift quickly and code quality is critical.</a:t>
            </a:r>
            <a:endParaRPr lang="en-US" sz="1250" dirty="0"/>
          </a:p>
        </p:txBody>
      </p:sp>
      <p:sp>
        <p:nvSpPr>
          <p:cNvPr id="31" name="Text 24"/>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32" name="Text 2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Agile vs. Scrum vs. XP</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4023360"/>
        </p:xfrm>
        <a:graphic>
          <a:graphicData uri="http://schemas.openxmlformats.org/drawingml/2006/table">
            <a:tbl>
              <a:tblPr/>
              <a:tblGrid>
                <a:gridCol w="2194560"/>
                <a:gridCol w="2962656"/>
                <a:gridCol w="2962656"/>
                <a:gridCol w="2971800"/>
              </a:tblGrid>
              <a:tr h="670560">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Aspect</a:t>
                      </a:r>
                      <a:endParaRPr lang="en-US" sz="13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21A3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Agile</a:t>
                      </a:r>
                      <a:endParaRPr lang="en-US" sz="13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21A3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Scrum</a:t>
                      </a:r>
                      <a:endParaRPr lang="en-US" sz="13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21A3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XP</a:t>
                      </a:r>
                      <a:endParaRPr lang="en-US" sz="13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21A3C"/>
                    </a:solidFill>
                  </a:tcPr>
                </a:tc>
              </a:tr>
              <a:tr h="6705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Scope</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22326B"/>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Broad philosophy of values</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Framework for team workflow</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Concrete engineering practices</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6705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Focus</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22326B"/>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Adaptability &amp; collaboration</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EF2F9"/>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Roles, events, artifacts</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EF2F9"/>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Code quality &amp; craftsmanship</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EF2F9"/>
                    </a:solidFill>
                  </a:tcPr>
                </a:tc>
              </a:tr>
              <a:tr h="6705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Practices</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22326B"/>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Iterative planning</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Sprints, standups, reviews</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Pairing, TDD, CI, refactoring</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6705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Team Involvement</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22326B"/>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EF2F9"/>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High and structured</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EF2F9"/>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Very high, hands-on</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EF2F9"/>
                    </a:solidFill>
                  </a:tcPr>
                </a:tc>
              </a:tr>
              <a:tr h="6705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Suitable Projects</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22326B"/>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Most software projects</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Cross-functional product teams</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433"/>
                          </a:solidFill>
                          <a:latin typeface="Calibri" pitchFamily="34" charset="0"/>
                          <a:ea typeface="Calibri" pitchFamily="34" charset="-122"/>
                          <a:cs typeface="Calibri" pitchFamily="34" charset="-120"/>
                        </a:rPr>
                        <a:t>High-change, quality-critical code</a:t>
                      </a:r>
                      <a:endParaRPr lang="en-US" sz="1250" dirty="0">
                        <a:latin typeface="Calibri" charset="0"/>
                        <a:ea typeface="Calibri" charset="0"/>
                        <a:cs typeface="Calibri" charset="0"/>
                      </a:endParaRPr>
                    </a:p>
                  </a:txBody>
                  <a:tcPr marL="76200" marR="76200" marT="50800" marB="508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5897880"/>
            <a:ext cx="11064240" cy="41148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Agile is the philosophy; Scrum organizes the team; XP disciplines the code.</a:t>
            </a:r>
            <a:endParaRPr lang="en-US" sz="1250" dirty="0"/>
          </a:p>
        </p:txBody>
      </p:sp>
      <p:sp>
        <p:nvSpPr>
          <p:cNvPr id="6" name="Text 3"/>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7" name="Text 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OPERATING AT SCALE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DevOps Culture</a:t>
            </a:r>
            <a:endParaRPr lang="en-US" sz="3200" dirty="0"/>
          </a:p>
        </p:txBody>
      </p:sp>
      <p:sp>
        <p:nvSpPr>
          <p:cNvPr id="4" name="Text 2"/>
          <p:cNvSpPr/>
          <p:nvPr/>
        </p:nvSpPr>
        <p:spPr>
          <a:xfrm>
            <a:off x="548640" y="1783080"/>
            <a:ext cx="5577840" cy="3657600"/>
          </a:xfrm>
          <a:prstGeom prst="rect">
            <a:avLst/>
          </a:prstGeom>
          <a:noFill/>
          <a:ln/>
        </p:spPr>
        <p:txBody>
          <a:bodyPr wrap="square" lIns="0" tIns="0" rIns="0" bIns="0" rtlCol="0" anchor="t"/>
          <a:lstStyle/>
          <a:p>
            <a:pPr marL="228600" indent="-228600">
              <a:spcAft>
                <a:spcPts val="1600"/>
              </a:spcAft>
              <a:buSzPct val="100000"/>
              <a:buChar char="▪"/>
            </a:pPr>
            <a:r>
              <a:rPr lang="en-US" sz="1450" dirty="0">
                <a:solidFill>
                  <a:srgbClr val="1E2433"/>
                </a:solidFill>
                <a:latin typeface="Calibri" pitchFamily="34" charset="0"/>
                <a:ea typeface="Calibri" pitchFamily="34" charset="-122"/>
                <a:cs typeface="Calibri" pitchFamily="34" charset="-120"/>
              </a:rPr>
              <a:t>Breaks down silos between developers and operations</a:t>
            </a:r>
            <a:endParaRPr lang="en-US" sz="1450" dirty="0"/>
          </a:p>
          <a:p>
            <a:pPr marL="228600" indent="-228600">
              <a:spcAft>
                <a:spcPts val="1600"/>
              </a:spcAft>
              <a:buSzPct val="100000"/>
              <a:buChar char="▪"/>
            </a:pPr>
            <a:r>
              <a:rPr lang="en-US" sz="1450" dirty="0">
                <a:solidFill>
                  <a:srgbClr val="1E2433"/>
                </a:solidFill>
                <a:latin typeface="Calibri" pitchFamily="34" charset="0"/>
                <a:ea typeface="Calibri" pitchFamily="34" charset="-122"/>
                <a:cs typeface="Calibri" pitchFamily="34" charset="-120"/>
              </a:rPr>
              <a:t>Automation replaces manual, error-prone release steps</a:t>
            </a:r>
            <a:endParaRPr lang="en-US" sz="1450" dirty="0"/>
          </a:p>
          <a:p>
            <a:pPr marL="228600" indent="-228600">
              <a:spcAft>
                <a:spcPts val="1600"/>
              </a:spcAft>
              <a:buSzPct val="100000"/>
              <a:buChar char="▪"/>
            </a:pPr>
            <a:r>
              <a:rPr lang="en-US" sz="1450" dirty="0">
                <a:solidFill>
                  <a:srgbClr val="1E2433"/>
                </a:solidFill>
                <a:latin typeface="Calibri" pitchFamily="34" charset="0"/>
                <a:ea typeface="Calibri" pitchFamily="34" charset="-122"/>
                <a:cs typeface="Calibri" pitchFamily="34" charset="-120"/>
              </a:rPr>
              <a:t>Continuous monitoring detects issues before customers do</a:t>
            </a:r>
            <a:endParaRPr lang="en-US" sz="1450" dirty="0"/>
          </a:p>
          <a:p>
            <a:pPr marL="228600" indent="-228600">
              <a:spcAft>
                <a:spcPts val="1600"/>
              </a:spcAft>
              <a:buSzPct val="100000"/>
              <a:buChar char="▪"/>
            </a:pPr>
            <a:r>
              <a:rPr lang="en-US" sz="1450" dirty="0">
                <a:solidFill>
                  <a:srgbClr val="1E2433"/>
                </a:solidFill>
                <a:latin typeface="Calibri" pitchFamily="34" charset="0"/>
                <a:ea typeface="Calibri" pitchFamily="34" charset="-122"/>
                <a:cs typeface="Calibri" pitchFamily="34" charset="-120"/>
              </a:rPr>
              <a:t>Shared responsibility for reliability across the team</a:t>
            </a:r>
            <a:endParaRPr lang="en-US" sz="1450" dirty="0"/>
          </a:p>
          <a:p>
            <a:pPr marL="228600" indent="-228600">
              <a:spcAft>
                <a:spcPts val="1600"/>
              </a:spcAft>
              <a:buSzPct val="100000"/>
              <a:buChar char="▪"/>
            </a:pPr>
            <a:r>
              <a:rPr lang="en-US" sz="1450" dirty="0">
                <a:solidFill>
                  <a:srgbClr val="1E2433"/>
                </a:solidFill>
                <a:latin typeface="Calibri" pitchFamily="34" charset="0"/>
                <a:ea typeface="Calibri" pitchFamily="34" charset="-122"/>
                <a:cs typeface="Calibri" pitchFamily="34" charset="-120"/>
              </a:rPr>
              <a:t>Continuous improvement through blameless retrospectives</a:t>
            </a:r>
            <a:endParaRPr lang="en-US" sz="1450" dirty="0"/>
          </a:p>
        </p:txBody>
      </p:sp>
      <p:sp>
        <p:nvSpPr>
          <p:cNvPr id="5" name="Text 3"/>
          <p:cNvSpPr/>
          <p:nvPr/>
        </p:nvSpPr>
        <p:spPr>
          <a:xfrm>
            <a:off x="6492240" y="1828800"/>
            <a:ext cx="5120640" cy="274320"/>
          </a:xfrm>
          <a:prstGeom prst="rect">
            <a:avLst/>
          </a:prstGeom>
          <a:noFill/>
          <a:ln/>
        </p:spPr>
        <p:txBody>
          <a:bodyPr wrap="square" lIns="0" tIns="0" rIns="0" bIns="0" rtlCol="0" anchor="ctr"/>
          <a:lstStyle/>
          <a:p>
            <a:pPr indent="0" marL="0">
              <a:buNone/>
            </a:pPr>
            <a:r>
              <a:rPr lang="en-US" sz="1100" b="1" spc="100" kern="0" dirty="0">
                <a:solidFill>
                  <a:srgbClr val="5B6478"/>
                </a:solidFill>
                <a:latin typeface="Calibri" pitchFamily="34" charset="0"/>
                <a:ea typeface="Calibri" pitchFamily="34" charset="-122"/>
                <a:cs typeface="Calibri" pitchFamily="34" charset="-120"/>
              </a:rPr>
              <a:t>BEFORE: SEPARATE TEAMS</a:t>
            </a:r>
            <a:endParaRPr lang="en-US" sz="1100" dirty="0"/>
          </a:p>
        </p:txBody>
      </p:sp>
      <p:sp>
        <p:nvSpPr>
          <p:cNvPr id="6" name="Shape 4"/>
          <p:cNvSpPr/>
          <p:nvPr/>
        </p:nvSpPr>
        <p:spPr>
          <a:xfrm>
            <a:off x="6492240" y="2148840"/>
            <a:ext cx="2377440" cy="822960"/>
          </a:xfrm>
          <a:prstGeom prst="roundRect">
            <a:avLst>
              <a:gd name="adj" fmla="val 6667"/>
            </a:avLst>
          </a:prstGeom>
          <a:solidFill>
            <a:srgbClr val="22326B"/>
          </a:solidFill>
          <a:ln/>
        </p:spPr>
      </p:sp>
      <p:pic>
        <p:nvPicPr>
          <p:cNvPr id="7" name="Image 0" descr="/home/claude/mse_deck/icons/code.png">    </p:cNvPr>
          <p:cNvPicPr>
            <a:picLocks noChangeAspect="1"/>
          </p:cNvPicPr>
          <p:nvPr/>
        </p:nvPicPr>
        <p:blipFill>
          <a:blip r:embed="rId1"/>
          <a:stretch>
            <a:fillRect/>
          </a:stretch>
        </p:blipFill>
        <p:spPr>
          <a:xfrm>
            <a:off x="6693408" y="2331720"/>
            <a:ext cx="411480" cy="411480"/>
          </a:xfrm>
          <a:prstGeom prst="rect">
            <a:avLst/>
          </a:prstGeom>
        </p:spPr>
      </p:pic>
      <p:sp>
        <p:nvSpPr>
          <p:cNvPr id="8" name="Text 5"/>
          <p:cNvSpPr/>
          <p:nvPr/>
        </p:nvSpPr>
        <p:spPr>
          <a:xfrm>
            <a:off x="7315200" y="2148840"/>
            <a:ext cx="146304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Dev</a:t>
            </a:r>
            <a:endParaRPr lang="en-US" sz="1500" dirty="0"/>
          </a:p>
        </p:txBody>
      </p:sp>
      <p:sp>
        <p:nvSpPr>
          <p:cNvPr id="9" name="Shape 6"/>
          <p:cNvSpPr/>
          <p:nvPr/>
        </p:nvSpPr>
        <p:spPr>
          <a:xfrm>
            <a:off x="9235440" y="2148840"/>
            <a:ext cx="2377440" cy="822960"/>
          </a:xfrm>
          <a:prstGeom prst="roundRect">
            <a:avLst>
              <a:gd name="adj" fmla="val 6667"/>
            </a:avLst>
          </a:prstGeom>
          <a:solidFill>
            <a:srgbClr val="5B6478"/>
          </a:solidFill>
          <a:ln/>
        </p:spPr>
      </p:sp>
      <p:pic>
        <p:nvPicPr>
          <p:cNvPr id="10" name="Image 1" descr="/home/claude/mse_deck/icons/server.png">    </p:cNvPr>
          <p:cNvPicPr>
            <a:picLocks noChangeAspect="1"/>
          </p:cNvPicPr>
          <p:nvPr/>
        </p:nvPicPr>
        <p:blipFill>
          <a:blip r:embed="rId2"/>
          <a:stretch>
            <a:fillRect/>
          </a:stretch>
        </p:blipFill>
        <p:spPr>
          <a:xfrm>
            <a:off x="9436608" y="2331720"/>
            <a:ext cx="411480" cy="411480"/>
          </a:xfrm>
          <a:prstGeom prst="rect">
            <a:avLst/>
          </a:prstGeom>
        </p:spPr>
      </p:pic>
      <p:sp>
        <p:nvSpPr>
          <p:cNvPr id="11" name="Text 7"/>
          <p:cNvSpPr/>
          <p:nvPr/>
        </p:nvSpPr>
        <p:spPr>
          <a:xfrm>
            <a:off x="10058400" y="2148840"/>
            <a:ext cx="146304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Ops</a:t>
            </a:r>
            <a:endParaRPr lang="en-US" sz="1500" dirty="0"/>
          </a:p>
        </p:txBody>
      </p:sp>
      <p:sp>
        <p:nvSpPr>
          <p:cNvPr id="12" name="Shape 8"/>
          <p:cNvSpPr/>
          <p:nvPr/>
        </p:nvSpPr>
        <p:spPr>
          <a:xfrm>
            <a:off x="9006840" y="2103120"/>
            <a:ext cx="0" cy="914400"/>
          </a:xfrm>
          <a:prstGeom prst="line">
            <a:avLst/>
          </a:prstGeom>
          <a:noFill/>
          <a:ln w="38100">
            <a:solidFill>
              <a:srgbClr val="C0392B"/>
            </a:solidFill>
            <a:prstDash val="dash"/>
          </a:ln>
        </p:spPr>
      </p:sp>
      <p:sp>
        <p:nvSpPr>
          <p:cNvPr id="13" name="Text 9"/>
          <p:cNvSpPr/>
          <p:nvPr/>
        </p:nvSpPr>
        <p:spPr>
          <a:xfrm>
            <a:off x="6492240" y="3063240"/>
            <a:ext cx="5120640" cy="320040"/>
          </a:xfrm>
          <a:prstGeom prst="rect">
            <a:avLst/>
          </a:prstGeom>
          <a:noFill/>
          <a:ln/>
        </p:spPr>
        <p:txBody>
          <a:bodyPr wrap="square" lIns="0" tIns="0" rIns="0" bIns="0" rtlCol="0" anchor="ctr"/>
          <a:lstStyle/>
          <a:p>
            <a:pPr algn="ctr" indent="0" marL="0">
              <a:buNone/>
            </a:pPr>
            <a:r>
              <a:rPr lang="en-US" sz="1100" i="1" dirty="0">
                <a:solidFill>
                  <a:srgbClr val="5B6478"/>
                </a:solidFill>
                <a:latin typeface="Calibri" pitchFamily="34" charset="0"/>
                <a:ea typeface="Calibri" pitchFamily="34" charset="-122"/>
                <a:cs typeface="Calibri" pitchFamily="34" charset="-120"/>
              </a:rPr>
              <a:t>Hand-offs, delays, finger-pointing</a:t>
            </a:r>
            <a:endParaRPr lang="en-US" sz="1100" dirty="0"/>
          </a:p>
        </p:txBody>
      </p:sp>
      <p:sp>
        <p:nvSpPr>
          <p:cNvPr id="14" name="Text 10"/>
          <p:cNvSpPr/>
          <p:nvPr/>
        </p:nvSpPr>
        <p:spPr>
          <a:xfrm>
            <a:off x="6492240" y="3611880"/>
            <a:ext cx="5120640" cy="274320"/>
          </a:xfrm>
          <a:prstGeom prst="rect">
            <a:avLst/>
          </a:prstGeom>
          <a:noFill/>
          <a:ln/>
        </p:spPr>
        <p:txBody>
          <a:bodyPr wrap="square" lIns="0" tIns="0" rIns="0" bIns="0" rtlCol="0" anchor="ctr"/>
          <a:lstStyle/>
          <a:p>
            <a:pPr indent="0" marL="0">
              <a:buNone/>
            </a:pPr>
            <a:r>
              <a:rPr lang="en-US" sz="1100" b="1" spc="100" kern="0" dirty="0">
                <a:solidFill>
                  <a:srgbClr val="FF7A45"/>
                </a:solidFill>
                <a:latin typeface="Calibri" pitchFamily="34" charset="0"/>
                <a:ea typeface="Calibri" pitchFamily="34" charset="-122"/>
                <a:cs typeface="Calibri" pitchFamily="34" charset="-120"/>
              </a:rPr>
              <a:t>WITH DEVOPS: ONE TEAM</a:t>
            </a:r>
            <a:endParaRPr lang="en-US" sz="1100" dirty="0"/>
          </a:p>
        </p:txBody>
      </p:sp>
      <p:sp>
        <p:nvSpPr>
          <p:cNvPr id="15" name="Shape 11"/>
          <p:cNvSpPr/>
          <p:nvPr/>
        </p:nvSpPr>
        <p:spPr>
          <a:xfrm>
            <a:off x="7132320" y="3931920"/>
            <a:ext cx="1828800" cy="1828800"/>
          </a:xfrm>
          <a:prstGeom prst="ellipse">
            <a:avLst/>
          </a:prstGeom>
          <a:solidFill>
            <a:srgbClr val="22326B"/>
          </a:solidFill>
          <a:ln/>
        </p:spPr>
      </p:sp>
      <p:sp>
        <p:nvSpPr>
          <p:cNvPr id="16" name="Shape 12"/>
          <p:cNvSpPr/>
          <p:nvPr/>
        </p:nvSpPr>
        <p:spPr>
          <a:xfrm>
            <a:off x="8595360" y="3931920"/>
            <a:ext cx="1828800" cy="1828800"/>
          </a:xfrm>
          <a:prstGeom prst="ellipse">
            <a:avLst/>
          </a:prstGeom>
          <a:solidFill>
            <a:srgbClr val="18A0C9"/>
          </a:solidFill>
          <a:ln/>
        </p:spPr>
      </p:sp>
      <p:sp>
        <p:nvSpPr>
          <p:cNvPr id="17" name="Text 13"/>
          <p:cNvSpPr/>
          <p:nvPr/>
        </p:nvSpPr>
        <p:spPr>
          <a:xfrm>
            <a:off x="7132320" y="3931920"/>
            <a:ext cx="1280160" cy="1828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Dev</a:t>
            </a:r>
            <a:endParaRPr lang="en-US" sz="1400" dirty="0"/>
          </a:p>
        </p:txBody>
      </p:sp>
      <p:sp>
        <p:nvSpPr>
          <p:cNvPr id="18" name="Text 14"/>
          <p:cNvSpPr/>
          <p:nvPr/>
        </p:nvSpPr>
        <p:spPr>
          <a:xfrm>
            <a:off x="9144000" y="3931920"/>
            <a:ext cx="1280160" cy="1828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Ops</a:t>
            </a:r>
            <a:endParaRPr lang="en-US" sz="1400" dirty="0"/>
          </a:p>
        </p:txBody>
      </p:sp>
      <p:sp>
        <p:nvSpPr>
          <p:cNvPr id="19" name="Text 15"/>
          <p:cNvSpPr/>
          <p:nvPr/>
        </p:nvSpPr>
        <p:spPr>
          <a:xfrm>
            <a:off x="8046720" y="4617720"/>
            <a:ext cx="1463040" cy="457200"/>
          </a:xfrm>
          <a:prstGeom prst="rect">
            <a:avLst/>
          </a:prstGeom>
          <a:noFill/>
          <a:ln/>
        </p:spPr>
        <p:txBody>
          <a:bodyPr wrap="square" lIns="0" tIns="0" rIns="0" bIns="0" rtlCol="0" anchor="ctr"/>
          <a:lstStyle/>
          <a:p>
            <a:pPr algn="ctr" indent="0" marL="0">
              <a:buNone/>
            </a:pPr>
            <a:r>
              <a:rPr lang="en-US" sz="1250" b="1" dirty="0">
                <a:solidFill>
                  <a:srgbClr val="121A3C"/>
                </a:solidFill>
                <a:latin typeface="Calibri" pitchFamily="34" charset="0"/>
                <a:ea typeface="Calibri" pitchFamily="34" charset="-122"/>
                <a:cs typeface="Calibri" pitchFamily="34" charset="-120"/>
              </a:rPr>
              <a:t>DevOps</a:t>
            </a:r>
            <a:endParaRPr lang="en-US" sz="1250" dirty="0"/>
          </a:p>
        </p:txBody>
      </p:sp>
      <p:sp>
        <p:nvSpPr>
          <p:cNvPr id="20" name="Text 16"/>
          <p:cNvSpPr/>
          <p:nvPr/>
        </p:nvSpPr>
        <p:spPr>
          <a:xfrm>
            <a:off x="6492240" y="5989320"/>
            <a:ext cx="5120640" cy="457200"/>
          </a:xfrm>
          <a:prstGeom prst="rect">
            <a:avLst/>
          </a:prstGeom>
          <a:noFill/>
          <a:ln/>
        </p:spPr>
        <p:txBody>
          <a:bodyPr wrap="square" lIns="0" tIns="0" rIns="0" bIns="0" rtlCol="0" anchor="ctr"/>
          <a:lstStyle/>
          <a:p>
            <a:pPr algn="ctr" indent="0" marL="0">
              <a:buNone/>
            </a:pPr>
            <a:r>
              <a:rPr lang="en-US" sz="1150" i="1" dirty="0">
                <a:solidFill>
                  <a:srgbClr val="5B6478"/>
                </a:solidFill>
                <a:latin typeface="Calibri" pitchFamily="34" charset="0"/>
                <a:ea typeface="Calibri" pitchFamily="34" charset="-122"/>
                <a:cs typeface="Calibri" pitchFamily="34" charset="-120"/>
              </a:rPr>
              <a:t>Example: Netflix and Amazon run reliability and delivery as one shared craft.</a:t>
            </a:r>
            <a:endParaRPr lang="en-US" sz="1150" dirty="0"/>
          </a:p>
        </p:txBody>
      </p:sp>
      <p:sp>
        <p:nvSpPr>
          <p:cNvPr id="21" name="Text 17"/>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22" name="Text 18"/>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OPERATING AT SCALE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DevSecOps</a:t>
            </a:r>
            <a:endParaRPr lang="en-US" sz="3200" dirty="0"/>
          </a:p>
        </p:txBody>
      </p:sp>
      <p:sp>
        <p:nvSpPr>
          <p:cNvPr id="4" name="Text 2"/>
          <p:cNvSpPr/>
          <p:nvPr/>
        </p:nvSpPr>
        <p:spPr>
          <a:xfrm>
            <a:off x="548640" y="1783080"/>
            <a:ext cx="5669280" cy="3657600"/>
          </a:xfrm>
          <a:prstGeom prst="rect">
            <a:avLst/>
          </a:prstGeom>
          <a:noFill/>
          <a:ln/>
        </p:spPr>
        <p:txBody>
          <a:bodyPr wrap="square" lIns="0" tIns="0" rIns="0" bIns="0" rtlCol="0" anchor="t"/>
          <a:lstStyle/>
          <a:p>
            <a:pPr marL="228600" indent="-228600">
              <a:spcAft>
                <a:spcPts val="1700"/>
              </a:spcAft>
              <a:buSzPct val="100000"/>
              <a:buChar char="▪"/>
            </a:pPr>
            <a:r>
              <a:rPr lang="en-US" sz="1450" dirty="0">
                <a:solidFill>
                  <a:srgbClr val="1E2433"/>
                </a:solidFill>
                <a:latin typeface="Calibri" pitchFamily="34" charset="0"/>
                <a:ea typeface="Calibri" pitchFamily="34" charset="-122"/>
                <a:cs typeface="Calibri" pitchFamily="34" charset="-120"/>
              </a:rPr>
              <a:t>Security integrated from the very first design step</a:t>
            </a:r>
            <a:endParaRPr lang="en-US" sz="1450" dirty="0"/>
          </a:p>
          <a:p>
            <a:pPr marL="228600" indent="-228600">
              <a:spcAft>
                <a:spcPts val="1700"/>
              </a:spcAft>
              <a:buSzPct val="100000"/>
              <a:buChar char="▪"/>
            </a:pPr>
            <a:r>
              <a:rPr lang="en-US" sz="1450" dirty="0">
                <a:solidFill>
                  <a:srgbClr val="1E2433"/>
                </a:solidFill>
                <a:latin typeface="Calibri" pitchFamily="34" charset="0"/>
                <a:ea typeface="Calibri" pitchFamily="34" charset="-122"/>
                <a:cs typeface="Calibri" pitchFamily="34" charset="-120"/>
              </a:rPr>
              <a:t>Shift-left: catch vulnerabilities earlier in development</a:t>
            </a:r>
            <a:endParaRPr lang="en-US" sz="1450" dirty="0"/>
          </a:p>
          <a:p>
            <a:pPr marL="228600" indent="-228600">
              <a:spcAft>
                <a:spcPts val="1700"/>
              </a:spcAft>
              <a:buSzPct val="100000"/>
              <a:buChar char="▪"/>
            </a:pPr>
            <a:r>
              <a:rPr lang="en-US" sz="1450" dirty="0">
                <a:solidFill>
                  <a:srgbClr val="1E2433"/>
                </a:solidFill>
                <a:latin typeface="Calibri" pitchFamily="34" charset="0"/>
                <a:ea typeface="Calibri" pitchFamily="34" charset="-122"/>
                <a:cs typeface="Calibri" pitchFamily="34" charset="-120"/>
              </a:rPr>
              <a:t>Automated security scans run inside the pipeline</a:t>
            </a:r>
            <a:endParaRPr lang="en-US" sz="1450" dirty="0"/>
          </a:p>
          <a:p>
            <a:pPr marL="228600" indent="-228600">
              <a:spcAft>
                <a:spcPts val="1700"/>
              </a:spcAft>
              <a:buSzPct val="100000"/>
              <a:buChar char="▪"/>
            </a:pPr>
            <a:r>
              <a:rPr lang="en-US" sz="1450" dirty="0">
                <a:solidFill>
                  <a:srgbClr val="1E2433"/>
                </a:solidFill>
                <a:latin typeface="Calibri" pitchFamily="34" charset="0"/>
                <a:ea typeface="Calibri" pitchFamily="34" charset="-122"/>
                <a:cs typeface="Calibri" pitchFamily="34" charset="-120"/>
              </a:rPr>
              <a:t>Compliance checks automated for audits and regulations</a:t>
            </a:r>
            <a:endParaRPr lang="en-US" sz="1450" dirty="0"/>
          </a:p>
          <a:p>
            <a:pPr marL="228600" indent="-228600">
              <a:spcAft>
                <a:spcPts val="1700"/>
              </a:spcAft>
              <a:buSzPct val="100000"/>
              <a:buChar char="▪"/>
            </a:pPr>
            <a:r>
              <a:rPr lang="en-US" sz="1450" dirty="0">
                <a:solidFill>
                  <a:srgbClr val="1E2433"/>
                </a:solidFill>
                <a:latin typeface="Calibri" pitchFamily="34" charset="0"/>
                <a:ea typeface="Calibri" pitchFamily="34" charset="-122"/>
                <a:cs typeface="Calibri" pitchFamily="34" charset="-120"/>
              </a:rPr>
              <a:t>Secure deployment protects data once in production</a:t>
            </a:r>
            <a:endParaRPr lang="en-US" sz="1450" dirty="0"/>
          </a:p>
        </p:txBody>
      </p:sp>
      <p:sp>
        <p:nvSpPr>
          <p:cNvPr id="5" name="Shape 3"/>
          <p:cNvSpPr/>
          <p:nvPr/>
        </p:nvSpPr>
        <p:spPr>
          <a:xfrm flipH="1">
            <a:off x="6537960" y="1783080"/>
            <a:ext cx="5120640" cy="0"/>
          </a:xfrm>
          <a:prstGeom prst="line">
            <a:avLst/>
          </a:prstGeom>
          <a:noFill/>
          <a:ln w="25400">
            <a:solidFill>
              <a:srgbClr val="FF7A45"/>
            </a:solidFill>
            <a:prstDash val="dash"/>
            <a:tailEnd type="triangle"/>
          </a:ln>
        </p:spPr>
      </p:sp>
      <p:sp>
        <p:nvSpPr>
          <p:cNvPr id="6" name="Text 4"/>
          <p:cNvSpPr/>
          <p:nvPr/>
        </p:nvSpPr>
        <p:spPr>
          <a:xfrm>
            <a:off x="6537960" y="1481328"/>
            <a:ext cx="5120640" cy="274320"/>
          </a:xfrm>
          <a:prstGeom prst="rect">
            <a:avLst/>
          </a:prstGeom>
          <a:noFill/>
          <a:ln/>
        </p:spPr>
        <p:txBody>
          <a:bodyPr wrap="square" lIns="0" tIns="0" rIns="0" bIns="0" rtlCol="0" anchor="ctr"/>
          <a:lstStyle/>
          <a:p>
            <a:pPr algn="ctr" indent="0" marL="0">
              <a:buNone/>
            </a:pPr>
            <a:r>
              <a:rPr lang="en-US" sz="1050" b="1" dirty="0">
                <a:solidFill>
                  <a:srgbClr val="FF7A45"/>
                </a:solidFill>
                <a:latin typeface="Calibri" pitchFamily="34" charset="0"/>
                <a:ea typeface="Calibri" pitchFamily="34" charset="-122"/>
                <a:cs typeface="Calibri" pitchFamily="34" charset="-120"/>
              </a:rPr>
              <a:t>SHIFT LEFT — security moves earlier in the lifecycle</a:t>
            </a:r>
            <a:endParaRPr lang="en-US" sz="1050" dirty="0"/>
          </a:p>
        </p:txBody>
      </p:sp>
      <p:sp>
        <p:nvSpPr>
          <p:cNvPr id="7" name="Shape 5"/>
          <p:cNvSpPr/>
          <p:nvPr/>
        </p:nvSpPr>
        <p:spPr>
          <a:xfrm>
            <a:off x="6537960" y="2148840"/>
            <a:ext cx="914400" cy="548640"/>
          </a:xfrm>
          <a:prstGeom prst="roundRect">
            <a:avLst>
              <a:gd name="adj" fmla="val 8333"/>
            </a:avLst>
          </a:prstGeom>
          <a:solidFill>
            <a:srgbClr val="22326B"/>
          </a:solidFill>
          <a:ln/>
        </p:spPr>
      </p:sp>
      <p:sp>
        <p:nvSpPr>
          <p:cNvPr id="8" name="Text 6"/>
          <p:cNvSpPr/>
          <p:nvPr/>
        </p:nvSpPr>
        <p:spPr>
          <a:xfrm>
            <a:off x="6537960" y="214884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Plan</a:t>
            </a:r>
            <a:endParaRPr lang="en-US" sz="1100" dirty="0"/>
          </a:p>
        </p:txBody>
      </p:sp>
      <p:sp>
        <p:nvSpPr>
          <p:cNvPr id="9" name="Shape 7"/>
          <p:cNvSpPr/>
          <p:nvPr/>
        </p:nvSpPr>
        <p:spPr>
          <a:xfrm>
            <a:off x="6803136" y="2926080"/>
            <a:ext cx="384048" cy="384048"/>
          </a:xfrm>
          <a:prstGeom prst="ellipse">
            <a:avLst/>
          </a:prstGeom>
          <a:solidFill>
            <a:srgbClr val="121A3C"/>
          </a:solidFill>
          <a:ln/>
        </p:spPr>
      </p:sp>
      <p:pic>
        <p:nvPicPr>
          <p:cNvPr id="10" name="Image 0" descr="/home/claude/mse_deck/icons/shield.png">    </p:cNvPr>
          <p:cNvPicPr>
            <a:picLocks noChangeAspect="1"/>
          </p:cNvPicPr>
          <p:nvPr/>
        </p:nvPicPr>
        <p:blipFill>
          <a:blip r:embed="rId1"/>
          <a:stretch>
            <a:fillRect/>
          </a:stretch>
        </p:blipFill>
        <p:spPr>
          <a:xfrm>
            <a:off x="6887627" y="3010571"/>
            <a:ext cx="215067" cy="215067"/>
          </a:xfrm>
          <a:prstGeom prst="rect">
            <a:avLst/>
          </a:prstGeom>
        </p:spPr>
      </p:pic>
      <p:sp>
        <p:nvSpPr>
          <p:cNvPr id="11" name="Shape 8"/>
          <p:cNvSpPr/>
          <p:nvPr/>
        </p:nvSpPr>
        <p:spPr>
          <a:xfrm>
            <a:off x="7589520" y="2148840"/>
            <a:ext cx="914400" cy="548640"/>
          </a:xfrm>
          <a:prstGeom prst="roundRect">
            <a:avLst>
              <a:gd name="adj" fmla="val 8333"/>
            </a:avLst>
          </a:prstGeom>
          <a:solidFill>
            <a:srgbClr val="22326B"/>
          </a:solidFill>
          <a:ln/>
        </p:spPr>
      </p:sp>
      <p:sp>
        <p:nvSpPr>
          <p:cNvPr id="12" name="Text 9"/>
          <p:cNvSpPr/>
          <p:nvPr/>
        </p:nvSpPr>
        <p:spPr>
          <a:xfrm>
            <a:off x="7589520" y="214884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Code</a:t>
            </a:r>
            <a:endParaRPr lang="en-US" sz="1100" dirty="0"/>
          </a:p>
        </p:txBody>
      </p:sp>
      <p:sp>
        <p:nvSpPr>
          <p:cNvPr id="13" name="Shape 10"/>
          <p:cNvSpPr/>
          <p:nvPr/>
        </p:nvSpPr>
        <p:spPr>
          <a:xfrm>
            <a:off x="7854696" y="2926080"/>
            <a:ext cx="384048" cy="384048"/>
          </a:xfrm>
          <a:prstGeom prst="ellipse">
            <a:avLst/>
          </a:prstGeom>
          <a:solidFill>
            <a:srgbClr val="121A3C"/>
          </a:solidFill>
          <a:ln/>
        </p:spPr>
      </p:sp>
      <p:pic>
        <p:nvPicPr>
          <p:cNvPr id="14" name="Image 1" descr="/home/claude/mse_deck/icons/shield.png">    </p:cNvPr>
          <p:cNvPicPr>
            <a:picLocks noChangeAspect="1"/>
          </p:cNvPicPr>
          <p:nvPr/>
        </p:nvPicPr>
        <p:blipFill>
          <a:blip r:embed="rId2"/>
          <a:stretch>
            <a:fillRect/>
          </a:stretch>
        </p:blipFill>
        <p:spPr>
          <a:xfrm>
            <a:off x="7939187" y="3010571"/>
            <a:ext cx="215067" cy="215067"/>
          </a:xfrm>
          <a:prstGeom prst="rect">
            <a:avLst/>
          </a:prstGeom>
        </p:spPr>
      </p:pic>
      <p:sp>
        <p:nvSpPr>
          <p:cNvPr id="15" name="Shape 11"/>
          <p:cNvSpPr/>
          <p:nvPr/>
        </p:nvSpPr>
        <p:spPr>
          <a:xfrm>
            <a:off x="8641080" y="2148840"/>
            <a:ext cx="914400" cy="548640"/>
          </a:xfrm>
          <a:prstGeom prst="roundRect">
            <a:avLst>
              <a:gd name="adj" fmla="val 8333"/>
            </a:avLst>
          </a:prstGeom>
          <a:solidFill>
            <a:srgbClr val="18A0C9"/>
          </a:solidFill>
          <a:ln/>
        </p:spPr>
      </p:sp>
      <p:sp>
        <p:nvSpPr>
          <p:cNvPr id="16" name="Text 12"/>
          <p:cNvSpPr/>
          <p:nvPr/>
        </p:nvSpPr>
        <p:spPr>
          <a:xfrm>
            <a:off x="8641080" y="214884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Build</a:t>
            </a:r>
            <a:endParaRPr lang="en-US" sz="1100" dirty="0"/>
          </a:p>
        </p:txBody>
      </p:sp>
      <p:sp>
        <p:nvSpPr>
          <p:cNvPr id="17" name="Shape 13"/>
          <p:cNvSpPr/>
          <p:nvPr/>
        </p:nvSpPr>
        <p:spPr>
          <a:xfrm>
            <a:off x="8906256" y="2926080"/>
            <a:ext cx="384048" cy="384048"/>
          </a:xfrm>
          <a:prstGeom prst="ellipse">
            <a:avLst/>
          </a:prstGeom>
          <a:solidFill>
            <a:srgbClr val="121A3C"/>
          </a:solidFill>
          <a:ln/>
        </p:spPr>
      </p:sp>
      <p:pic>
        <p:nvPicPr>
          <p:cNvPr id="18" name="Image 2" descr="/home/claude/mse_deck/icons/shield.png">    </p:cNvPr>
          <p:cNvPicPr>
            <a:picLocks noChangeAspect="1"/>
          </p:cNvPicPr>
          <p:nvPr/>
        </p:nvPicPr>
        <p:blipFill>
          <a:blip r:embed="rId3"/>
          <a:stretch>
            <a:fillRect/>
          </a:stretch>
        </p:blipFill>
        <p:spPr>
          <a:xfrm>
            <a:off x="8990747" y="3010571"/>
            <a:ext cx="215067" cy="215067"/>
          </a:xfrm>
          <a:prstGeom prst="rect">
            <a:avLst/>
          </a:prstGeom>
        </p:spPr>
      </p:pic>
      <p:sp>
        <p:nvSpPr>
          <p:cNvPr id="19" name="Shape 14"/>
          <p:cNvSpPr/>
          <p:nvPr/>
        </p:nvSpPr>
        <p:spPr>
          <a:xfrm>
            <a:off x="9692640" y="2148840"/>
            <a:ext cx="914400" cy="548640"/>
          </a:xfrm>
          <a:prstGeom prst="roundRect">
            <a:avLst>
              <a:gd name="adj" fmla="val 8333"/>
            </a:avLst>
          </a:prstGeom>
          <a:solidFill>
            <a:srgbClr val="18A0C9"/>
          </a:solidFill>
          <a:ln/>
        </p:spPr>
      </p:sp>
      <p:sp>
        <p:nvSpPr>
          <p:cNvPr id="20" name="Text 15"/>
          <p:cNvSpPr/>
          <p:nvPr/>
        </p:nvSpPr>
        <p:spPr>
          <a:xfrm>
            <a:off x="9692640" y="214884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p>
        </p:txBody>
      </p:sp>
      <p:sp>
        <p:nvSpPr>
          <p:cNvPr id="21" name="Shape 16"/>
          <p:cNvSpPr/>
          <p:nvPr/>
        </p:nvSpPr>
        <p:spPr>
          <a:xfrm>
            <a:off x="9957816" y="2926080"/>
            <a:ext cx="384048" cy="384048"/>
          </a:xfrm>
          <a:prstGeom prst="ellipse">
            <a:avLst/>
          </a:prstGeom>
          <a:solidFill>
            <a:srgbClr val="121A3C"/>
          </a:solidFill>
          <a:ln/>
        </p:spPr>
      </p:sp>
      <p:pic>
        <p:nvPicPr>
          <p:cNvPr id="22" name="Image 3" descr="/home/claude/mse_deck/icons/shield.png">    </p:cNvPr>
          <p:cNvPicPr>
            <a:picLocks noChangeAspect="1"/>
          </p:cNvPicPr>
          <p:nvPr/>
        </p:nvPicPr>
        <p:blipFill>
          <a:blip r:embed="rId4"/>
          <a:stretch>
            <a:fillRect/>
          </a:stretch>
        </p:blipFill>
        <p:spPr>
          <a:xfrm>
            <a:off x="10042307" y="3010571"/>
            <a:ext cx="215067" cy="215067"/>
          </a:xfrm>
          <a:prstGeom prst="rect">
            <a:avLst/>
          </a:prstGeom>
        </p:spPr>
      </p:pic>
      <p:sp>
        <p:nvSpPr>
          <p:cNvPr id="23" name="Shape 17"/>
          <p:cNvSpPr/>
          <p:nvPr/>
        </p:nvSpPr>
        <p:spPr>
          <a:xfrm>
            <a:off x="10744200" y="2148840"/>
            <a:ext cx="914400" cy="548640"/>
          </a:xfrm>
          <a:prstGeom prst="roundRect">
            <a:avLst>
              <a:gd name="adj" fmla="val 8333"/>
            </a:avLst>
          </a:prstGeom>
          <a:solidFill>
            <a:srgbClr val="FF7A45"/>
          </a:solidFill>
          <a:ln/>
        </p:spPr>
      </p:sp>
      <p:sp>
        <p:nvSpPr>
          <p:cNvPr id="24" name="Text 18"/>
          <p:cNvSpPr/>
          <p:nvPr/>
        </p:nvSpPr>
        <p:spPr>
          <a:xfrm>
            <a:off x="10744200" y="214884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Deploy</a:t>
            </a:r>
            <a:endParaRPr lang="en-US" sz="1100" dirty="0"/>
          </a:p>
        </p:txBody>
      </p:sp>
      <p:sp>
        <p:nvSpPr>
          <p:cNvPr id="25" name="Shape 19"/>
          <p:cNvSpPr/>
          <p:nvPr/>
        </p:nvSpPr>
        <p:spPr>
          <a:xfrm>
            <a:off x="11009376" y="2926080"/>
            <a:ext cx="384048" cy="384048"/>
          </a:xfrm>
          <a:prstGeom prst="ellipse">
            <a:avLst/>
          </a:prstGeom>
          <a:solidFill>
            <a:srgbClr val="121A3C"/>
          </a:solidFill>
          <a:ln/>
        </p:spPr>
      </p:sp>
      <p:pic>
        <p:nvPicPr>
          <p:cNvPr id="26" name="Image 4" descr="/home/claude/mse_deck/icons/shield.png">    </p:cNvPr>
          <p:cNvPicPr>
            <a:picLocks noChangeAspect="1"/>
          </p:cNvPicPr>
          <p:nvPr/>
        </p:nvPicPr>
        <p:blipFill>
          <a:blip r:embed="rId5"/>
          <a:stretch>
            <a:fillRect/>
          </a:stretch>
        </p:blipFill>
        <p:spPr>
          <a:xfrm>
            <a:off x="11093867" y="3010571"/>
            <a:ext cx="215067" cy="215067"/>
          </a:xfrm>
          <a:prstGeom prst="rect">
            <a:avLst/>
          </a:prstGeom>
        </p:spPr>
      </p:pic>
      <p:sp>
        <p:nvSpPr>
          <p:cNvPr id="27" name="Text 20"/>
          <p:cNvSpPr/>
          <p:nvPr/>
        </p:nvSpPr>
        <p:spPr>
          <a:xfrm>
            <a:off x="6537960" y="3520440"/>
            <a:ext cx="5120640" cy="365760"/>
          </a:xfrm>
          <a:prstGeom prst="rect">
            <a:avLst/>
          </a:prstGeom>
          <a:noFill/>
          <a:ln/>
        </p:spPr>
        <p:txBody>
          <a:bodyPr wrap="square" lIns="0" tIns="0" rIns="0" bIns="0" rtlCol="0" anchor="ctr"/>
          <a:lstStyle/>
          <a:p>
            <a:pPr algn="ctr" indent="0" marL="0">
              <a:buNone/>
            </a:pPr>
            <a:r>
              <a:rPr lang="en-US" sz="1150" i="1" dirty="0">
                <a:solidFill>
                  <a:srgbClr val="5B6478"/>
                </a:solidFill>
                <a:latin typeface="Calibri" pitchFamily="34" charset="0"/>
                <a:ea typeface="Calibri" pitchFamily="34" charset="-122"/>
                <a:cs typeface="Calibri" pitchFamily="34" charset="-120"/>
              </a:rPr>
              <a:t>Security checks embedded at every stage, not just at the end.</a:t>
            </a:r>
            <a:endParaRPr lang="en-US" sz="1150" dirty="0"/>
          </a:p>
        </p:txBody>
      </p:sp>
      <p:sp>
        <p:nvSpPr>
          <p:cNvPr id="28" name="Shape 21"/>
          <p:cNvSpPr/>
          <p:nvPr/>
        </p:nvSpPr>
        <p:spPr>
          <a:xfrm>
            <a:off x="6537960" y="4114800"/>
            <a:ext cx="5120640" cy="1234440"/>
          </a:xfrm>
          <a:prstGeom prst="roundRect">
            <a:avLst>
              <a:gd name="adj" fmla="val 5185"/>
            </a:avLst>
          </a:prstGeom>
          <a:solidFill>
            <a:srgbClr val="121A3C"/>
          </a:solidFill>
          <a:ln/>
        </p:spPr>
      </p:sp>
      <p:sp>
        <p:nvSpPr>
          <p:cNvPr id="29" name="Shape 22"/>
          <p:cNvSpPr/>
          <p:nvPr/>
        </p:nvSpPr>
        <p:spPr>
          <a:xfrm>
            <a:off x="6720840" y="4297680"/>
            <a:ext cx="502920" cy="502920"/>
          </a:xfrm>
          <a:prstGeom prst="ellipse">
            <a:avLst/>
          </a:prstGeom>
          <a:solidFill>
            <a:srgbClr val="FF7A45"/>
          </a:solidFill>
          <a:ln/>
        </p:spPr>
      </p:sp>
      <p:pic>
        <p:nvPicPr>
          <p:cNvPr id="30" name="Image 5" descr="/home/claude/mse_deck/icons/lock.png">    </p:cNvPr>
          <p:cNvPicPr>
            <a:picLocks noChangeAspect="1"/>
          </p:cNvPicPr>
          <p:nvPr/>
        </p:nvPicPr>
        <p:blipFill>
          <a:blip r:embed="rId6"/>
          <a:stretch>
            <a:fillRect/>
          </a:stretch>
        </p:blipFill>
        <p:spPr>
          <a:xfrm>
            <a:off x="6831482" y="4408322"/>
            <a:ext cx="281635" cy="281635"/>
          </a:xfrm>
          <a:prstGeom prst="rect">
            <a:avLst/>
          </a:prstGeom>
        </p:spPr>
      </p:pic>
      <p:sp>
        <p:nvSpPr>
          <p:cNvPr id="31" name="Text 23"/>
          <p:cNvSpPr/>
          <p:nvPr/>
        </p:nvSpPr>
        <p:spPr>
          <a:xfrm>
            <a:off x="7360920" y="4114800"/>
            <a:ext cx="4114800" cy="1234440"/>
          </a:xfrm>
          <a:prstGeom prst="rect">
            <a:avLst/>
          </a:prstGeom>
          <a:noFill/>
          <a:ln/>
        </p:spPr>
        <p:txBody>
          <a:bodyPr wrap="square" lIns="0" tIns="0" rIns="0" bIns="0" rtlCol="0" anchor="ctr"/>
          <a:lstStyle/>
          <a:p>
            <a:pPr indent="0" marL="0">
              <a:lnSpc>
                <a:spcPct val="115000"/>
              </a:lnSpc>
              <a:buNone/>
            </a:pPr>
            <a:r>
              <a:rPr lang="en-US" sz="1150" b="1" dirty="0">
                <a:solidFill>
                  <a:srgbClr val="FF7A45"/>
                </a:solidFill>
                <a:latin typeface="Calibri" pitchFamily="34" charset="0"/>
                <a:ea typeface="Calibri" pitchFamily="34" charset="-122"/>
                <a:cs typeface="Calibri" pitchFamily="34" charset="-120"/>
              </a:rPr>
              <a:t>Industry example: </a:t>
            </a:r>
            <a:pPr indent="0" marL="0">
              <a:lnSpc>
                <a:spcPct val="115000"/>
              </a:lnSpc>
              <a:buNone/>
            </a:pPr>
            <a:r>
              <a:rPr lang="en-US" sz="1150" dirty="0">
                <a:solidFill>
                  <a:srgbClr val="C7D3E8"/>
                </a:solidFill>
                <a:latin typeface="Calibri" pitchFamily="34" charset="0"/>
                <a:ea typeface="Calibri" pitchFamily="34" charset="-122"/>
                <a:cs typeface="Calibri" pitchFamily="34" charset="-120"/>
              </a:rPr>
              <a:t>Financial technology platforms automate compliance and vulnerability checks directly into deployment.</a:t>
            </a:r>
            <a:endParaRPr lang="en-US" sz="1150" dirty="0"/>
          </a:p>
        </p:txBody>
      </p:sp>
      <p:sp>
        <p:nvSpPr>
          <p:cNvPr id="32" name="Text 24"/>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33" name="Text 2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OPERATING AT SCALE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CI/CD Pipeline</a:t>
            </a:r>
            <a:endParaRPr lang="en-US" sz="3200" dirty="0"/>
          </a:p>
        </p:txBody>
      </p:sp>
      <p:sp>
        <p:nvSpPr>
          <p:cNvPr id="4" name="Shape 2"/>
          <p:cNvSpPr/>
          <p:nvPr/>
        </p:nvSpPr>
        <p:spPr>
          <a:xfrm>
            <a:off x="548640" y="1737360"/>
            <a:ext cx="2072579" cy="1051560"/>
          </a:xfrm>
          <a:prstGeom prst="roundRect">
            <a:avLst>
              <a:gd name="adj" fmla="val 5217"/>
            </a:avLst>
          </a:prstGeom>
          <a:solidFill>
            <a:srgbClr val="22326B"/>
          </a:solidFill>
          <a:ln/>
        </p:spPr>
      </p:sp>
      <p:sp>
        <p:nvSpPr>
          <p:cNvPr id="5" name="Text 3"/>
          <p:cNvSpPr/>
          <p:nvPr/>
        </p:nvSpPr>
        <p:spPr>
          <a:xfrm>
            <a:off x="640080" y="1810512"/>
            <a:ext cx="548640" cy="320040"/>
          </a:xfrm>
          <a:prstGeom prst="rect">
            <a:avLst/>
          </a:prstGeom>
          <a:noFill/>
          <a:ln/>
        </p:spPr>
        <p:txBody>
          <a:bodyPr wrap="square" lIns="0" tIns="0" rIns="0" bIns="0" rtlCol="0" anchor="ctr"/>
          <a:lstStyle/>
          <a:p>
            <a:pPr indent="0" marL="0">
              <a:buNone/>
            </a:pPr>
            <a:r>
              <a:rPr lang="en-US" sz="1400" b="1" dirty="0">
                <a:solidFill>
                  <a:srgbClr val="FFFFFF">
                    <a:alpha val="75000"/>
                  </a:srgbClr>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548640" y="2057400"/>
            <a:ext cx="2072579"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Code</a:t>
            </a:r>
            <a:endParaRPr lang="en-US" sz="1500" dirty="0"/>
          </a:p>
        </p:txBody>
      </p:sp>
      <p:sp>
        <p:nvSpPr>
          <p:cNvPr id="7" name="Shape 5"/>
          <p:cNvSpPr/>
          <p:nvPr/>
        </p:nvSpPr>
        <p:spPr>
          <a:xfrm>
            <a:off x="2602931" y="2180844"/>
            <a:ext cx="347472" cy="164592"/>
          </a:xfrm>
          <a:prstGeom prst="rightArrow">
            <a:avLst/>
          </a:prstGeom>
          <a:solidFill>
            <a:srgbClr val="5B6478"/>
          </a:solidFill>
          <a:ln/>
        </p:spPr>
      </p:sp>
      <p:sp>
        <p:nvSpPr>
          <p:cNvPr id="8" name="Shape 6"/>
          <p:cNvSpPr/>
          <p:nvPr/>
        </p:nvSpPr>
        <p:spPr>
          <a:xfrm>
            <a:off x="2804099" y="1737360"/>
            <a:ext cx="2072579" cy="1051560"/>
          </a:xfrm>
          <a:prstGeom prst="roundRect">
            <a:avLst>
              <a:gd name="adj" fmla="val 5217"/>
            </a:avLst>
          </a:prstGeom>
          <a:solidFill>
            <a:srgbClr val="22326B"/>
          </a:solidFill>
          <a:ln/>
        </p:spPr>
      </p:sp>
      <p:sp>
        <p:nvSpPr>
          <p:cNvPr id="9" name="Text 7"/>
          <p:cNvSpPr/>
          <p:nvPr/>
        </p:nvSpPr>
        <p:spPr>
          <a:xfrm>
            <a:off x="2895539" y="1810512"/>
            <a:ext cx="548640" cy="320040"/>
          </a:xfrm>
          <a:prstGeom prst="rect">
            <a:avLst/>
          </a:prstGeom>
          <a:noFill/>
          <a:ln/>
        </p:spPr>
        <p:txBody>
          <a:bodyPr wrap="square" lIns="0" tIns="0" rIns="0" bIns="0" rtlCol="0" anchor="ctr"/>
          <a:lstStyle/>
          <a:p>
            <a:pPr indent="0" marL="0">
              <a:buNone/>
            </a:pPr>
            <a:r>
              <a:rPr lang="en-US" sz="1400" b="1" dirty="0">
                <a:solidFill>
                  <a:srgbClr val="FFFFFF">
                    <a:alpha val="75000"/>
                  </a:srgbClr>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2804099" y="2057400"/>
            <a:ext cx="2072579"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Build</a:t>
            </a:r>
            <a:endParaRPr lang="en-US" sz="1500" dirty="0"/>
          </a:p>
        </p:txBody>
      </p:sp>
      <p:sp>
        <p:nvSpPr>
          <p:cNvPr id="11" name="Shape 9"/>
          <p:cNvSpPr/>
          <p:nvPr/>
        </p:nvSpPr>
        <p:spPr>
          <a:xfrm>
            <a:off x="4858390" y="2180844"/>
            <a:ext cx="347472" cy="164592"/>
          </a:xfrm>
          <a:prstGeom prst="rightArrow">
            <a:avLst/>
          </a:prstGeom>
          <a:solidFill>
            <a:srgbClr val="5B6478"/>
          </a:solidFill>
          <a:ln/>
        </p:spPr>
      </p:sp>
      <p:sp>
        <p:nvSpPr>
          <p:cNvPr id="12" name="Shape 10"/>
          <p:cNvSpPr/>
          <p:nvPr/>
        </p:nvSpPr>
        <p:spPr>
          <a:xfrm>
            <a:off x="5059558" y="1737360"/>
            <a:ext cx="2072579" cy="1051560"/>
          </a:xfrm>
          <a:prstGeom prst="roundRect">
            <a:avLst>
              <a:gd name="adj" fmla="val 5217"/>
            </a:avLst>
          </a:prstGeom>
          <a:solidFill>
            <a:srgbClr val="18A0C9"/>
          </a:solidFill>
          <a:ln/>
        </p:spPr>
      </p:sp>
      <p:sp>
        <p:nvSpPr>
          <p:cNvPr id="13" name="Text 11"/>
          <p:cNvSpPr/>
          <p:nvPr/>
        </p:nvSpPr>
        <p:spPr>
          <a:xfrm>
            <a:off x="5150998" y="1810512"/>
            <a:ext cx="548640" cy="320040"/>
          </a:xfrm>
          <a:prstGeom prst="rect">
            <a:avLst/>
          </a:prstGeom>
          <a:noFill/>
          <a:ln/>
        </p:spPr>
        <p:txBody>
          <a:bodyPr wrap="square" lIns="0" tIns="0" rIns="0" bIns="0" rtlCol="0" anchor="ctr"/>
          <a:lstStyle/>
          <a:p>
            <a:pPr indent="0" marL="0">
              <a:buNone/>
            </a:pPr>
            <a:r>
              <a:rPr lang="en-US" sz="1400" b="1" dirty="0">
                <a:solidFill>
                  <a:srgbClr val="FFFFFF">
                    <a:alpha val="75000"/>
                  </a:srgbClr>
                </a:solidFill>
                <a:latin typeface="Cambria" pitchFamily="34" charset="0"/>
                <a:ea typeface="Cambria" pitchFamily="34" charset="-122"/>
                <a:cs typeface="Cambria" pitchFamily="34" charset="-120"/>
              </a:rPr>
              <a:t>3</a:t>
            </a:r>
            <a:endParaRPr lang="en-US" sz="1400" dirty="0"/>
          </a:p>
        </p:txBody>
      </p:sp>
      <p:sp>
        <p:nvSpPr>
          <p:cNvPr id="14" name="Text 12"/>
          <p:cNvSpPr/>
          <p:nvPr/>
        </p:nvSpPr>
        <p:spPr>
          <a:xfrm>
            <a:off x="5059558" y="2057400"/>
            <a:ext cx="2072579"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Test</a:t>
            </a:r>
            <a:endParaRPr lang="en-US" sz="1500" dirty="0"/>
          </a:p>
        </p:txBody>
      </p:sp>
      <p:sp>
        <p:nvSpPr>
          <p:cNvPr id="15" name="Shape 13"/>
          <p:cNvSpPr/>
          <p:nvPr/>
        </p:nvSpPr>
        <p:spPr>
          <a:xfrm>
            <a:off x="7113849" y="2180844"/>
            <a:ext cx="347472" cy="164592"/>
          </a:xfrm>
          <a:prstGeom prst="rightArrow">
            <a:avLst/>
          </a:prstGeom>
          <a:solidFill>
            <a:srgbClr val="5B6478"/>
          </a:solidFill>
          <a:ln/>
        </p:spPr>
      </p:sp>
      <p:sp>
        <p:nvSpPr>
          <p:cNvPr id="16" name="Shape 14"/>
          <p:cNvSpPr/>
          <p:nvPr/>
        </p:nvSpPr>
        <p:spPr>
          <a:xfrm>
            <a:off x="7315017" y="1737360"/>
            <a:ext cx="2072579" cy="1051560"/>
          </a:xfrm>
          <a:prstGeom prst="roundRect">
            <a:avLst>
              <a:gd name="adj" fmla="val 5217"/>
            </a:avLst>
          </a:prstGeom>
          <a:solidFill>
            <a:srgbClr val="18A0C9"/>
          </a:solidFill>
          <a:ln/>
        </p:spPr>
      </p:sp>
      <p:sp>
        <p:nvSpPr>
          <p:cNvPr id="17" name="Text 15"/>
          <p:cNvSpPr/>
          <p:nvPr/>
        </p:nvSpPr>
        <p:spPr>
          <a:xfrm>
            <a:off x="7406457" y="1810512"/>
            <a:ext cx="548640" cy="320040"/>
          </a:xfrm>
          <a:prstGeom prst="rect">
            <a:avLst/>
          </a:prstGeom>
          <a:noFill/>
          <a:ln/>
        </p:spPr>
        <p:txBody>
          <a:bodyPr wrap="square" lIns="0" tIns="0" rIns="0" bIns="0" rtlCol="0" anchor="ctr"/>
          <a:lstStyle/>
          <a:p>
            <a:pPr indent="0" marL="0">
              <a:buNone/>
            </a:pPr>
            <a:r>
              <a:rPr lang="en-US" sz="1400" b="1" dirty="0">
                <a:solidFill>
                  <a:srgbClr val="FFFFFF">
                    <a:alpha val="75000"/>
                  </a:srgbClr>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7315017" y="2057400"/>
            <a:ext cx="2072579"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Deploy</a:t>
            </a:r>
            <a:endParaRPr lang="en-US" sz="1500" dirty="0"/>
          </a:p>
        </p:txBody>
      </p:sp>
      <p:sp>
        <p:nvSpPr>
          <p:cNvPr id="19" name="Shape 17"/>
          <p:cNvSpPr/>
          <p:nvPr/>
        </p:nvSpPr>
        <p:spPr>
          <a:xfrm>
            <a:off x="9369308" y="2180844"/>
            <a:ext cx="347472" cy="164592"/>
          </a:xfrm>
          <a:prstGeom prst="rightArrow">
            <a:avLst/>
          </a:prstGeom>
          <a:solidFill>
            <a:srgbClr val="5B6478"/>
          </a:solidFill>
          <a:ln/>
        </p:spPr>
      </p:sp>
      <p:sp>
        <p:nvSpPr>
          <p:cNvPr id="20" name="Shape 18"/>
          <p:cNvSpPr/>
          <p:nvPr/>
        </p:nvSpPr>
        <p:spPr>
          <a:xfrm>
            <a:off x="9570476" y="1737360"/>
            <a:ext cx="2072579" cy="1051560"/>
          </a:xfrm>
          <a:prstGeom prst="roundRect">
            <a:avLst>
              <a:gd name="adj" fmla="val 5217"/>
            </a:avLst>
          </a:prstGeom>
          <a:solidFill>
            <a:srgbClr val="FF7A45"/>
          </a:solidFill>
          <a:ln/>
        </p:spPr>
      </p:sp>
      <p:sp>
        <p:nvSpPr>
          <p:cNvPr id="21" name="Text 19"/>
          <p:cNvSpPr/>
          <p:nvPr/>
        </p:nvSpPr>
        <p:spPr>
          <a:xfrm>
            <a:off x="9661916" y="1810512"/>
            <a:ext cx="548640" cy="320040"/>
          </a:xfrm>
          <a:prstGeom prst="rect">
            <a:avLst/>
          </a:prstGeom>
          <a:noFill/>
          <a:ln/>
        </p:spPr>
        <p:txBody>
          <a:bodyPr wrap="square" lIns="0" tIns="0" rIns="0" bIns="0" rtlCol="0" anchor="ctr"/>
          <a:lstStyle/>
          <a:p>
            <a:pPr indent="0" marL="0">
              <a:buNone/>
            </a:pPr>
            <a:r>
              <a:rPr lang="en-US" sz="1400" b="1" dirty="0">
                <a:solidFill>
                  <a:srgbClr val="FFFFFF">
                    <a:alpha val="75000"/>
                  </a:srgbClr>
                </a:solidFill>
                <a:latin typeface="Cambria" pitchFamily="34" charset="0"/>
                <a:ea typeface="Cambria" pitchFamily="34" charset="-122"/>
                <a:cs typeface="Cambria" pitchFamily="34" charset="-120"/>
              </a:rPr>
              <a:t>5</a:t>
            </a:r>
            <a:endParaRPr lang="en-US" sz="1400" dirty="0"/>
          </a:p>
        </p:txBody>
      </p:sp>
      <p:sp>
        <p:nvSpPr>
          <p:cNvPr id="22" name="Text 20"/>
          <p:cNvSpPr/>
          <p:nvPr/>
        </p:nvSpPr>
        <p:spPr>
          <a:xfrm>
            <a:off x="9570476" y="2057400"/>
            <a:ext cx="2072579"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Monitor</a:t>
            </a:r>
            <a:endParaRPr lang="en-US" sz="1500" dirty="0"/>
          </a:p>
        </p:txBody>
      </p:sp>
      <p:sp>
        <p:nvSpPr>
          <p:cNvPr id="23" name="Shape 21"/>
          <p:cNvSpPr/>
          <p:nvPr/>
        </p:nvSpPr>
        <p:spPr>
          <a:xfrm>
            <a:off x="1584930" y="3063240"/>
            <a:ext cx="9021836" cy="0"/>
          </a:xfrm>
          <a:prstGeom prst="line">
            <a:avLst/>
          </a:prstGeom>
          <a:noFill/>
          <a:ln w="25400">
            <a:solidFill>
              <a:srgbClr val="FF7A45"/>
            </a:solidFill>
            <a:prstDash val="dash"/>
            <a:headEnd type="triangle"/>
            <a:tailEnd type="triangle"/>
          </a:ln>
        </p:spPr>
      </p:sp>
      <p:sp>
        <p:nvSpPr>
          <p:cNvPr id="24" name="Shape 22"/>
          <p:cNvSpPr/>
          <p:nvPr/>
        </p:nvSpPr>
        <p:spPr>
          <a:xfrm>
            <a:off x="1584930" y="2788920"/>
            <a:ext cx="0" cy="274320"/>
          </a:xfrm>
          <a:prstGeom prst="line">
            <a:avLst/>
          </a:prstGeom>
          <a:noFill/>
          <a:ln w="25400">
            <a:solidFill>
              <a:srgbClr val="FF7A45"/>
            </a:solidFill>
            <a:prstDash val="solid"/>
          </a:ln>
        </p:spPr>
      </p:sp>
      <p:sp>
        <p:nvSpPr>
          <p:cNvPr id="25" name="Shape 23"/>
          <p:cNvSpPr/>
          <p:nvPr/>
        </p:nvSpPr>
        <p:spPr>
          <a:xfrm>
            <a:off x="10606766" y="2788920"/>
            <a:ext cx="0" cy="274320"/>
          </a:xfrm>
          <a:prstGeom prst="line">
            <a:avLst/>
          </a:prstGeom>
          <a:noFill/>
          <a:ln w="25400">
            <a:solidFill>
              <a:srgbClr val="FF7A45"/>
            </a:solidFill>
            <a:prstDash val="solid"/>
          </a:ln>
        </p:spPr>
      </p:sp>
      <p:sp>
        <p:nvSpPr>
          <p:cNvPr id="26" name="Text 24"/>
          <p:cNvSpPr/>
          <p:nvPr/>
        </p:nvSpPr>
        <p:spPr>
          <a:xfrm>
            <a:off x="3352648" y="3200400"/>
            <a:ext cx="5486400" cy="320040"/>
          </a:xfrm>
          <a:prstGeom prst="rect">
            <a:avLst/>
          </a:prstGeom>
          <a:noFill/>
          <a:ln/>
        </p:spPr>
        <p:txBody>
          <a:bodyPr wrap="square" lIns="0" tIns="0" rIns="0" bIns="0" rtlCol="0" anchor="ctr"/>
          <a:lstStyle/>
          <a:p>
            <a:pPr algn="ctr" indent="0" marL="0">
              <a:buNone/>
            </a:pPr>
            <a:r>
              <a:rPr lang="en-US" sz="1150" i="1" dirty="0">
                <a:solidFill>
                  <a:srgbClr val="5B6478"/>
                </a:solidFill>
                <a:latin typeface="Calibri" pitchFamily="34" charset="0"/>
                <a:ea typeface="Calibri" pitchFamily="34" charset="-122"/>
                <a:cs typeface="Calibri" pitchFamily="34" charset="-120"/>
              </a:rPr>
              <a:t>Monitoring feeds insights back into the next code change</a:t>
            </a:r>
            <a:endParaRPr lang="en-US" sz="1150" dirty="0"/>
          </a:p>
        </p:txBody>
      </p:sp>
      <p:sp>
        <p:nvSpPr>
          <p:cNvPr id="27" name="Text 25"/>
          <p:cNvSpPr/>
          <p:nvPr/>
        </p:nvSpPr>
        <p:spPr>
          <a:xfrm>
            <a:off x="1280160" y="3794760"/>
            <a:ext cx="9601200" cy="2377440"/>
          </a:xfrm>
          <a:prstGeom prst="rect">
            <a:avLst/>
          </a:prstGeom>
          <a:noFill/>
          <a:ln/>
        </p:spPr>
        <p:txBody>
          <a:bodyPr wrap="square" lIns="0" tIns="0" rIns="0" bIns="0" rtlCol="0" anchor="t"/>
          <a:lstStyle/>
          <a:p>
            <a:pPr marL="228600" indent="-228600">
              <a:spcAft>
                <a:spcPts val="1500"/>
              </a:spcAft>
              <a:buSzPct val="100000"/>
              <a:buChar char="▪"/>
            </a:pPr>
            <a:r>
              <a:rPr lang="en-US" sz="1550" dirty="0">
                <a:solidFill>
                  <a:srgbClr val="1E2433"/>
                </a:solidFill>
                <a:latin typeface="Calibri" pitchFamily="34" charset="0"/>
                <a:ea typeface="Calibri" pitchFamily="34" charset="-122"/>
                <a:cs typeface="Calibri" pitchFamily="34" charset="-120"/>
              </a:rPr>
              <a:t>Continuous Integration: merge code frequently, catch bugs early</a:t>
            </a:r>
            <a:endParaRPr lang="en-US" sz="1550" dirty="0"/>
          </a:p>
          <a:p>
            <a:pPr marL="228600" indent="-228600">
              <a:spcAft>
                <a:spcPts val="1500"/>
              </a:spcAft>
              <a:buSzPct val="100000"/>
              <a:buChar char="▪"/>
            </a:pPr>
            <a:r>
              <a:rPr lang="en-US" sz="1550" dirty="0">
                <a:solidFill>
                  <a:srgbClr val="1E2433"/>
                </a:solidFill>
                <a:latin typeface="Calibri" pitchFamily="34" charset="0"/>
                <a:ea typeface="Calibri" pitchFamily="34" charset="-122"/>
                <a:cs typeface="Calibri" pitchFamily="34" charset="-120"/>
              </a:rPr>
              <a:t>Continuous Delivery: code is always ready to release</a:t>
            </a:r>
            <a:endParaRPr lang="en-US" sz="1550" dirty="0"/>
          </a:p>
          <a:p>
            <a:pPr marL="228600" indent="-228600">
              <a:spcAft>
                <a:spcPts val="1500"/>
              </a:spcAft>
              <a:buSzPct val="100000"/>
              <a:buChar char="▪"/>
            </a:pPr>
            <a:r>
              <a:rPr lang="en-US" sz="1550" dirty="0">
                <a:solidFill>
                  <a:srgbClr val="1E2433"/>
                </a:solidFill>
                <a:latin typeface="Calibri" pitchFamily="34" charset="0"/>
                <a:ea typeface="Calibri" pitchFamily="34" charset="-122"/>
                <a:cs typeface="Calibri" pitchFamily="34" charset="-120"/>
              </a:rPr>
              <a:t>Continuous Deployment: every passing change ships automatically</a:t>
            </a:r>
            <a:endParaRPr lang="en-US" sz="1550" dirty="0"/>
          </a:p>
          <a:p>
            <a:pPr marL="228600" indent="-228600">
              <a:spcAft>
                <a:spcPts val="1500"/>
              </a:spcAft>
              <a:buSzPct val="100000"/>
              <a:buChar char="▪"/>
            </a:pPr>
            <a:r>
              <a:rPr lang="en-US" sz="1550" dirty="0">
                <a:solidFill>
                  <a:srgbClr val="1E2433"/>
                </a:solidFill>
                <a:latin typeface="Calibri" pitchFamily="34" charset="0"/>
                <a:ea typeface="Calibri" pitchFamily="34" charset="-122"/>
                <a:cs typeface="Calibri" pitchFamily="34" charset="-120"/>
              </a:rPr>
              <a:t>Pipelines automate build, test, and release steps end-to-end</a:t>
            </a:r>
            <a:endParaRPr lang="en-US" sz="1550" dirty="0"/>
          </a:p>
          <a:p>
            <a:pPr marL="228600" indent="-228600">
              <a:spcAft>
                <a:spcPts val="1500"/>
              </a:spcAft>
              <a:buSzPct val="100000"/>
              <a:buChar char="▪"/>
            </a:pPr>
            <a:r>
              <a:rPr lang="en-US" sz="1550" dirty="0">
                <a:solidFill>
                  <a:srgbClr val="1E2433"/>
                </a:solidFill>
                <a:latin typeface="Calibri" pitchFamily="34" charset="0"/>
                <a:ea typeface="Calibri" pitchFamily="34" charset="-122"/>
                <a:cs typeface="Calibri" pitchFamily="34" charset="-120"/>
              </a:rPr>
              <a:t>Example: GitHub Actions and GitLab CI/CD power this automation</a:t>
            </a:r>
            <a:endParaRPr lang="en-US" sz="1550" dirty="0"/>
          </a:p>
        </p:txBody>
      </p:sp>
      <p:sp>
        <p:nvSpPr>
          <p:cNvPr id="28" name="Text 26"/>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29" name="Text 27"/>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OPERATING AT SCALE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Cloud-Native Development</a:t>
            </a:r>
            <a:endParaRPr lang="en-US" sz="3200" dirty="0"/>
          </a:p>
        </p:txBody>
      </p:sp>
      <p:sp>
        <p:nvSpPr>
          <p:cNvPr id="4" name="Text 2"/>
          <p:cNvSpPr/>
          <p:nvPr/>
        </p:nvSpPr>
        <p:spPr>
          <a:xfrm>
            <a:off x="548640" y="1828800"/>
            <a:ext cx="5577840" cy="3840480"/>
          </a:xfrm>
          <a:prstGeom prst="rect">
            <a:avLst/>
          </a:prstGeom>
          <a:noFill/>
          <a:ln/>
        </p:spPr>
        <p:txBody>
          <a:bodyPr wrap="square" lIns="0" tIns="0" rIns="0" bIns="0" rtlCol="0" anchor="t"/>
          <a:lstStyle/>
          <a:p>
            <a:pPr marL="228600" indent="-228600">
              <a:spcAft>
                <a:spcPts val="1800"/>
              </a:spcAft>
              <a:buSzPct val="100000"/>
              <a:buChar char="▪"/>
            </a:pPr>
            <a:r>
              <a:rPr lang="en-US" sz="1450" dirty="0">
                <a:solidFill>
                  <a:srgbClr val="1E2433"/>
                </a:solidFill>
                <a:latin typeface="Calibri" pitchFamily="34" charset="0"/>
                <a:ea typeface="Calibri" pitchFamily="34" charset="-122"/>
                <a:cs typeface="Calibri" pitchFamily="34" charset="-120"/>
              </a:rPr>
              <a:t>Containers package apps for consistent deployment anywhere</a:t>
            </a:r>
            <a:endParaRPr lang="en-US" sz="1450" dirty="0"/>
          </a:p>
          <a:p>
            <a:pPr marL="228600" indent="-228600">
              <a:spcAft>
                <a:spcPts val="1800"/>
              </a:spcAft>
              <a:buSzPct val="100000"/>
              <a:buChar char="▪"/>
            </a:pPr>
            <a:r>
              <a:rPr lang="en-US" sz="1450" dirty="0">
                <a:solidFill>
                  <a:srgbClr val="1E2433"/>
                </a:solidFill>
                <a:latin typeface="Calibri" pitchFamily="34" charset="0"/>
                <a:ea typeface="Calibri" pitchFamily="34" charset="-122"/>
                <a:cs typeface="Calibri" pitchFamily="34" charset="-120"/>
              </a:rPr>
              <a:t>Kubernetes orchestrates containers at massive scale</a:t>
            </a:r>
            <a:endParaRPr lang="en-US" sz="1450" dirty="0"/>
          </a:p>
          <a:p>
            <a:pPr marL="228600" indent="-228600">
              <a:spcAft>
                <a:spcPts val="1800"/>
              </a:spcAft>
              <a:buSzPct val="100000"/>
              <a:buChar char="▪"/>
            </a:pPr>
            <a:r>
              <a:rPr lang="en-US" sz="1450" dirty="0">
                <a:solidFill>
                  <a:srgbClr val="1E2433"/>
                </a:solidFill>
                <a:latin typeface="Calibri" pitchFamily="34" charset="0"/>
                <a:ea typeface="Calibri" pitchFamily="34" charset="-122"/>
                <a:cs typeface="Calibri" pitchFamily="34" charset="-120"/>
              </a:rPr>
              <a:t>Microservices split systems into independent, deployable services</a:t>
            </a:r>
            <a:endParaRPr lang="en-US" sz="1450" dirty="0"/>
          </a:p>
          <a:p>
            <a:pPr marL="228600" indent="-228600">
              <a:spcAft>
                <a:spcPts val="1800"/>
              </a:spcAft>
              <a:buSzPct val="100000"/>
              <a:buChar char="▪"/>
            </a:pPr>
            <a:r>
              <a:rPr lang="en-US" sz="1450" dirty="0">
                <a:solidFill>
                  <a:srgbClr val="1E2433"/>
                </a:solidFill>
                <a:latin typeface="Calibri" pitchFamily="34" charset="0"/>
                <a:ea typeface="Calibri" pitchFamily="34" charset="-122"/>
                <a:cs typeface="Calibri" pitchFamily="34" charset="-120"/>
              </a:rPr>
              <a:t>Cloud infrastructure scales automatically with real demand</a:t>
            </a:r>
            <a:endParaRPr lang="en-US" sz="1450" dirty="0"/>
          </a:p>
          <a:p>
            <a:pPr marL="228600" indent="-228600">
              <a:spcAft>
                <a:spcPts val="1800"/>
              </a:spcAft>
              <a:buSzPct val="100000"/>
              <a:buChar char="▪"/>
            </a:pPr>
            <a:r>
              <a:rPr lang="en-US" sz="1450" dirty="0">
                <a:solidFill>
                  <a:srgbClr val="1E2433"/>
                </a:solidFill>
                <a:latin typeface="Calibri" pitchFamily="34" charset="0"/>
                <a:ea typeface="Calibri" pitchFamily="34" charset="-122"/>
                <a:cs typeface="Calibri" pitchFamily="34" charset="-120"/>
              </a:rPr>
              <a:t>Resilient design tolerates failure without full outages</a:t>
            </a:r>
            <a:endParaRPr lang="en-US" sz="1450" dirty="0"/>
          </a:p>
        </p:txBody>
      </p:sp>
      <p:sp>
        <p:nvSpPr>
          <p:cNvPr id="5" name="Shape 3"/>
          <p:cNvSpPr/>
          <p:nvPr/>
        </p:nvSpPr>
        <p:spPr>
          <a:xfrm>
            <a:off x="6400800" y="1691640"/>
            <a:ext cx="5257800" cy="4434840"/>
          </a:xfrm>
          <a:prstGeom prst="roundRect">
            <a:avLst>
              <a:gd name="adj" fmla="val 2062"/>
            </a:avLst>
          </a:prstGeom>
          <a:solidFill>
            <a:srgbClr val="EAF3F8"/>
          </a:solidFill>
          <a:ln w="19050">
            <a:solidFill>
              <a:srgbClr val="18A0C9"/>
            </a:solidFill>
            <a:prstDash val="dash"/>
          </a:ln>
        </p:spPr>
      </p:sp>
      <p:sp>
        <p:nvSpPr>
          <p:cNvPr id="6" name="Shape 4"/>
          <p:cNvSpPr/>
          <p:nvPr/>
        </p:nvSpPr>
        <p:spPr>
          <a:xfrm>
            <a:off x="6583680" y="1874520"/>
            <a:ext cx="457200" cy="457200"/>
          </a:xfrm>
          <a:prstGeom prst="ellipse">
            <a:avLst/>
          </a:prstGeom>
          <a:solidFill>
            <a:srgbClr val="18A0C9"/>
          </a:solidFill>
          <a:ln/>
        </p:spPr>
      </p:sp>
      <p:pic>
        <p:nvPicPr>
          <p:cNvPr id="7" name="Image 0" descr="/home/claude/mse_deck/icons/cloud.png">    </p:cNvPr>
          <p:cNvPicPr>
            <a:picLocks noChangeAspect="1"/>
          </p:cNvPicPr>
          <p:nvPr/>
        </p:nvPicPr>
        <p:blipFill>
          <a:blip r:embed="rId1"/>
          <a:stretch>
            <a:fillRect/>
          </a:stretch>
        </p:blipFill>
        <p:spPr>
          <a:xfrm>
            <a:off x="6684264" y="1975104"/>
            <a:ext cx="256032" cy="256032"/>
          </a:xfrm>
          <a:prstGeom prst="rect">
            <a:avLst/>
          </a:prstGeom>
        </p:spPr>
      </p:pic>
      <p:sp>
        <p:nvSpPr>
          <p:cNvPr id="8" name="Text 5"/>
          <p:cNvSpPr/>
          <p:nvPr/>
        </p:nvSpPr>
        <p:spPr>
          <a:xfrm>
            <a:off x="7132320" y="1874520"/>
            <a:ext cx="2286000" cy="457200"/>
          </a:xfrm>
          <a:prstGeom prst="rect">
            <a:avLst/>
          </a:prstGeom>
          <a:noFill/>
          <a:ln/>
        </p:spPr>
        <p:txBody>
          <a:bodyPr wrap="square" lIns="0" tIns="0" rIns="0" bIns="0" rtlCol="0" anchor="ctr"/>
          <a:lstStyle/>
          <a:p>
            <a:pPr indent="0" marL="0">
              <a:buNone/>
            </a:pPr>
            <a:r>
              <a:rPr lang="en-US" sz="1300" b="1" spc="100" kern="0" dirty="0">
                <a:solidFill>
                  <a:srgbClr val="121A3C"/>
                </a:solidFill>
                <a:latin typeface="Calibri" pitchFamily="34" charset="0"/>
                <a:ea typeface="Calibri" pitchFamily="34" charset="-122"/>
                <a:cs typeface="Calibri" pitchFamily="34" charset="-120"/>
              </a:rPr>
              <a:t>CLOUD</a:t>
            </a:r>
            <a:endParaRPr lang="en-US" sz="1300" dirty="0"/>
          </a:p>
        </p:txBody>
      </p:sp>
      <p:sp>
        <p:nvSpPr>
          <p:cNvPr id="9" name="Shape 6"/>
          <p:cNvSpPr/>
          <p:nvPr/>
        </p:nvSpPr>
        <p:spPr>
          <a:xfrm>
            <a:off x="6766560" y="2560320"/>
            <a:ext cx="4526280" cy="3246120"/>
          </a:xfrm>
          <a:prstGeom prst="roundRect">
            <a:avLst>
              <a:gd name="adj" fmla="val 2254"/>
            </a:avLst>
          </a:prstGeom>
          <a:solidFill>
            <a:srgbClr val="FFFFFF"/>
          </a:solidFill>
          <a:ln w="19050">
            <a:solidFill>
              <a:srgbClr val="22326B"/>
            </a:solidFill>
            <a:prstDash val="solid"/>
          </a:ln>
        </p:spPr>
      </p:sp>
      <p:sp>
        <p:nvSpPr>
          <p:cNvPr id="10" name="Text 7"/>
          <p:cNvSpPr/>
          <p:nvPr/>
        </p:nvSpPr>
        <p:spPr>
          <a:xfrm>
            <a:off x="6949440" y="2670048"/>
            <a:ext cx="4160520" cy="274320"/>
          </a:xfrm>
          <a:prstGeom prst="rect">
            <a:avLst/>
          </a:prstGeom>
          <a:noFill/>
          <a:ln/>
        </p:spPr>
        <p:txBody>
          <a:bodyPr wrap="square" lIns="0" tIns="0" rIns="0" bIns="0" rtlCol="0" anchor="ctr"/>
          <a:lstStyle/>
          <a:p>
            <a:pPr indent="0" marL="0">
              <a:buNone/>
            </a:pPr>
            <a:r>
              <a:rPr lang="en-US" sz="1050" b="1" spc="100" kern="0" dirty="0">
                <a:solidFill>
                  <a:srgbClr val="22326B"/>
                </a:solidFill>
                <a:latin typeface="Calibri" pitchFamily="34" charset="0"/>
                <a:ea typeface="Calibri" pitchFamily="34" charset="-122"/>
                <a:cs typeface="Calibri" pitchFamily="34" charset="-120"/>
              </a:rPr>
              <a:t>KUBERNETES CLUSTER</a:t>
            </a:r>
            <a:endParaRPr lang="en-US" sz="1050" dirty="0"/>
          </a:p>
        </p:txBody>
      </p:sp>
      <p:sp>
        <p:nvSpPr>
          <p:cNvPr id="11" name="Shape 8"/>
          <p:cNvSpPr/>
          <p:nvPr/>
        </p:nvSpPr>
        <p:spPr>
          <a:xfrm>
            <a:off x="9029700" y="3177540"/>
            <a:ext cx="1087058" cy="789794"/>
          </a:xfrm>
          <a:prstGeom prst="line">
            <a:avLst/>
          </a:prstGeom>
          <a:noFill/>
          <a:ln w="19050">
            <a:solidFill>
              <a:srgbClr val="B9C4D6"/>
            </a:solidFill>
            <a:prstDash val="solid"/>
          </a:ln>
        </p:spPr>
      </p:sp>
      <p:sp>
        <p:nvSpPr>
          <p:cNvPr id="12" name="Shape 9"/>
          <p:cNvSpPr/>
          <p:nvPr/>
        </p:nvSpPr>
        <p:spPr>
          <a:xfrm flipH="1">
            <a:off x="9701539" y="3967334"/>
            <a:ext cx="415219" cy="1277913"/>
          </a:xfrm>
          <a:prstGeom prst="line">
            <a:avLst/>
          </a:prstGeom>
          <a:noFill/>
          <a:ln w="19050">
            <a:solidFill>
              <a:srgbClr val="B9C4D6"/>
            </a:solidFill>
            <a:prstDash val="solid"/>
          </a:ln>
        </p:spPr>
      </p:sp>
      <p:sp>
        <p:nvSpPr>
          <p:cNvPr id="13" name="Shape 10"/>
          <p:cNvSpPr/>
          <p:nvPr/>
        </p:nvSpPr>
        <p:spPr>
          <a:xfrm flipH="1">
            <a:off x="8357861" y="5245246"/>
            <a:ext cx="1343677" cy="0"/>
          </a:xfrm>
          <a:prstGeom prst="line">
            <a:avLst/>
          </a:prstGeom>
          <a:noFill/>
          <a:ln w="19050">
            <a:solidFill>
              <a:srgbClr val="B9C4D6"/>
            </a:solidFill>
            <a:prstDash val="solid"/>
          </a:ln>
        </p:spPr>
      </p:sp>
      <p:sp>
        <p:nvSpPr>
          <p:cNvPr id="14" name="Shape 11"/>
          <p:cNvSpPr/>
          <p:nvPr/>
        </p:nvSpPr>
        <p:spPr>
          <a:xfrm flipH="1" flipV="1">
            <a:off x="7942642" y="3967334"/>
            <a:ext cx="415219" cy="1277913"/>
          </a:xfrm>
          <a:prstGeom prst="line">
            <a:avLst/>
          </a:prstGeom>
          <a:noFill/>
          <a:ln w="19050">
            <a:solidFill>
              <a:srgbClr val="B9C4D6"/>
            </a:solidFill>
            <a:prstDash val="solid"/>
          </a:ln>
        </p:spPr>
      </p:sp>
      <p:sp>
        <p:nvSpPr>
          <p:cNvPr id="15" name="Shape 12"/>
          <p:cNvSpPr/>
          <p:nvPr/>
        </p:nvSpPr>
        <p:spPr>
          <a:xfrm flipV="1">
            <a:off x="7942642" y="3177540"/>
            <a:ext cx="1087058" cy="789794"/>
          </a:xfrm>
          <a:prstGeom prst="line">
            <a:avLst/>
          </a:prstGeom>
          <a:noFill/>
          <a:ln w="19050">
            <a:solidFill>
              <a:srgbClr val="B9C4D6"/>
            </a:solidFill>
            <a:prstDash val="solid"/>
          </a:ln>
        </p:spPr>
      </p:sp>
      <p:sp>
        <p:nvSpPr>
          <p:cNvPr id="16" name="Shape 13"/>
          <p:cNvSpPr/>
          <p:nvPr/>
        </p:nvSpPr>
        <p:spPr>
          <a:xfrm>
            <a:off x="8782812" y="2930652"/>
            <a:ext cx="493776" cy="493776"/>
          </a:xfrm>
          <a:prstGeom prst="ellipse">
            <a:avLst/>
          </a:prstGeom>
          <a:solidFill>
            <a:srgbClr val="18A0C9"/>
          </a:solidFill>
          <a:ln/>
        </p:spPr>
      </p:sp>
      <p:pic>
        <p:nvPicPr>
          <p:cNvPr id="17" name="Image 1" descr="/home/claude/mse_deck/icons/cube.png">    </p:cNvPr>
          <p:cNvPicPr>
            <a:picLocks noChangeAspect="1"/>
          </p:cNvPicPr>
          <p:nvPr/>
        </p:nvPicPr>
        <p:blipFill>
          <a:blip r:embed="rId2"/>
          <a:stretch>
            <a:fillRect/>
          </a:stretch>
        </p:blipFill>
        <p:spPr>
          <a:xfrm>
            <a:off x="8891443" y="3039283"/>
            <a:ext cx="276515" cy="276515"/>
          </a:xfrm>
          <a:prstGeom prst="rect">
            <a:avLst/>
          </a:prstGeom>
        </p:spPr>
      </p:pic>
      <p:sp>
        <p:nvSpPr>
          <p:cNvPr id="18" name="Shape 14"/>
          <p:cNvSpPr/>
          <p:nvPr/>
        </p:nvSpPr>
        <p:spPr>
          <a:xfrm>
            <a:off x="9869870" y="3720446"/>
            <a:ext cx="493776" cy="493776"/>
          </a:xfrm>
          <a:prstGeom prst="ellipse">
            <a:avLst/>
          </a:prstGeom>
          <a:solidFill>
            <a:srgbClr val="18A0C9"/>
          </a:solidFill>
          <a:ln/>
        </p:spPr>
      </p:sp>
      <p:pic>
        <p:nvPicPr>
          <p:cNvPr id="19" name="Image 2" descr="/home/claude/mse_deck/icons/cube.png">    </p:cNvPr>
          <p:cNvPicPr>
            <a:picLocks noChangeAspect="1"/>
          </p:cNvPicPr>
          <p:nvPr/>
        </p:nvPicPr>
        <p:blipFill>
          <a:blip r:embed="rId3"/>
          <a:stretch>
            <a:fillRect/>
          </a:stretch>
        </p:blipFill>
        <p:spPr>
          <a:xfrm>
            <a:off x="9978500" y="3829076"/>
            <a:ext cx="276515" cy="276515"/>
          </a:xfrm>
          <a:prstGeom prst="rect">
            <a:avLst/>
          </a:prstGeom>
        </p:spPr>
      </p:pic>
      <p:sp>
        <p:nvSpPr>
          <p:cNvPr id="20" name="Shape 15"/>
          <p:cNvSpPr/>
          <p:nvPr/>
        </p:nvSpPr>
        <p:spPr>
          <a:xfrm>
            <a:off x="9454651" y="4998358"/>
            <a:ext cx="493776" cy="493776"/>
          </a:xfrm>
          <a:prstGeom prst="ellipse">
            <a:avLst/>
          </a:prstGeom>
          <a:solidFill>
            <a:srgbClr val="18A0C9"/>
          </a:solidFill>
          <a:ln/>
        </p:spPr>
      </p:sp>
      <p:pic>
        <p:nvPicPr>
          <p:cNvPr id="21" name="Image 3" descr="/home/claude/mse_deck/icons/cube.png">    </p:cNvPr>
          <p:cNvPicPr>
            <a:picLocks noChangeAspect="1"/>
          </p:cNvPicPr>
          <p:nvPr/>
        </p:nvPicPr>
        <p:blipFill>
          <a:blip r:embed="rId4"/>
          <a:stretch>
            <a:fillRect/>
          </a:stretch>
        </p:blipFill>
        <p:spPr>
          <a:xfrm>
            <a:off x="9563281" y="5106989"/>
            <a:ext cx="276515" cy="276515"/>
          </a:xfrm>
          <a:prstGeom prst="rect">
            <a:avLst/>
          </a:prstGeom>
        </p:spPr>
      </p:pic>
      <p:sp>
        <p:nvSpPr>
          <p:cNvPr id="22" name="Shape 16"/>
          <p:cNvSpPr/>
          <p:nvPr/>
        </p:nvSpPr>
        <p:spPr>
          <a:xfrm>
            <a:off x="8110973" y="4998358"/>
            <a:ext cx="493776" cy="493776"/>
          </a:xfrm>
          <a:prstGeom prst="ellipse">
            <a:avLst/>
          </a:prstGeom>
          <a:solidFill>
            <a:srgbClr val="18A0C9"/>
          </a:solidFill>
          <a:ln/>
        </p:spPr>
      </p:sp>
      <p:pic>
        <p:nvPicPr>
          <p:cNvPr id="23" name="Image 4" descr="/home/claude/mse_deck/icons/cube.png">    </p:cNvPr>
          <p:cNvPicPr>
            <a:picLocks noChangeAspect="1"/>
          </p:cNvPicPr>
          <p:nvPr/>
        </p:nvPicPr>
        <p:blipFill>
          <a:blip r:embed="rId5"/>
          <a:stretch>
            <a:fillRect/>
          </a:stretch>
        </p:blipFill>
        <p:spPr>
          <a:xfrm>
            <a:off x="8219604" y="5106989"/>
            <a:ext cx="276515" cy="276515"/>
          </a:xfrm>
          <a:prstGeom prst="rect">
            <a:avLst/>
          </a:prstGeom>
        </p:spPr>
      </p:pic>
      <p:sp>
        <p:nvSpPr>
          <p:cNvPr id="24" name="Shape 17"/>
          <p:cNvSpPr/>
          <p:nvPr/>
        </p:nvSpPr>
        <p:spPr>
          <a:xfrm>
            <a:off x="7695754" y="3720446"/>
            <a:ext cx="493776" cy="493776"/>
          </a:xfrm>
          <a:prstGeom prst="ellipse">
            <a:avLst/>
          </a:prstGeom>
          <a:solidFill>
            <a:srgbClr val="18A0C9"/>
          </a:solidFill>
          <a:ln/>
        </p:spPr>
      </p:sp>
      <p:pic>
        <p:nvPicPr>
          <p:cNvPr id="25" name="Image 5" descr="/home/claude/mse_deck/icons/cube.png">    </p:cNvPr>
          <p:cNvPicPr>
            <a:picLocks noChangeAspect="1"/>
          </p:cNvPicPr>
          <p:nvPr/>
        </p:nvPicPr>
        <p:blipFill>
          <a:blip r:embed="rId6"/>
          <a:stretch>
            <a:fillRect/>
          </a:stretch>
        </p:blipFill>
        <p:spPr>
          <a:xfrm>
            <a:off x="7804385" y="3829076"/>
            <a:ext cx="276515" cy="276515"/>
          </a:xfrm>
          <a:prstGeom prst="rect">
            <a:avLst/>
          </a:prstGeom>
        </p:spPr>
      </p:pic>
      <p:sp>
        <p:nvSpPr>
          <p:cNvPr id="26" name="Text 18"/>
          <p:cNvSpPr/>
          <p:nvPr/>
        </p:nvSpPr>
        <p:spPr>
          <a:xfrm>
            <a:off x="6583680" y="6236208"/>
            <a:ext cx="4892040" cy="365760"/>
          </a:xfrm>
          <a:prstGeom prst="rect">
            <a:avLst/>
          </a:prstGeom>
          <a:noFill/>
          <a:ln/>
        </p:spPr>
        <p:txBody>
          <a:bodyPr wrap="square" lIns="0" tIns="0" rIns="0" bIns="0" rtlCol="0" anchor="ctr"/>
          <a:lstStyle/>
          <a:p>
            <a:pPr algn="ctr" indent="0" marL="0">
              <a:buNone/>
            </a:pPr>
            <a:r>
              <a:rPr lang="en-US" sz="1100" i="1" dirty="0">
                <a:solidFill>
                  <a:srgbClr val="5B6478"/>
                </a:solidFill>
                <a:latin typeface="Calibri" pitchFamily="34" charset="0"/>
                <a:ea typeface="Calibri" pitchFamily="34" charset="-122"/>
                <a:cs typeface="Calibri" pitchFamily="34" charset="-120"/>
              </a:rPr>
              <a:t>Example: Google Cloud and AWS host clusters like this at global scale.</a:t>
            </a:r>
            <a:endParaRPr lang="en-US" sz="1100" dirty="0"/>
          </a:p>
        </p:txBody>
      </p:sp>
      <p:sp>
        <p:nvSpPr>
          <p:cNvPr id="27" name="Text 19"/>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28" name="Text 20"/>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THE AI ERA</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AI-Assisted Development</a:t>
            </a:r>
            <a:endParaRPr lang="en-US" sz="3200" dirty="0"/>
          </a:p>
        </p:txBody>
      </p:sp>
      <p:sp>
        <p:nvSpPr>
          <p:cNvPr id="4" name="Shape 2"/>
          <p:cNvSpPr/>
          <p:nvPr/>
        </p:nvSpPr>
        <p:spPr>
          <a:xfrm>
            <a:off x="548640" y="1783080"/>
            <a:ext cx="2057400" cy="3246120"/>
          </a:xfrm>
          <a:prstGeom prst="roundRect">
            <a:avLst>
              <a:gd name="adj" fmla="val 3111"/>
            </a:avLst>
          </a:prstGeom>
          <a:solidFill>
            <a:srgbClr val="FFFFFF"/>
          </a:solidFill>
          <a:ln w="12700">
            <a:solidFill>
              <a:srgbClr val="DCE3EE"/>
            </a:solidFill>
            <a:prstDash val="solid"/>
          </a:ln>
        </p:spPr>
      </p:sp>
      <p:sp>
        <p:nvSpPr>
          <p:cNvPr id="5" name="Shape 3"/>
          <p:cNvSpPr/>
          <p:nvPr/>
        </p:nvSpPr>
        <p:spPr>
          <a:xfrm>
            <a:off x="1284732" y="2057400"/>
            <a:ext cx="585216" cy="585216"/>
          </a:xfrm>
          <a:prstGeom prst="ellipse">
            <a:avLst/>
          </a:prstGeom>
          <a:solidFill>
            <a:srgbClr val="22326B"/>
          </a:solidFill>
          <a:ln/>
        </p:spPr>
      </p:sp>
      <p:pic>
        <p:nvPicPr>
          <p:cNvPr id="6" name="Image 0" descr="/home/claude/mse_deck/icons/robot.png">    </p:cNvPr>
          <p:cNvPicPr>
            <a:picLocks noChangeAspect="1"/>
          </p:cNvPicPr>
          <p:nvPr/>
        </p:nvPicPr>
        <p:blipFill>
          <a:blip r:embed="rId1"/>
          <a:stretch>
            <a:fillRect/>
          </a:stretch>
        </p:blipFill>
        <p:spPr>
          <a:xfrm>
            <a:off x="1413480" y="2186148"/>
            <a:ext cx="327721" cy="327721"/>
          </a:xfrm>
          <a:prstGeom prst="rect">
            <a:avLst/>
          </a:prstGeom>
        </p:spPr>
      </p:pic>
      <p:sp>
        <p:nvSpPr>
          <p:cNvPr id="7" name="Text 4"/>
          <p:cNvSpPr/>
          <p:nvPr/>
        </p:nvSpPr>
        <p:spPr>
          <a:xfrm>
            <a:off x="640080" y="2862072"/>
            <a:ext cx="1874520" cy="640080"/>
          </a:xfrm>
          <a:prstGeom prst="rect">
            <a:avLst/>
          </a:prstGeom>
          <a:noFill/>
          <a:ln/>
        </p:spPr>
        <p:txBody>
          <a:bodyPr wrap="square" lIns="0" tIns="0" rIns="0" bIns="0" rtlCol="0" anchor="t"/>
          <a:lstStyle/>
          <a:p>
            <a:pPr algn="ctr" indent="0" marL="0">
              <a:lnSpc>
                <a:spcPct val="105000"/>
              </a:lnSpc>
              <a:buNone/>
            </a:pPr>
            <a:r>
              <a:rPr lang="en-US" sz="1300" b="1" dirty="0">
                <a:solidFill>
                  <a:srgbClr val="121A3C"/>
                </a:solidFill>
                <a:latin typeface="Calibri" pitchFamily="34" charset="0"/>
                <a:ea typeface="Calibri" pitchFamily="34" charset="-122"/>
                <a:cs typeface="Calibri" pitchFamily="34" charset="-120"/>
              </a:rPr>
              <a:t>Coding Assistants</a:t>
            </a:r>
            <a:endParaRPr lang="en-US" sz="1300" dirty="0"/>
          </a:p>
        </p:txBody>
      </p:sp>
      <p:sp>
        <p:nvSpPr>
          <p:cNvPr id="8" name="Text 5"/>
          <p:cNvSpPr/>
          <p:nvPr/>
        </p:nvSpPr>
        <p:spPr>
          <a:xfrm>
            <a:off x="694944" y="3520440"/>
            <a:ext cx="1764792" cy="1371600"/>
          </a:xfrm>
          <a:prstGeom prst="rect">
            <a:avLst/>
          </a:prstGeom>
          <a:noFill/>
          <a:ln/>
        </p:spPr>
        <p:txBody>
          <a:bodyPr wrap="square" lIns="0" tIns="0" rIns="0" bIns="0" rtlCol="0" anchor="t"/>
          <a:lstStyle/>
          <a:p>
            <a:pPr algn="ctr" indent="0" marL="0">
              <a:lnSpc>
                <a:spcPct val="120000"/>
              </a:lnSpc>
              <a:buNone/>
            </a:pPr>
            <a:r>
              <a:rPr lang="en-US" sz="1100" dirty="0">
                <a:solidFill>
                  <a:srgbClr val="5B6478"/>
                </a:solidFill>
                <a:latin typeface="Calibri" pitchFamily="34" charset="0"/>
                <a:ea typeface="Calibri" pitchFamily="34" charset="-122"/>
                <a:cs typeface="Calibri" pitchFamily="34" charset="-120"/>
              </a:rPr>
              <a:t>Suggest and complete code in real time.</a:t>
            </a:r>
            <a:endParaRPr lang="en-US" sz="1100" dirty="0"/>
          </a:p>
        </p:txBody>
      </p:sp>
      <p:sp>
        <p:nvSpPr>
          <p:cNvPr id="9" name="Shape 6"/>
          <p:cNvSpPr/>
          <p:nvPr/>
        </p:nvSpPr>
        <p:spPr>
          <a:xfrm>
            <a:off x="2807208" y="1783080"/>
            <a:ext cx="2057400" cy="3246120"/>
          </a:xfrm>
          <a:prstGeom prst="roundRect">
            <a:avLst>
              <a:gd name="adj" fmla="val 3111"/>
            </a:avLst>
          </a:prstGeom>
          <a:solidFill>
            <a:srgbClr val="FFFFFF"/>
          </a:solidFill>
          <a:ln w="12700">
            <a:solidFill>
              <a:srgbClr val="DCE3EE"/>
            </a:solidFill>
            <a:prstDash val="solid"/>
          </a:ln>
        </p:spPr>
      </p:sp>
      <p:sp>
        <p:nvSpPr>
          <p:cNvPr id="10" name="Shape 7"/>
          <p:cNvSpPr/>
          <p:nvPr/>
        </p:nvSpPr>
        <p:spPr>
          <a:xfrm>
            <a:off x="3543300" y="2057400"/>
            <a:ext cx="585216" cy="585216"/>
          </a:xfrm>
          <a:prstGeom prst="ellipse">
            <a:avLst/>
          </a:prstGeom>
          <a:solidFill>
            <a:srgbClr val="22326B"/>
          </a:solidFill>
          <a:ln/>
        </p:spPr>
      </p:sp>
      <p:pic>
        <p:nvPicPr>
          <p:cNvPr id="11" name="Image 1" descr="/home/claude/mse_deck/icons/bug.png">    </p:cNvPr>
          <p:cNvPicPr>
            <a:picLocks noChangeAspect="1"/>
          </p:cNvPicPr>
          <p:nvPr/>
        </p:nvPicPr>
        <p:blipFill>
          <a:blip r:embed="rId2"/>
          <a:stretch>
            <a:fillRect/>
          </a:stretch>
        </p:blipFill>
        <p:spPr>
          <a:xfrm>
            <a:off x="3672048" y="2186148"/>
            <a:ext cx="327721" cy="327721"/>
          </a:xfrm>
          <a:prstGeom prst="rect">
            <a:avLst/>
          </a:prstGeom>
        </p:spPr>
      </p:pic>
      <p:sp>
        <p:nvSpPr>
          <p:cNvPr id="12" name="Text 8"/>
          <p:cNvSpPr/>
          <p:nvPr/>
        </p:nvSpPr>
        <p:spPr>
          <a:xfrm>
            <a:off x="2898648" y="2862072"/>
            <a:ext cx="1874520" cy="640080"/>
          </a:xfrm>
          <a:prstGeom prst="rect">
            <a:avLst/>
          </a:prstGeom>
          <a:noFill/>
          <a:ln/>
        </p:spPr>
        <p:txBody>
          <a:bodyPr wrap="square" lIns="0" tIns="0" rIns="0" bIns="0" rtlCol="0" anchor="t"/>
          <a:lstStyle/>
          <a:p>
            <a:pPr algn="ctr" indent="0" marL="0">
              <a:lnSpc>
                <a:spcPct val="105000"/>
              </a:lnSpc>
              <a:buNone/>
            </a:pPr>
            <a:r>
              <a:rPr lang="en-US" sz="1300" b="1" dirty="0">
                <a:solidFill>
                  <a:srgbClr val="121A3C"/>
                </a:solidFill>
                <a:latin typeface="Calibri" pitchFamily="34" charset="0"/>
                <a:ea typeface="Calibri" pitchFamily="34" charset="-122"/>
                <a:cs typeface="Calibri" pitchFamily="34" charset="-120"/>
              </a:rPr>
              <a:t>Code Review</a:t>
            </a:r>
            <a:endParaRPr lang="en-US" sz="1300" dirty="0"/>
          </a:p>
        </p:txBody>
      </p:sp>
      <p:sp>
        <p:nvSpPr>
          <p:cNvPr id="13" name="Text 9"/>
          <p:cNvSpPr/>
          <p:nvPr/>
        </p:nvSpPr>
        <p:spPr>
          <a:xfrm>
            <a:off x="2953512" y="3520440"/>
            <a:ext cx="1764792" cy="1371600"/>
          </a:xfrm>
          <a:prstGeom prst="rect">
            <a:avLst/>
          </a:prstGeom>
          <a:noFill/>
          <a:ln/>
        </p:spPr>
        <p:txBody>
          <a:bodyPr wrap="square" lIns="0" tIns="0" rIns="0" bIns="0" rtlCol="0" anchor="t"/>
          <a:lstStyle/>
          <a:p>
            <a:pPr algn="ctr" indent="0" marL="0">
              <a:lnSpc>
                <a:spcPct val="120000"/>
              </a:lnSpc>
              <a:buNone/>
            </a:pPr>
            <a:r>
              <a:rPr lang="en-US" sz="1100" dirty="0">
                <a:solidFill>
                  <a:srgbClr val="5B6478"/>
                </a:solidFill>
                <a:latin typeface="Calibri" pitchFamily="34" charset="0"/>
                <a:ea typeface="Calibri" pitchFamily="34" charset="-122"/>
                <a:cs typeface="Calibri" pitchFamily="34" charset="-120"/>
              </a:rPr>
              <a:t>AI flags bugs and style issues automatically.</a:t>
            </a:r>
            <a:endParaRPr lang="en-US" sz="1100" dirty="0"/>
          </a:p>
        </p:txBody>
      </p:sp>
      <p:sp>
        <p:nvSpPr>
          <p:cNvPr id="14" name="Shape 10"/>
          <p:cNvSpPr/>
          <p:nvPr/>
        </p:nvSpPr>
        <p:spPr>
          <a:xfrm>
            <a:off x="5065776" y="1783080"/>
            <a:ext cx="2057400" cy="3246120"/>
          </a:xfrm>
          <a:prstGeom prst="roundRect">
            <a:avLst>
              <a:gd name="adj" fmla="val 3111"/>
            </a:avLst>
          </a:prstGeom>
          <a:solidFill>
            <a:srgbClr val="FFFFFF"/>
          </a:solidFill>
          <a:ln w="12700">
            <a:solidFill>
              <a:srgbClr val="DCE3EE"/>
            </a:solidFill>
            <a:prstDash val="solid"/>
          </a:ln>
        </p:spPr>
      </p:sp>
      <p:sp>
        <p:nvSpPr>
          <p:cNvPr id="15" name="Shape 11"/>
          <p:cNvSpPr/>
          <p:nvPr/>
        </p:nvSpPr>
        <p:spPr>
          <a:xfrm>
            <a:off x="5801868" y="2057400"/>
            <a:ext cx="585216" cy="585216"/>
          </a:xfrm>
          <a:prstGeom prst="ellipse">
            <a:avLst/>
          </a:prstGeom>
          <a:solidFill>
            <a:srgbClr val="22326B"/>
          </a:solidFill>
          <a:ln/>
        </p:spPr>
      </p:sp>
      <p:pic>
        <p:nvPicPr>
          <p:cNvPr id="16" name="Image 2" descr="/home/claude/mse_deck/icons/file.png">    </p:cNvPr>
          <p:cNvPicPr>
            <a:picLocks noChangeAspect="1"/>
          </p:cNvPicPr>
          <p:nvPr/>
        </p:nvPicPr>
        <p:blipFill>
          <a:blip r:embed="rId3"/>
          <a:stretch>
            <a:fillRect/>
          </a:stretch>
        </p:blipFill>
        <p:spPr>
          <a:xfrm>
            <a:off x="5930616" y="2186148"/>
            <a:ext cx="327721" cy="327721"/>
          </a:xfrm>
          <a:prstGeom prst="rect">
            <a:avLst/>
          </a:prstGeom>
        </p:spPr>
      </p:pic>
      <p:sp>
        <p:nvSpPr>
          <p:cNvPr id="17" name="Text 12"/>
          <p:cNvSpPr/>
          <p:nvPr/>
        </p:nvSpPr>
        <p:spPr>
          <a:xfrm>
            <a:off x="5157216" y="2862072"/>
            <a:ext cx="1874520" cy="640080"/>
          </a:xfrm>
          <a:prstGeom prst="rect">
            <a:avLst/>
          </a:prstGeom>
          <a:noFill/>
          <a:ln/>
        </p:spPr>
        <p:txBody>
          <a:bodyPr wrap="square" lIns="0" tIns="0" rIns="0" bIns="0" rtlCol="0" anchor="t"/>
          <a:lstStyle/>
          <a:p>
            <a:pPr algn="ctr" indent="0" marL="0">
              <a:lnSpc>
                <a:spcPct val="105000"/>
              </a:lnSpc>
              <a:buNone/>
            </a:pPr>
            <a:r>
              <a:rPr lang="en-US" sz="1300" b="1" dirty="0">
                <a:solidFill>
                  <a:srgbClr val="121A3C"/>
                </a:solidFill>
                <a:latin typeface="Calibri" pitchFamily="34" charset="0"/>
                <a:ea typeface="Calibri" pitchFamily="34" charset="-122"/>
                <a:cs typeface="Calibri" pitchFamily="34" charset="-120"/>
              </a:rPr>
              <a:t>Documentation</a:t>
            </a:r>
            <a:endParaRPr lang="en-US" sz="1300" dirty="0"/>
          </a:p>
        </p:txBody>
      </p:sp>
      <p:sp>
        <p:nvSpPr>
          <p:cNvPr id="18" name="Text 13"/>
          <p:cNvSpPr/>
          <p:nvPr/>
        </p:nvSpPr>
        <p:spPr>
          <a:xfrm>
            <a:off x="5212080" y="3520440"/>
            <a:ext cx="1764792" cy="1371600"/>
          </a:xfrm>
          <a:prstGeom prst="rect">
            <a:avLst/>
          </a:prstGeom>
          <a:noFill/>
          <a:ln/>
        </p:spPr>
        <p:txBody>
          <a:bodyPr wrap="square" lIns="0" tIns="0" rIns="0" bIns="0" rtlCol="0" anchor="t"/>
          <a:lstStyle/>
          <a:p>
            <a:pPr algn="ctr" indent="0" marL="0">
              <a:lnSpc>
                <a:spcPct val="120000"/>
              </a:lnSpc>
              <a:buNone/>
            </a:pPr>
            <a:r>
              <a:rPr lang="en-US" sz="1100" dirty="0">
                <a:solidFill>
                  <a:srgbClr val="5B6478"/>
                </a:solidFill>
                <a:latin typeface="Calibri" pitchFamily="34" charset="0"/>
                <a:ea typeface="Calibri" pitchFamily="34" charset="-122"/>
                <a:cs typeface="Calibri" pitchFamily="34" charset="-120"/>
              </a:rPr>
              <a:t>AI drafts docs and explains complex code.</a:t>
            </a:r>
            <a:endParaRPr lang="en-US" sz="1100" dirty="0"/>
          </a:p>
        </p:txBody>
      </p:sp>
      <p:sp>
        <p:nvSpPr>
          <p:cNvPr id="19" name="Shape 14"/>
          <p:cNvSpPr/>
          <p:nvPr/>
        </p:nvSpPr>
        <p:spPr>
          <a:xfrm>
            <a:off x="7324344" y="1783080"/>
            <a:ext cx="2057400" cy="3246120"/>
          </a:xfrm>
          <a:prstGeom prst="roundRect">
            <a:avLst>
              <a:gd name="adj" fmla="val 3111"/>
            </a:avLst>
          </a:prstGeom>
          <a:solidFill>
            <a:srgbClr val="FFFFFF"/>
          </a:solidFill>
          <a:ln w="12700">
            <a:solidFill>
              <a:srgbClr val="DCE3EE"/>
            </a:solidFill>
            <a:prstDash val="solid"/>
          </a:ln>
        </p:spPr>
      </p:sp>
      <p:sp>
        <p:nvSpPr>
          <p:cNvPr id="20" name="Shape 15"/>
          <p:cNvSpPr/>
          <p:nvPr/>
        </p:nvSpPr>
        <p:spPr>
          <a:xfrm>
            <a:off x="8060436" y="2057400"/>
            <a:ext cx="585216" cy="585216"/>
          </a:xfrm>
          <a:prstGeom prst="ellipse">
            <a:avLst/>
          </a:prstGeom>
          <a:solidFill>
            <a:srgbClr val="22326B"/>
          </a:solidFill>
          <a:ln/>
        </p:spPr>
      </p:sp>
      <p:pic>
        <p:nvPicPr>
          <p:cNvPr id="21" name="Image 3" descr="/home/claude/mse_deck/icons/vial.png">    </p:cNvPr>
          <p:cNvPicPr>
            <a:picLocks noChangeAspect="1"/>
          </p:cNvPicPr>
          <p:nvPr/>
        </p:nvPicPr>
        <p:blipFill>
          <a:blip r:embed="rId4"/>
          <a:stretch>
            <a:fillRect/>
          </a:stretch>
        </p:blipFill>
        <p:spPr>
          <a:xfrm>
            <a:off x="8189184" y="2186148"/>
            <a:ext cx="327721" cy="327721"/>
          </a:xfrm>
          <a:prstGeom prst="rect">
            <a:avLst/>
          </a:prstGeom>
        </p:spPr>
      </p:pic>
      <p:sp>
        <p:nvSpPr>
          <p:cNvPr id="22" name="Text 16"/>
          <p:cNvSpPr/>
          <p:nvPr/>
        </p:nvSpPr>
        <p:spPr>
          <a:xfrm>
            <a:off x="7415784" y="2862072"/>
            <a:ext cx="1874520" cy="640080"/>
          </a:xfrm>
          <a:prstGeom prst="rect">
            <a:avLst/>
          </a:prstGeom>
          <a:noFill/>
          <a:ln/>
        </p:spPr>
        <p:txBody>
          <a:bodyPr wrap="square" lIns="0" tIns="0" rIns="0" bIns="0" rtlCol="0" anchor="t"/>
          <a:lstStyle/>
          <a:p>
            <a:pPr algn="ctr" indent="0" marL="0">
              <a:lnSpc>
                <a:spcPct val="105000"/>
              </a:lnSpc>
              <a:buNone/>
            </a:pPr>
            <a:r>
              <a:rPr lang="en-US" sz="1300" b="1" dirty="0">
                <a:solidFill>
                  <a:srgbClr val="121A3C"/>
                </a:solidFill>
                <a:latin typeface="Calibri" pitchFamily="34" charset="0"/>
                <a:ea typeface="Calibri" pitchFamily="34" charset="-122"/>
                <a:cs typeface="Calibri" pitchFamily="34" charset="-120"/>
              </a:rPr>
              <a:t>Testing</a:t>
            </a:r>
            <a:endParaRPr lang="en-US" sz="1300" dirty="0"/>
          </a:p>
        </p:txBody>
      </p:sp>
      <p:sp>
        <p:nvSpPr>
          <p:cNvPr id="23" name="Text 17"/>
          <p:cNvSpPr/>
          <p:nvPr/>
        </p:nvSpPr>
        <p:spPr>
          <a:xfrm>
            <a:off x="7470648" y="3520440"/>
            <a:ext cx="1764792" cy="1371600"/>
          </a:xfrm>
          <a:prstGeom prst="rect">
            <a:avLst/>
          </a:prstGeom>
          <a:noFill/>
          <a:ln/>
        </p:spPr>
        <p:txBody>
          <a:bodyPr wrap="square" lIns="0" tIns="0" rIns="0" bIns="0" rtlCol="0" anchor="t"/>
          <a:lstStyle/>
          <a:p>
            <a:pPr algn="ctr" indent="0" marL="0">
              <a:lnSpc>
                <a:spcPct val="120000"/>
              </a:lnSpc>
              <a:buNone/>
            </a:pPr>
            <a:r>
              <a:rPr lang="en-US" sz="1100" dirty="0">
                <a:solidFill>
                  <a:srgbClr val="5B6478"/>
                </a:solidFill>
                <a:latin typeface="Calibri" pitchFamily="34" charset="0"/>
                <a:ea typeface="Calibri" pitchFamily="34" charset="-122"/>
                <a:cs typeface="Calibri" pitchFamily="34" charset="-120"/>
              </a:rPr>
              <a:t>AI generates and prioritizes test cases.</a:t>
            </a:r>
            <a:endParaRPr lang="en-US" sz="1100" dirty="0"/>
          </a:p>
        </p:txBody>
      </p:sp>
      <p:sp>
        <p:nvSpPr>
          <p:cNvPr id="24" name="Shape 18"/>
          <p:cNvSpPr/>
          <p:nvPr/>
        </p:nvSpPr>
        <p:spPr>
          <a:xfrm>
            <a:off x="9582912" y="1783080"/>
            <a:ext cx="2057400" cy="3246120"/>
          </a:xfrm>
          <a:prstGeom prst="roundRect">
            <a:avLst>
              <a:gd name="adj" fmla="val 3111"/>
            </a:avLst>
          </a:prstGeom>
          <a:solidFill>
            <a:srgbClr val="FFFFFF"/>
          </a:solidFill>
          <a:ln w="12700">
            <a:solidFill>
              <a:srgbClr val="DCE3EE"/>
            </a:solidFill>
            <a:prstDash val="solid"/>
          </a:ln>
        </p:spPr>
      </p:sp>
      <p:sp>
        <p:nvSpPr>
          <p:cNvPr id="25" name="Shape 19"/>
          <p:cNvSpPr/>
          <p:nvPr/>
        </p:nvSpPr>
        <p:spPr>
          <a:xfrm>
            <a:off x="10319004" y="2057400"/>
            <a:ext cx="585216" cy="585216"/>
          </a:xfrm>
          <a:prstGeom prst="ellipse">
            <a:avLst/>
          </a:prstGeom>
          <a:solidFill>
            <a:srgbClr val="FF7A45"/>
          </a:solidFill>
          <a:ln/>
        </p:spPr>
      </p:sp>
      <p:pic>
        <p:nvPicPr>
          <p:cNvPr id="26" name="Image 4" descr="/home/claude/mse_deck/icons/search.png">    </p:cNvPr>
          <p:cNvPicPr>
            <a:picLocks noChangeAspect="1"/>
          </p:cNvPicPr>
          <p:nvPr/>
        </p:nvPicPr>
        <p:blipFill>
          <a:blip r:embed="rId5"/>
          <a:stretch>
            <a:fillRect/>
          </a:stretch>
        </p:blipFill>
        <p:spPr>
          <a:xfrm>
            <a:off x="10447752" y="2186148"/>
            <a:ext cx="327721" cy="327721"/>
          </a:xfrm>
          <a:prstGeom prst="rect">
            <a:avLst/>
          </a:prstGeom>
        </p:spPr>
      </p:pic>
      <p:sp>
        <p:nvSpPr>
          <p:cNvPr id="27" name="Text 20"/>
          <p:cNvSpPr/>
          <p:nvPr/>
        </p:nvSpPr>
        <p:spPr>
          <a:xfrm>
            <a:off x="9674352" y="2862072"/>
            <a:ext cx="1874520" cy="640080"/>
          </a:xfrm>
          <a:prstGeom prst="rect">
            <a:avLst/>
          </a:prstGeom>
          <a:noFill/>
          <a:ln/>
        </p:spPr>
        <p:txBody>
          <a:bodyPr wrap="square" lIns="0" tIns="0" rIns="0" bIns="0" rtlCol="0" anchor="t"/>
          <a:lstStyle/>
          <a:p>
            <a:pPr algn="ctr" indent="0" marL="0">
              <a:lnSpc>
                <a:spcPct val="105000"/>
              </a:lnSpc>
              <a:buNone/>
            </a:pPr>
            <a:r>
              <a:rPr lang="en-US" sz="1300" b="1" dirty="0">
                <a:solidFill>
                  <a:srgbClr val="121A3C"/>
                </a:solidFill>
                <a:latin typeface="Calibri" pitchFamily="34" charset="0"/>
                <a:ea typeface="Calibri" pitchFamily="34" charset="-122"/>
                <a:cs typeface="Calibri" pitchFamily="34" charset="-120"/>
              </a:rPr>
              <a:t>Requirement Analysis</a:t>
            </a:r>
            <a:endParaRPr lang="en-US" sz="1300" dirty="0"/>
          </a:p>
        </p:txBody>
      </p:sp>
      <p:sp>
        <p:nvSpPr>
          <p:cNvPr id="28" name="Text 21"/>
          <p:cNvSpPr/>
          <p:nvPr/>
        </p:nvSpPr>
        <p:spPr>
          <a:xfrm>
            <a:off x="9729216" y="3520440"/>
            <a:ext cx="1764792" cy="1371600"/>
          </a:xfrm>
          <a:prstGeom prst="rect">
            <a:avLst/>
          </a:prstGeom>
          <a:noFill/>
          <a:ln/>
        </p:spPr>
        <p:txBody>
          <a:bodyPr wrap="square" lIns="0" tIns="0" rIns="0" bIns="0" rtlCol="0" anchor="t"/>
          <a:lstStyle/>
          <a:p>
            <a:pPr algn="ctr" indent="0" marL="0">
              <a:lnSpc>
                <a:spcPct val="120000"/>
              </a:lnSpc>
              <a:buNone/>
            </a:pPr>
            <a:r>
              <a:rPr lang="en-US" sz="1100" dirty="0">
                <a:solidFill>
                  <a:srgbClr val="5B6478"/>
                </a:solidFill>
                <a:latin typeface="Calibri" pitchFamily="34" charset="0"/>
                <a:ea typeface="Calibri" pitchFamily="34" charset="-122"/>
                <a:cs typeface="Calibri" pitchFamily="34" charset="-120"/>
              </a:rPr>
              <a:t>AI clarifies and analyzes ambiguous needs.</a:t>
            </a:r>
            <a:endParaRPr lang="en-US" sz="1100" dirty="0"/>
          </a:p>
        </p:txBody>
      </p:sp>
      <p:sp>
        <p:nvSpPr>
          <p:cNvPr id="29" name="Shape 22"/>
          <p:cNvSpPr/>
          <p:nvPr/>
        </p:nvSpPr>
        <p:spPr>
          <a:xfrm>
            <a:off x="548640" y="5257800"/>
            <a:ext cx="11091672" cy="594360"/>
          </a:xfrm>
          <a:prstGeom prst="roundRect">
            <a:avLst>
              <a:gd name="adj" fmla="val 9231"/>
            </a:avLst>
          </a:prstGeom>
          <a:solidFill>
            <a:srgbClr val="121A3C"/>
          </a:solidFill>
          <a:ln/>
        </p:spPr>
      </p:sp>
      <p:sp>
        <p:nvSpPr>
          <p:cNvPr id="30" name="Text 23"/>
          <p:cNvSpPr/>
          <p:nvPr/>
        </p:nvSpPr>
        <p:spPr>
          <a:xfrm>
            <a:off x="777240" y="5257800"/>
            <a:ext cx="10607040" cy="594360"/>
          </a:xfrm>
          <a:prstGeom prst="rect">
            <a:avLst/>
          </a:prstGeom>
          <a:noFill/>
          <a:ln/>
        </p:spPr>
        <p:txBody>
          <a:bodyPr wrap="square" lIns="0" tIns="0" rIns="0" bIns="0" rtlCol="0" anchor="ctr"/>
          <a:lstStyle/>
          <a:p>
            <a:pPr indent="0" marL="0">
              <a:buNone/>
            </a:pPr>
            <a:r>
              <a:rPr lang="en-US" sz="1300" b="1" spc="50" kern="0" dirty="0">
                <a:solidFill>
                  <a:srgbClr val="FF7A45"/>
                </a:solidFill>
                <a:latin typeface="Calibri" pitchFamily="34" charset="0"/>
                <a:ea typeface="Calibri" pitchFamily="34" charset="-122"/>
                <a:cs typeface="Calibri" pitchFamily="34" charset="-120"/>
              </a:rPr>
              <a:t>TOOLS IN PRACTICE:  </a:t>
            </a:r>
            <a:pPr indent="0" marL="0">
              <a:buNone/>
            </a:pPr>
            <a:r>
              <a:rPr lang="en-US" sz="1300" spc="50" kern="0" dirty="0">
                <a:solidFill>
                  <a:srgbClr val="FFFFFF"/>
                </a:solidFill>
                <a:latin typeface="Calibri" pitchFamily="34" charset="0"/>
                <a:ea typeface="Calibri" pitchFamily="34" charset="-122"/>
                <a:cs typeface="Calibri" pitchFamily="34" charset="-120"/>
              </a:rPr>
              <a:t>GitHub Copilot   ·   ChatGPT   ·   Gemini   ·   Amazon Q</a:t>
            </a:r>
            <a:endParaRPr lang="en-US" sz="1300" dirty="0"/>
          </a:p>
        </p:txBody>
      </p:sp>
      <p:sp>
        <p:nvSpPr>
          <p:cNvPr id="31" name="Text 24"/>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32" name="Text 2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THE AI ERA</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Human + AI Collaboration</a:t>
            </a:r>
            <a:endParaRPr lang="en-US" sz="3200" dirty="0"/>
          </a:p>
        </p:txBody>
      </p:sp>
      <p:sp>
        <p:nvSpPr>
          <p:cNvPr id="4" name="Text 2"/>
          <p:cNvSpPr/>
          <p:nvPr/>
        </p:nvSpPr>
        <p:spPr>
          <a:xfrm>
            <a:off x="548640" y="1783080"/>
            <a:ext cx="6126480" cy="3840480"/>
          </a:xfrm>
          <a:prstGeom prst="rect">
            <a:avLst/>
          </a:prstGeom>
          <a:noFill/>
          <a:ln/>
        </p:spPr>
        <p:txBody>
          <a:bodyPr wrap="square" lIns="0" tIns="0" rIns="0" bIns="0" rtlCol="0" anchor="t"/>
          <a:lstStyle/>
          <a:p>
            <a:pPr marL="228600" indent="-228600">
              <a:spcAft>
                <a:spcPts val="1900"/>
              </a:spcAft>
              <a:buSzPct val="100000"/>
              <a:buChar char="▪"/>
            </a:pPr>
            <a:r>
              <a:rPr lang="en-US" sz="1550" dirty="0">
                <a:solidFill>
                  <a:srgbClr val="1E2433"/>
                </a:solidFill>
                <a:latin typeface="Calibri" pitchFamily="34" charset="0"/>
                <a:ea typeface="Calibri" pitchFamily="34" charset="-122"/>
                <a:cs typeface="Calibri" pitchFamily="34" charset="-120"/>
              </a:rPr>
              <a:t>AI boosts productivity on repetitive coding tasks</a:t>
            </a:r>
            <a:endParaRPr lang="en-US" sz="1550" dirty="0"/>
          </a:p>
          <a:p>
            <a:pPr marL="228600" indent="-228600">
              <a:spcAft>
                <a:spcPts val="1900"/>
              </a:spcAft>
              <a:buSzPct val="100000"/>
              <a:buChar char="▪"/>
            </a:pPr>
            <a:r>
              <a:rPr lang="en-US" sz="1550" dirty="0">
                <a:solidFill>
                  <a:srgbClr val="1E2433"/>
                </a:solidFill>
                <a:latin typeface="Calibri" pitchFamily="34" charset="0"/>
                <a:ea typeface="Calibri" pitchFamily="34" charset="-122"/>
                <a:cs typeface="Calibri" pitchFamily="34" charset="-120"/>
              </a:rPr>
              <a:t>Development cycles shrink from weeks to days</a:t>
            </a:r>
            <a:endParaRPr lang="en-US" sz="1550" dirty="0"/>
          </a:p>
          <a:p>
            <a:pPr marL="228600" indent="-228600">
              <a:spcAft>
                <a:spcPts val="1900"/>
              </a:spcAft>
              <a:buSzPct val="100000"/>
              <a:buChar char="▪"/>
            </a:pPr>
            <a:r>
              <a:rPr lang="en-US" sz="1550" dirty="0">
                <a:solidFill>
                  <a:srgbClr val="1E2433"/>
                </a:solidFill>
                <a:latin typeface="Calibri" pitchFamily="34" charset="0"/>
                <a:ea typeface="Calibri" pitchFamily="34" charset="-122"/>
                <a:cs typeface="Calibri" pitchFamily="34" charset="-120"/>
              </a:rPr>
              <a:t>Human oversight remains essential for critical decisions</a:t>
            </a:r>
            <a:endParaRPr lang="en-US" sz="1550" dirty="0"/>
          </a:p>
          <a:p>
            <a:pPr marL="228600" indent="-228600">
              <a:spcAft>
                <a:spcPts val="1900"/>
              </a:spcAft>
              <a:buSzPct val="100000"/>
              <a:buChar char="▪"/>
            </a:pPr>
            <a:r>
              <a:rPr lang="en-US" sz="1550" dirty="0">
                <a:solidFill>
                  <a:srgbClr val="1E2433"/>
                </a:solidFill>
                <a:latin typeface="Calibri" pitchFamily="34" charset="0"/>
                <a:ea typeface="Calibri" pitchFamily="34" charset="-122"/>
                <a:cs typeface="Calibri" pitchFamily="34" charset="-120"/>
              </a:rPr>
              <a:t>Ethical use requires transparency and bias awareness</a:t>
            </a:r>
            <a:endParaRPr lang="en-US" sz="1550" dirty="0"/>
          </a:p>
          <a:p>
            <a:pPr marL="228600" indent="-228600">
              <a:spcAft>
                <a:spcPts val="1900"/>
              </a:spcAft>
              <a:buSzPct val="100000"/>
              <a:buChar char="▪"/>
            </a:pPr>
            <a:r>
              <a:rPr lang="en-US" sz="1550" dirty="0">
                <a:solidFill>
                  <a:srgbClr val="1E2433"/>
                </a:solidFill>
                <a:latin typeface="Calibri" pitchFamily="34" charset="0"/>
                <a:ea typeface="Calibri" pitchFamily="34" charset="-122"/>
                <a:cs typeface="Calibri" pitchFamily="34" charset="-120"/>
              </a:rPr>
              <a:t>Quality assurance still depends on human judgment</a:t>
            </a:r>
            <a:endParaRPr lang="en-US" sz="1550" dirty="0"/>
          </a:p>
        </p:txBody>
      </p:sp>
      <p:sp>
        <p:nvSpPr>
          <p:cNvPr id="5" name="Shape 3"/>
          <p:cNvSpPr/>
          <p:nvPr/>
        </p:nvSpPr>
        <p:spPr>
          <a:xfrm>
            <a:off x="7040880" y="1783080"/>
            <a:ext cx="4617720" cy="4114800"/>
          </a:xfrm>
          <a:prstGeom prst="roundRect">
            <a:avLst>
              <a:gd name="adj" fmla="val 1778"/>
            </a:avLst>
          </a:prstGeom>
          <a:solidFill>
            <a:srgbClr val="121A3C"/>
          </a:solidFill>
          <a:ln/>
        </p:spPr>
      </p:sp>
      <p:sp>
        <p:nvSpPr>
          <p:cNvPr id="6" name="Shape 4"/>
          <p:cNvSpPr/>
          <p:nvPr/>
        </p:nvSpPr>
        <p:spPr>
          <a:xfrm>
            <a:off x="7269480" y="2011680"/>
            <a:ext cx="548640" cy="548640"/>
          </a:xfrm>
          <a:prstGeom prst="ellipse">
            <a:avLst/>
          </a:prstGeom>
          <a:solidFill>
            <a:srgbClr val="FFFFFF"/>
          </a:solidFill>
          <a:ln/>
        </p:spPr>
      </p:sp>
      <p:pic>
        <p:nvPicPr>
          <p:cNvPr id="7" name="Image 0" descr="/home/claude/mse_deck/icons/question.png">    </p:cNvPr>
          <p:cNvPicPr>
            <a:picLocks noChangeAspect="1"/>
          </p:cNvPicPr>
          <p:nvPr/>
        </p:nvPicPr>
        <p:blipFill>
          <a:blip r:embed="rId1"/>
          <a:stretch>
            <a:fillRect/>
          </a:stretch>
        </p:blipFill>
        <p:spPr>
          <a:xfrm>
            <a:off x="7390181" y="2132381"/>
            <a:ext cx="307238" cy="307238"/>
          </a:xfrm>
          <a:prstGeom prst="rect">
            <a:avLst/>
          </a:prstGeom>
        </p:spPr>
      </p:pic>
      <p:sp>
        <p:nvSpPr>
          <p:cNvPr id="8" name="Text 5"/>
          <p:cNvSpPr/>
          <p:nvPr/>
        </p:nvSpPr>
        <p:spPr>
          <a:xfrm>
            <a:off x="7955280" y="2048256"/>
            <a:ext cx="3200400" cy="274320"/>
          </a:xfrm>
          <a:prstGeom prst="rect">
            <a:avLst/>
          </a:prstGeom>
          <a:noFill/>
          <a:ln/>
        </p:spPr>
        <p:txBody>
          <a:bodyPr wrap="square" lIns="0" tIns="0" rIns="0" bIns="0" rtlCol="0" anchor="ctr"/>
          <a:lstStyle/>
          <a:p>
            <a:pPr indent="0" marL="0">
              <a:buNone/>
            </a:pPr>
            <a:r>
              <a:rPr lang="en-US" sz="1150" b="1" spc="150" kern="0" dirty="0">
                <a:solidFill>
                  <a:srgbClr val="FF7A45"/>
                </a:solidFill>
                <a:latin typeface="Calibri" pitchFamily="34" charset="0"/>
                <a:ea typeface="Calibri" pitchFamily="34" charset="-122"/>
                <a:cs typeface="Calibri" pitchFamily="34" charset="-120"/>
              </a:rPr>
              <a:t>DISCUSS</a:t>
            </a:r>
            <a:endParaRPr lang="en-US" sz="1150" dirty="0"/>
          </a:p>
        </p:txBody>
      </p:sp>
      <p:sp>
        <p:nvSpPr>
          <p:cNvPr id="9" name="Text 6"/>
          <p:cNvSpPr/>
          <p:nvPr/>
        </p:nvSpPr>
        <p:spPr>
          <a:xfrm>
            <a:off x="7269480" y="2423160"/>
            <a:ext cx="4160520" cy="868680"/>
          </a:xfrm>
          <a:prstGeom prst="rect">
            <a:avLst/>
          </a:prstGeom>
          <a:noFill/>
          <a:ln/>
        </p:spPr>
        <p:txBody>
          <a:bodyPr wrap="square" lIns="0" tIns="0" rIns="0" bIns="0" rtlCol="0" anchor="ctr"/>
          <a:lstStyle/>
          <a:p>
            <a:pPr indent="0" marL="0">
              <a:lnSpc>
                <a:spcPct val="110000"/>
              </a:lnSpc>
              <a:buNone/>
            </a:pPr>
            <a:r>
              <a:rPr lang="en-US" sz="1800" b="1" i="1" dirty="0">
                <a:solidFill>
                  <a:srgbClr val="FFFFFF"/>
                </a:solidFill>
                <a:latin typeface="Cambria" pitchFamily="34" charset="0"/>
                <a:ea typeface="Cambria" pitchFamily="34" charset="-122"/>
                <a:cs typeface="Cambria" pitchFamily="34" charset="-120"/>
              </a:rPr>
              <a:t>“Can AI replace software engineers?”</a:t>
            </a:r>
            <a:endParaRPr lang="en-US" sz="1800" dirty="0"/>
          </a:p>
        </p:txBody>
      </p:sp>
      <p:sp>
        <p:nvSpPr>
          <p:cNvPr id="10" name="Shape 7"/>
          <p:cNvSpPr/>
          <p:nvPr/>
        </p:nvSpPr>
        <p:spPr>
          <a:xfrm>
            <a:off x="7269480" y="3429000"/>
            <a:ext cx="4160520" cy="0"/>
          </a:xfrm>
          <a:prstGeom prst="line">
            <a:avLst/>
          </a:prstGeom>
          <a:noFill/>
          <a:ln w="12700">
            <a:solidFill>
              <a:srgbClr val="333F7A"/>
            </a:solidFill>
            <a:prstDash val="solid"/>
          </a:ln>
        </p:spPr>
      </p:sp>
      <p:sp>
        <p:nvSpPr>
          <p:cNvPr id="11" name="Text 8"/>
          <p:cNvSpPr/>
          <p:nvPr/>
        </p:nvSpPr>
        <p:spPr>
          <a:xfrm>
            <a:off x="7269480" y="3611880"/>
            <a:ext cx="4160520" cy="640080"/>
          </a:xfrm>
          <a:prstGeom prst="rect">
            <a:avLst/>
          </a:prstGeom>
          <a:noFill/>
          <a:ln/>
        </p:spPr>
        <p:txBody>
          <a:bodyPr wrap="square" lIns="0" tIns="0" rIns="0" bIns="0" rtlCol="0" anchor="ctr"/>
          <a:lstStyle/>
          <a:p>
            <a:pPr indent="0" marL="0">
              <a:lnSpc>
                <a:spcPct val="120000"/>
              </a:lnSpc>
              <a:buNone/>
            </a:pPr>
            <a:r>
              <a:rPr lang="en-US" sz="1250" b="1" dirty="0">
                <a:solidFill>
                  <a:srgbClr val="FF7A45"/>
                </a:solidFill>
                <a:latin typeface="Calibri" pitchFamily="34" charset="0"/>
                <a:ea typeface="Calibri" pitchFamily="34" charset="-122"/>
                <a:cs typeface="Calibri" pitchFamily="34" charset="-120"/>
              </a:rPr>
              <a:t>For:  </a:t>
            </a:r>
            <a:pPr indent="0" marL="0">
              <a:lnSpc>
                <a:spcPct val="120000"/>
              </a:lnSpc>
              <a:buNone/>
            </a:pPr>
            <a:r>
              <a:rPr lang="en-US" sz="1250" dirty="0">
                <a:solidFill>
                  <a:srgbClr val="E4E9F2"/>
                </a:solidFill>
                <a:latin typeface="Calibri" pitchFamily="34" charset="0"/>
                <a:ea typeface="Calibri" pitchFamily="34" charset="-122"/>
                <a:cs typeface="Calibri" pitchFamily="34" charset="-120"/>
              </a:rPr>
              <a:t>automates repetitive, well-specified work.
</a:t>
            </a:r>
            <a:endParaRPr lang="en-US" sz="1250" dirty="0"/>
          </a:p>
        </p:txBody>
      </p:sp>
      <p:sp>
        <p:nvSpPr>
          <p:cNvPr id="12" name="Text 9"/>
          <p:cNvSpPr/>
          <p:nvPr/>
        </p:nvSpPr>
        <p:spPr>
          <a:xfrm>
            <a:off x="7269480" y="4160520"/>
            <a:ext cx="4160520" cy="822960"/>
          </a:xfrm>
          <a:prstGeom prst="rect">
            <a:avLst/>
          </a:prstGeom>
          <a:noFill/>
          <a:ln/>
        </p:spPr>
        <p:txBody>
          <a:bodyPr wrap="square" lIns="0" tIns="0" rIns="0" bIns="0" rtlCol="0" anchor="ctr"/>
          <a:lstStyle/>
          <a:p>
            <a:pPr indent="0" marL="0">
              <a:lnSpc>
                <a:spcPct val="120000"/>
              </a:lnSpc>
              <a:buNone/>
            </a:pPr>
            <a:r>
              <a:rPr lang="en-US" sz="1250" b="1" dirty="0">
                <a:solidFill>
                  <a:srgbClr val="FF7A45"/>
                </a:solidFill>
                <a:latin typeface="Calibri" pitchFamily="34" charset="0"/>
                <a:ea typeface="Calibri" pitchFamily="34" charset="-122"/>
                <a:cs typeface="Calibri" pitchFamily="34" charset="-120"/>
              </a:rPr>
              <a:t>Still needed:  </a:t>
            </a:r>
            <a:pPr indent="0" marL="0">
              <a:lnSpc>
                <a:spcPct val="120000"/>
              </a:lnSpc>
              <a:buNone/>
            </a:pPr>
            <a:r>
              <a:rPr lang="en-US" sz="1250" dirty="0">
                <a:solidFill>
                  <a:srgbClr val="E4E9F2"/>
                </a:solidFill>
                <a:latin typeface="Calibri" pitchFamily="34" charset="0"/>
                <a:ea typeface="Calibri" pitchFamily="34" charset="-122"/>
                <a:cs typeface="Calibri" pitchFamily="34" charset="-120"/>
              </a:rPr>
              <a:t>judgment, ethics, accountability, and context.</a:t>
            </a:r>
            <a:endParaRPr lang="en-US" sz="1250" dirty="0"/>
          </a:p>
        </p:txBody>
      </p:sp>
      <p:sp>
        <p:nvSpPr>
          <p:cNvPr id="13" name="Text 10"/>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14" name="Text 1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LOOKING AHEAD · 2026–2035</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Future Trends in Software Engineering</a:t>
            </a:r>
            <a:endParaRPr lang="en-US" sz="3200" dirty="0"/>
          </a:p>
        </p:txBody>
      </p:sp>
      <p:sp>
        <p:nvSpPr>
          <p:cNvPr id="4" name="Shape 2"/>
          <p:cNvSpPr/>
          <p:nvPr/>
        </p:nvSpPr>
        <p:spPr>
          <a:xfrm>
            <a:off x="548640" y="1828800"/>
            <a:ext cx="3337560" cy="1783080"/>
          </a:xfrm>
          <a:prstGeom prst="roundRect">
            <a:avLst>
              <a:gd name="adj" fmla="val 3590"/>
            </a:avLst>
          </a:prstGeom>
          <a:solidFill>
            <a:srgbClr val="121A3C"/>
          </a:solidFill>
          <a:ln/>
        </p:spPr>
      </p:sp>
      <p:sp>
        <p:nvSpPr>
          <p:cNvPr id="5" name="Shape 3"/>
          <p:cNvSpPr/>
          <p:nvPr/>
        </p:nvSpPr>
        <p:spPr>
          <a:xfrm>
            <a:off x="777240" y="2057400"/>
            <a:ext cx="566928" cy="566928"/>
          </a:xfrm>
          <a:prstGeom prst="ellipse">
            <a:avLst/>
          </a:prstGeom>
          <a:solidFill>
            <a:srgbClr val="FF7A45"/>
          </a:solidFill>
          <a:ln/>
        </p:spPr>
      </p:sp>
      <p:pic>
        <p:nvPicPr>
          <p:cNvPr id="6" name="Image 0" descr="/home/claude/mse_deck/icons/brain.png">    </p:cNvPr>
          <p:cNvPicPr>
            <a:picLocks noChangeAspect="1"/>
          </p:cNvPicPr>
          <p:nvPr/>
        </p:nvPicPr>
        <p:blipFill>
          <a:blip r:embed="rId1"/>
          <a:stretch>
            <a:fillRect/>
          </a:stretch>
        </p:blipFill>
        <p:spPr>
          <a:xfrm>
            <a:off x="901964" y="2182124"/>
            <a:ext cx="317480" cy="317480"/>
          </a:xfrm>
          <a:prstGeom prst="rect">
            <a:avLst/>
          </a:prstGeom>
        </p:spPr>
      </p:pic>
      <p:sp>
        <p:nvSpPr>
          <p:cNvPr id="7" name="Text 4"/>
          <p:cNvSpPr/>
          <p:nvPr/>
        </p:nvSpPr>
        <p:spPr>
          <a:xfrm>
            <a:off x="1508760" y="1993392"/>
            <a:ext cx="2194560" cy="685800"/>
          </a:xfrm>
          <a:prstGeom prst="rect">
            <a:avLst/>
          </a:prstGeom>
          <a:noFill/>
          <a:ln/>
        </p:spPr>
        <p:txBody>
          <a:bodyPr wrap="square" lIns="0" tIns="0" rIns="0" bIns="0" rtlCol="0" anchor="t"/>
          <a:lstStyle/>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AI-Native</a:t>
            </a:r>
            <a:endParaRPr lang="en-US" sz="1350" dirty="0"/>
          </a:p>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Software Engineering</a:t>
            </a:r>
            <a:endParaRPr lang="en-US" sz="1350" dirty="0"/>
          </a:p>
        </p:txBody>
      </p:sp>
      <p:sp>
        <p:nvSpPr>
          <p:cNvPr id="8" name="Text 5"/>
          <p:cNvSpPr/>
          <p:nvPr/>
        </p:nvSpPr>
        <p:spPr>
          <a:xfrm>
            <a:off x="777240" y="2788920"/>
            <a:ext cx="2880360" cy="731520"/>
          </a:xfrm>
          <a:prstGeom prst="rect">
            <a:avLst/>
          </a:prstGeom>
          <a:noFill/>
          <a:ln/>
        </p:spPr>
        <p:txBody>
          <a:bodyPr wrap="square" lIns="0" tIns="0" rIns="0" bIns="0" rtlCol="0" anchor="t"/>
          <a:lstStyle/>
          <a:p>
            <a:pPr indent="0" marL="0">
              <a:lnSpc>
                <a:spcPct val="115000"/>
              </a:lnSpc>
              <a:buNone/>
            </a:pPr>
            <a:r>
              <a:rPr lang="en-US" sz="1100" dirty="0">
                <a:solidFill>
                  <a:srgbClr val="C7D3E8"/>
                </a:solidFill>
                <a:latin typeface="Calibri" pitchFamily="34" charset="0"/>
                <a:ea typeface="Calibri" pitchFamily="34" charset="-122"/>
                <a:cs typeface="Calibri" pitchFamily="34" charset="-120"/>
              </a:rPr>
              <a:t>AI embedded in every workflow.</a:t>
            </a:r>
            <a:endParaRPr lang="en-US" sz="1100" dirty="0"/>
          </a:p>
        </p:txBody>
      </p:sp>
      <p:sp>
        <p:nvSpPr>
          <p:cNvPr id="9" name="Shape 6"/>
          <p:cNvSpPr/>
          <p:nvPr/>
        </p:nvSpPr>
        <p:spPr>
          <a:xfrm>
            <a:off x="4105656" y="1828800"/>
            <a:ext cx="3337560" cy="1783080"/>
          </a:xfrm>
          <a:prstGeom prst="roundRect">
            <a:avLst>
              <a:gd name="adj" fmla="val 3590"/>
            </a:avLst>
          </a:prstGeom>
          <a:solidFill>
            <a:srgbClr val="22326B"/>
          </a:solidFill>
          <a:ln/>
        </p:spPr>
      </p:sp>
      <p:sp>
        <p:nvSpPr>
          <p:cNvPr id="10" name="Shape 7"/>
          <p:cNvSpPr/>
          <p:nvPr/>
        </p:nvSpPr>
        <p:spPr>
          <a:xfrm>
            <a:off x="4334256" y="2057400"/>
            <a:ext cx="566928" cy="566928"/>
          </a:xfrm>
          <a:prstGeom prst="ellipse">
            <a:avLst/>
          </a:prstGeom>
          <a:solidFill>
            <a:srgbClr val="FF7A45"/>
          </a:solidFill>
          <a:ln/>
        </p:spPr>
      </p:sp>
      <p:pic>
        <p:nvPicPr>
          <p:cNvPr id="11" name="Image 1" descr="/home/claude/mse_deck/icons/network.png">    </p:cNvPr>
          <p:cNvPicPr>
            <a:picLocks noChangeAspect="1"/>
          </p:cNvPicPr>
          <p:nvPr/>
        </p:nvPicPr>
        <p:blipFill>
          <a:blip r:embed="rId2"/>
          <a:stretch>
            <a:fillRect/>
          </a:stretch>
        </p:blipFill>
        <p:spPr>
          <a:xfrm>
            <a:off x="4458980" y="2182124"/>
            <a:ext cx="317480" cy="317480"/>
          </a:xfrm>
          <a:prstGeom prst="rect">
            <a:avLst/>
          </a:prstGeom>
        </p:spPr>
      </p:pic>
      <p:sp>
        <p:nvSpPr>
          <p:cNvPr id="12" name="Text 8"/>
          <p:cNvSpPr/>
          <p:nvPr/>
        </p:nvSpPr>
        <p:spPr>
          <a:xfrm>
            <a:off x="5065776" y="1993392"/>
            <a:ext cx="2194560" cy="685800"/>
          </a:xfrm>
          <a:prstGeom prst="rect">
            <a:avLst/>
          </a:prstGeom>
          <a:noFill/>
          <a:ln/>
        </p:spPr>
        <p:txBody>
          <a:bodyPr wrap="square" lIns="0" tIns="0" rIns="0" bIns="0" rtlCol="0" anchor="t"/>
          <a:lstStyle/>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Agentic AI</a:t>
            </a:r>
            <a:endParaRPr lang="en-US" sz="1350" dirty="0"/>
          </a:p>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Development</a:t>
            </a:r>
            <a:endParaRPr lang="en-US" sz="1350" dirty="0"/>
          </a:p>
        </p:txBody>
      </p:sp>
      <p:sp>
        <p:nvSpPr>
          <p:cNvPr id="13" name="Text 9"/>
          <p:cNvSpPr/>
          <p:nvPr/>
        </p:nvSpPr>
        <p:spPr>
          <a:xfrm>
            <a:off x="4334256" y="2788920"/>
            <a:ext cx="2880360" cy="731520"/>
          </a:xfrm>
          <a:prstGeom prst="rect">
            <a:avLst/>
          </a:prstGeom>
          <a:noFill/>
          <a:ln/>
        </p:spPr>
        <p:txBody>
          <a:bodyPr wrap="square" lIns="0" tIns="0" rIns="0" bIns="0" rtlCol="0" anchor="t"/>
          <a:lstStyle/>
          <a:p>
            <a:pPr indent="0" marL="0">
              <a:lnSpc>
                <a:spcPct val="115000"/>
              </a:lnSpc>
              <a:buNone/>
            </a:pPr>
            <a:r>
              <a:rPr lang="en-US" sz="1100" dirty="0">
                <a:solidFill>
                  <a:srgbClr val="C7D3E8"/>
                </a:solidFill>
                <a:latin typeface="Calibri" pitchFamily="34" charset="0"/>
                <a:ea typeface="Calibri" pitchFamily="34" charset="-122"/>
                <a:cs typeface="Calibri" pitchFamily="34" charset="-120"/>
              </a:rPr>
              <a:t>Autonomous agents complete coding tasks.</a:t>
            </a:r>
            <a:endParaRPr lang="en-US" sz="1100" dirty="0"/>
          </a:p>
        </p:txBody>
      </p:sp>
      <p:sp>
        <p:nvSpPr>
          <p:cNvPr id="14" name="Shape 10"/>
          <p:cNvSpPr/>
          <p:nvPr/>
        </p:nvSpPr>
        <p:spPr>
          <a:xfrm>
            <a:off x="7662672" y="1828800"/>
            <a:ext cx="3337560" cy="1783080"/>
          </a:xfrm>
          <a:prstGeom prst="roundRect">
            <a:avLst>
              <a:gd name="adj" fmla="val 3590"/>
            </a:avLst>
          </a:prstGeom>
          <a:solidFill>
            <a:srgbClr val="121A3C"/>
          </a:solidFill>
          <a:ln/>
        </p:spPr>
      </p:sp>
      <p:sp>
        <p:nvSpPr>
          <p:cNvPr id="15" name="Shape 11"/>
          <p:cNvSpPr/>
          <p:nvPr/>
        </p:nvSpPr>
        <p:spPr>
          <a:xfrm>
            <a:off x="7891272" y="2057400"/>
            <a:ext cx="566928" cy="566928"/>
          </a:xfrm>
          <a:prstGeom prst="ellipse">
            <a:avLst/>
          </a:prstGeom>
          <a:solidFill>
            <a:srgbClr val="FF7A45"/>
          </a:solidFill>
          <a:ln/>
        </p:spPr>
      </p:sp>
      <p:pic>
        <p:nvPicPr>
          <p:cNvPr id="16" name="Image 2" descr="/home/claude/mse_deck/icons/layers.png">    </p:cNvPr>
          <p:cNvPicPr>
            <a:picLocks noChangeAspect="1"/>
          </p:cNvPicPr>
          <p:nvPr/>
        </p:nvPicPr>
        <p:blipFill>
          <a:blip r:embed="rId3"/>
          <a:stretch>
            <a:fillRect/>
          </a:stretch>
        </p:blipFill>
        <p:spPr>
          <a:xfrm>
            <a:off x="8015996" y="2182124"/>
            <a:ext cx="317480" cy="317480"/>
          </a:xfrm>
          <a:prstGeom prst="rect">
            <a:avLst/>
          </a:prstGeom>
        </p:spPr>
      </p:pic>
      <p:sp>
        <p:nvSpPr>
          <p:cNvPr id="17" name="Text 12"/>
          <p:cNvSpPr/>
          <p:nvPr/>
        </p:nvSpPr>
        <p:spPr>
          <a:xfrm>
            <a:off x="8622792" y="1993392"/>
            <a:ext cx="2194560" cy="685800"/>
          </a:xfrm>
          <a:prstGeom prst="rect">
            <a:avLst/>
          </a:prstGeom>
          <a:noFill/>
          <a:ln/>
        </p:spPr>
        <p:txBody>
          <a:bodyPr wrap="square" lIns="0" tIns="0" rIns="0" bIns="0" rtlCol="0" anchor="t"/>
          <a:lstStyle/>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Platform</a:t>
            </a:r>
            <a:endParaRPr lang="en-US" sz="1350" dirty="0"/>
          </a:p>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Engineering</a:t>
            </a:r>
            <a:endParaRPr lang="en-US" sz="1350" dirty="0"/>
          </a:p>
        </p:txBody>
      </p:sp>
      <p:sp>
        <p:nvSpPr>
          <p:cNvPr id="18" name="Text 13"/>
          <p:cNvSpPr/>
          <p:nvPr/>
        </p:nvSpPr>
        <p:spPr>
          <a:xfrm>
            <a:off x="7891272" y="2788920"/>
            <a:ext cx="2880360" cy="731520"/>
          </a:xfrm>
          <a:prstGeom prst="rect">
            <a:avLst/>
          </a:prstGeom>
          <a:noFill/>
          <a:ln/>
        </p:spPr>
        <p:txBody>
          <a:bodyPr wrap="square" lIns="0" tIns="0" rIns="0" bIns="0" rtlCol="0" anchor="t"/>
          <a:lstStyle/>
          <a:p>
            <a:pPr indent="0" marL="0">
              <a:lnSpc>
                <a:spcPct val="115000"/>
              </a:lnSpc>
              <a:buNone/>
            </a:pPr>
            <a:r>
              <a:rPr lang="en-US" sz="1100" dirty="0">
                <a:solidFill>
                  <a:srgbClr val="C7D3E8"/>
                </a:solidFill>
                <a:latin typeface="Calibri" pitchFamily="34" charset="0"/>
                <a:ea typeface="Calibri" pitchFamily="34" charset="-122"/>
                <a:cs typeface="Calibri" pitchFamily="34" charset="-120"/>
              </a:rPr>
              <a:t>Internal developer platforms speed delivery.</a:t>
            </a:r>
            <a:endParaRPr lang="en-US" sz="1100" dirty="0"/>
          </a:p>
        </p:txBody>
      </p:sp>
      <p:sp>
        <p:nvSpPr>
          <p:cNvPr id="19" name="Shape 14"/>
          <p:cNvSpPr/>
          <p:nvPr/>
        </p:nvSpPr>
        <p:spPr>
          <a:xfrm>
            <a:off x="2327148" y="3886200"/>
            <a:ext cx="3337560" cy="1783080"/>
          </a:xfrm>
          <a:prstGeom prst="roundRect">
            <a:avLst>
              <a:gd name="adj" fmla="val 3590"/>
            </a:avLst>
          </a:prstGeom>
          <a:solidFill>
            <a:srgbClr val="22326B"/>
          </a:solidFill>
          <a:ln/>
        </p:spPr>
      </p:sp>
      <p:sp>
        <p:nvSpPr>
          <p:cNvPr id="20" name="Shape 15"/>
          <p:cNvSpPr/>
          <p:nvPr/>
        </p:nvSpPr>
        <p:spPr>
          <a:xfrm>
            <a:off x="2555748" y="4114800"/>
            <a:ext cx="566928" cy="566928"/>
          </a:xfrm>
          <a:prstGeom prst="ellipse">
            <a:avLst/>
          </a:prstGeom>
          <a:solidFill>
            <a:srgbClr val="FF7A45"/>
          </a:solidFill>
          <a:ln/>
        </p:spPr>
      </p:sp>
      <p:pic>
        <p:nvPicPr>
          <p:cNvPr id="21" name="Image 3" descr="/home/claude/mse_deck/icons/vial.png">    </p:cNvPr>
          <p:cNvPicPr>
            <a:picLocks noChangeAspect="1"/>
          </p:cNvPicPr>
          <p:nvPr/>
        </p:nvPicPr>
        <p:blipFill>
          <a:blip r:embed="rId4"/>
          <a:stretch>
            <a:fillRect/>
          </a:stretch>
        </p:blipFill>
        <p:spPr>
          <a:xfrm>
            <a:off x="2680472" y="4239524"/>
            <a:ext cx="317480" cy="317480"/>
          </a:xfrm>
          <a:prstGeom prst="rect">
            <a:avLst/>
          </a:prstGeom>
        </p:spPr>
      </p:pic>
      <p:sp>
        <p:nvSpPr>
          <p:cNvPr id="22" name="Text 16"/>
          <p:cNvSpPr/>
          <p:nvPr/>
        </p:nvSpPr>
        <p:spPr>
          <a:xfrm>
            <a:off x="3287268" y="4050792"/>
            <a:ext cx="2194560" cy="685800"/>
          </a:xfrm>
          <a:prstGeom prst="rect">
            <a:avLst/>
          </a:prstGeom>
          <a:noFill/>
          <a:ln/>
        </p:spPr>
        <p:txBody>
          <a:bodyPr wrap="square" lIns="0" tIns="0" rIns="0" bIns="0" rtlCol="0" anchor="t"/>
          <a:lstStyle/>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Autonomous</a:t>
            </a:r>
            <a:endParaRPr lang="en-US" sz="1350" dirty="0"/>
          </a:p>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Testing</a:t>
            </a:r>
            <a:endParaRPr lang="en-US" sz="1350" dirty="0"/>
          </a:p>
        </p:txBody>
      </p:sp>
      <p:sp>
        <p:nvSpPr>
          <p:cNvPr id="23" name="Text 17"/>
          <p:cNvSpPr/>
          <p:nvPr/>
        </p:nvSpPr>
        <p:spPr>
          <a:xfrm>
            <a:off x="2555748" y="4846320"/>
            <a:ext cx="2880360" cy="731520"/>
          </a:xfrm>
          <a:prstGeom prst="rect">
            <a:avLst/>
          </a:prstGeom>
          <a:noFill/>
          <a:ln/>
        </p:spPr>
        <p:txBody>
          <a:bodyPr wrap="square" lIns="0" tIns="0" rIns="0" bIns="0" rtlCol="0" anchor="t"/>
          <a:lstStyle/>
          <a:p>
            <a:pPr indent="0" marL="0">
              <a:lnSpc>
                <a:spcPct val="115000"/>
              </a:lnSpc>
              <a:buNone/>
            </a:pPr>
            <a:r>
              <a:rPr lang="en-US" sz="1100" dirty="0">
                <a:solidFill>
                  <a:srgbClr val="C7D3E8"/>
                </a:solidFill>
                <a:latin typeface="Calibri" pitchFamily="34" charset="0"/>
                <a:ea typeface="Calibri" pitchFamily="34" charset="-122"/>
                <a:cs typeface="Calibri" pitchFamily="34" charset="-120"/>
              </a:rPr>
              <a:t>AI designs and executes test suites.</a:t>
            </a:r>
            <a:endParaRPr lang="en-US" sz="1100" dirty="0"/>
          </a:p>
        </p:txBody>
      </p:sp>
      <p:sp>
        <p:nvSpPr>
          <p:cNvPr id="24" name="Shape 18"/>
          <p:cNvSpPr/>
          <p:nvPr/>
        </p:nvSpPr>
        <p:spPr>
          <a:xfrm>
            <a:off x="5884164" y="3886200"/>
            <a:ext cx="3337560" cy="1783080"/>
          </a:xfrm>
          <a:prstGeom prst="roundRect">
            <a:avLst>
              <a:gd name="adj" fmla="val 3590"/>
            </a:avLst>
          </a:prstGeom>
          <a:solidFill>
            <a:srgbClr val="121A3C"/>
          </a:solidFill>
          <a:ln/>
        </p:spPr>
      </p:sp>
      <p:sp>
        <p:nvSpPr>
          <p:cNvPr id="25" name="Shape 19"/>
          <p:cNvSpPr/>
          <p:nvPr/>
        </p:nvSpPr>
        <p:spPr>
          <a:xfrm>
            <a:off x="6112764" y="4114800"/>
            <a:ext cx="566928" cy="566928"/>
          </a:xfrm>
          <a:prstGeom prst="ellipse">
            <a:avLst/>
          </a:prstGeom>
          <a:solidFill>
            <a:srgbClr val="FF7A45"/>
          </a:solidFill>
          <a:ln/>
        </p:spPr>
      </p:sp>
      <p:pic>
        <p:nvPicPr>
          <p:cNvPr id="26" name="Image 4" descr="/home/claude/mse_deck/icons/leaf.png">    </p:cNvPr>
          <p:cNvPicPr>
            <a:picLocks noChangeAspect="1"/>
          </p:cNvPicPr>
          <p:nvPr/>
        </p:nvPicPr>
        <p:blipFill>
          <a:blip r:embed="rId5"/>
          <a:stretch>
            <a:fillRect/>
          </a:stretch>
        </p:blipFill>
        <p:spPr>
          <a:xfrm>
            <a:off x="6237488" y="4239524"/>
            <a:ext cx="317480" cy="317480"/>
          </a:xfrm>
          <a:prstGeom prst="rect">
            <a:avLst/>
          </a:prstGeom>
        </p:spPr>
      </p:pic>
      <p:sp>
        <p:nvSpPr>
          <p:cNvPr id="27" name="Text 20"/>
          <p:cNvSpPr/>
          <p:nvPr/>
        </p:nvSpPr>
        <p:spPr>
          <a:xfrm>
            <a:off x="6844284" y="4050792"/>
            <a:ext cx="2194560" cy="685800"/>
          </a:xfrm>
          <a:prstGeom prst="rect">
            <a:avLst/>
          </a:prstGeom>
          <a:noFill/>
          <a:ln/>
        </p:spPr>
        <p:txBody>
          <a:bodyPr wrap="square" lIns="0" tIns="0" rIns="0" bIns="0" rtlCol="0" anchor="t"/>
          <a:lstStyle/>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Green Software</a:t>
            </a:r>
            <a:endParaRPr lang="en-US" sz="1350" dirty="0"/>
          </a:p>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Engineering</a:t>
            </a:r>
            <a:endParaRPr lang="en-US" sz="1350" dirty="0"/>
          </a:p>
        </p:txBody>
      </p:sp>
      <p:sp>
        <p:nvSpPr>
          <p:cNvPr id="28" name="Text 21"/>
          <p:cNvSpPr/>
          <p:nvPr/>
        </p:nvSpPr>
        <p:spPr>
          <a:xfrm>
            <a:off x="6112764" y="4846320"/>
            <a:ext cx="2880360" cy="731520"/>
          </a:xfrm>
          <a:prstGeom prst="rect">
            <a:avLst/>
          </a:prstGeom>
          <a:noFill/>
          <a:ln/>
        </p:spPr>
        <p:txBody>
          <a:bodyPr wrap="square" lIns="0" tIns="0" rIns="0" bIns="0" rtlCol="0" anchor="t"/>
          <a:lstStyle/>
          <a:p>
            <a:pPr indent="0" marL="0">
              <a:lnSpc>
                <a:spcPct val="115000"/>
              </a:lnSpc>
              <a:buNone/>
            </a:pPr>
            <a:r>
              <a:rPr lang="en-US" sz="1100" dirty="0">
                <a:solidFill>
                  <a:srgbClr val="C7D3E8"/>
                </a:solidFill>
                <a:latin typeface="Calibri" pitchFamily="34" charset="0"/>
                <a:ea typeface="Calibri" pitchFamily="34" charset="-122"/>
                <a:cs typeface="Calibri" pitchFamily="34" charset="-120"/>
              </a:rPr>
              <a:t>Energy-efficient, sustainable code design.</a:t>
            </a:r>
            <a:endParaRPr lang="en-US" sz="1100" dirty="0"/>
          </a:p>
        </p:txBody>
      </p:sp>
      <p:sp>
        <p:nvSpPr>
          <p:cNvPr id="29" name="Text 22"/>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30" name="Text 2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algn="l" indent="0" marL="0">
              <a:buNone/>
            </a:pPr>
            <a:r>
              <a:rPr lang="en-US" sz="3200" b="1" dirty="0">
                <a:solidFill>
                  <a:srgbClr val="121A3C"/>
                </a:solidFill>
                <a:latin typeface="Cambria" pitchFamily="34" charset="0"/>
                <a:ea typeface="Cambria" pitchFamily="34" charset="-122"/>
                <a:cs typeface="Cambria" pitchFamily="34" charset="-120"/>
              </a:rPr>
              <a:t>Software Engineering Evolution</a:t>
            </a:r>
            <a:endParaRPr lang="en-US" sz="3200" dirty="0"/>
          </a:p>
        </p:txBody>
      </p:sp>
      <p:sp>
        <p:nvSpPr>
          <p:cNvPr id="4" name="Shape 2"/>
          <p:cNvSpPr/>
          <p:nvPr/>
        </p:nvSpPr>
        <p:spPr>
          <a:xfrm>
            <a:off x="749808" y="2386584"/>
            <a:ext cx="0" cy="3346704"/>
          </a:xfrm>
          <a:prstGeom prst="line">
            <a:avLst/>
          </a:prstGeom>
          <a:noFill/>
          <a:ln w="31750">
            <a:solidFill>
              <a:srgbClr val="C7D0DE"/>
            </a:solidFill>
            <a:prstDash val="solid"/>
          </a:ln>
        </p:spPr>
      </p:sp>
      <p:sp>
        <p:nvSpPr>
          <p:cNvPr id="5" name="Shape 3"/>
          <p:cNvSpPr/>
          <p:nvPr/>
        </p:nvSpPr>
        <p:spPr>
          <a:xfrm>
            <a:off x="603504" y="2240280"/>
            <a:ext cx="292608" cy="292608"/>
          </a:xfrm>
          <a:prstGeom prst="ellipse">
            <a:avLst/>
          </a:prstGeom>
          <a:solidFill>
            <a:srgbClr val="121A3C"/>
          </a:solidFill>
          <a:ln w="19050">
            <a:solidFill>
              <a:srgbClr val="FFFFFF"/>
            </a:solidFill>
            <a:prstDash val="solid"/>
          </a:ln>
        </p:spPr>
      </p:sp>
      <p:sp>
        <p:nvSpPr>
          <p:cNvPr id="6" name="Text 4"/>
          <p:cNvSpPr/>
          <p:nvPr/>
        </p:nvSpPr>
        <p:spPr>
          <a:xfrm>
            <a:off x="603504" y="2240280"/>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Text 5"/>
          <p:cNvSpPr/>
          <p:nvPr/>
        </p:nvSpPr>
        <p:spPr>
          <a:xfrm>
            <a:off x="1115568" y="1856232"/>
            <a:ext cx="4507992" cy="1060704"/>
          </a:xfrm>
          <a:prstGeom prst="rect">
            <a:avLst/>
          </a:prstGeom>
          <a:noFill/>
          <a:ln/>
        </p:spPr>
        <p:txBody>
          <a:bodyPr wrap="square" lIns="0" tIns="0" rIns="0" bIns="0" rtlCol="0" anchor="ctr"/>
          <a:lstStyle/>
          <a:p>
            <a:pPr indent="0" marL="0">
              <a:lnSpc>
                <a:spcPct val="115000"/>
              </a:lnSpc>
              <a:spcAft>
                <a:spcPts val="300"/>
              </a:spcAft>
              <a:buNone/>
            </a:pPr>
            <a:r>
              <a:rPr lang="en-US" sz="1550" b="1" dirty="0">
                <a:solidFill>
                  <a:srgbClr val="121A3C"/>
                </a:solidFill>
                <a:latin typeface="Calibri" pitchFamily="34" charset="0"/>
                <a:ea typeface="Calibri" pitchFamily="34" charset="-122"/>
                <a:cs typeface="Calibri" pitchFamily="34" charset="-120"/>
              </a:rPr>
              <a:t>Waterfall</a:t>
            </a:r>
            <a:endParaRPr lang="en-US" sz="1550" dirty="0"/>
          </a:p>
          <a:p>
            <a:pPr indent="0" marL="0">
              <a:lnSpc>
                <a:spcPct val="115000"/>
              </a:lnSpc>
              <a:buNone/>
            </a:pPr>
            <a:r>
              <a:rPr lang="en-US" sz="1200" i="1" dirty="0">
                <a:solidFill>
                  <a:srgbClr val="5B6478"/>
                </a:solidFill>
                <a:latin typeface="Calibri" pitchFamily="34" charset="0"/>
                <a:ea typeface="Calibri" pitchFamily="34" charset="-122"/>
                <a:cs typeface="Calibri" pitchFamily="34" charset="-120"/>
              </a:rPr>
              <a:t>Needed structure for large, complex projects</a:t>
            </a:r>
            <a:endParaRPr lang="en-US" sz="1550" dirty="0"/>
          </a:p>
        </p:txBody>
      </p:sp>
      <p:sp>
        <p:nvSpPr>
          <p:cNvPr id="8" name="Shape 6"/>
          <p:cNvSpPr/>
          <p:nvPr/>
        </p:nvSpPr>
        <p:spPr>
          <a:xfrm>
            <a:off x="603504" y="3355848"/>
            <a:ext cx="292608" cy="292608"/>
          </a:xfrm>
          <a:prstGeom prst="ellipse">
            <a:avLst/>
          </a:prstGeom>
          <a:solidFill>
            <a:srgbClr val="22326B"/>
          </a:solidFill>
          <a:ln w="19050">
            <a:solidFill>
              <a:srgbClr val="FFFFFF"/>
            </a:solidFill>
            <a:prstDash val="solid"/>
          </a:ln>
        </p:spPr>
      </p:sp>
      <p:sp>
        <p:nvSpPr>
          <p:cNvPr id="9" name="Text 7"/>
          <p:cNvSpPr/>
          <p:nvPr/>
        </p:nvSpPr>
        <p:spPr>
          <a:xfrm>
            <a:off x="603504" y="3355848"/>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0" name="Text 8"/>
          <p:cNvSpPr/>
          <p:nvPr/>
        </p:nvSpPr>
        <p:spPr>
          <a:xfrm>
            <a:off x="1115568" y="2971800"/>
            <a:ext cx="4507992" cy="1060704"/>
          </a:xfrm>
          <a:prstGeom prst="rect">
            <a:avLst/>
          </a:prstGeom>
          <a:noFill/>
          <a:ln/>
        </p:spPr>
        <p:txBody>
          <a:bodyPr wrap="square" lIns="0" tIns="0" rIns="0" bIns="0" rtlCol="0" anchor="ctr"/>
          <a:lstStyle/>
          <a:p>
            <a:pPr indent="0" marL="0">
              <a:lnSpc>
                <a:spcPct val="115000"/>
              </a:lnSpc>
              <a:spcAft>
                <a:spcPts val="300"/>
              </a:spcAft>
              <a:buNone/>
            </a:pPr>
            <a:r>
              <a:rPr lang="en-US" sz="1550" b="1" dirty="0">
                <a:solidFill>
                  <a:srgbClr val="121A3C"/>
                </a:solidFill>
                <a:latin typeface="Calibri" pitchFamily="34" charset="0"/>
                <a:ea typeface="Calibri" pitchFamily="34" charset="-122"/>
                <a:cs typeface="Calibri" pitchFamily="34" charset="-120"/>
              </a:rPr>
              <a:t>Agile</a:t>
            </a:r>
            <a:endParaRPr lang="en-US" sz="1550" dirty="0"/>
          </a:p>
          <a:p>
            <a:pPr indent="0" marL="0">
              <a:lnSpc>
                <a:spcPct val="115000"/>
              </a:lnSpc>
              <a:buNone/>
            </a:pPr>
            <a:r>
              <a:rPr lang="en-US" sz="1200" i="1" dirty="0">
                <a:solidFill>
                  <a:srgbClr val="5B6478"/>
                </a:solidFill>
                <a:latin typeface="Calibri" pitchFamily="34" charset="0"/>
                <a:ea typeface="Calibri" pitchFamily="34" charset="-122"/>
                <a:cs typeface="Calibri" pitchFamily="34" charset="-120"/>
              </a:rPr>
              <a:t>Markets demanded faster adaptation to change</a:t>
            </a:r>
            <a:endParaRPr lang="en-US" sz="1550" dirty="0"/>
          </a:p>
        </p:txBody>
      </p:sp>
      <p:sp>
        <p:nvSpPr>
          <p:cNvPr id="11" name="Shape 9"/>
          <p:cNvSpPr/>
          <p:nvPr/>
        </p:nvSpPr>
        <p:spPr>
          <a:xfrm>
            <a:off x="603504" y="4471416"/>
            <a:ext cx="292608" cy="292608"/>
          </a:xfrm>
          <a:prstGeom prst="ellipse">
            <a:avLst/>
          </a:prstGeom>
          <a:solidFill>
            <a:srgbClr val="22326B"/>
          </a:solidFill>
          <a:ln w="19050">
            <a:solidFill>
              <a:srgbClr val="FFFFFF"/>
            </a:solidFill>
            <a:prstDash val="solid"/>
          </a:ln>
        </p:spPr>
      </p:sp>
      <p:sp>
        <p:nvSpPr>
          <p:cNvPr id="12" name="Text 10"/>
          <p:cNvSpPr/>
          <p:nvPr/>
        </p:nvSpPr>
        <p:spPr>
          <a:xfrm>
            <a:off x="603504" y="4471416"/>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3" name="Text 11"/>
          <p:cNvSpPr/>
          <p:nvPr/>
        </p:nvSpPr>
        <p:spPr>
          <a:xfrm>
            <a:off x="1115568" y="4087368"/>
            <a:ext cx="4507992" cy="1060704"/>
          </a:xfrm>
          <a:prstGeom prst="rect">
            <a:avLst/>
          </a:prstGeom>
          <a:noFill/>
          <a:ln/>
        </p:spPr>
        <p:txBody>
          <a:bodyPr wrap="square" lIns="0" tIns="0" rIns="0" bIns="0" rtlCol="0" anchor="ctr"/>
          <a:lstStyle/>
          <a:p>
            <a:pPr indent="0" marL="0">
              <a:lnSpc>
                <a:spcPct val="115000"/>
              </a:lnSpc>
              <a:spcAft>
                <a:spcPts val="300"/>
              </a:spcAft>
              <a:buNone/>
            </a:pPr>
            <a:r>
              <a:rPr lang="en-US" sz="1550" b="1" dirty="0">
                <a:solidFill>
                  <a:srgbClr val="121A3C"/>
                </a:solidFill>
                <a:latin typeface="Calibri" pitchFamily="34" charset="0"/>
                <a:ea typeface="Calibri" pitchFamily="34" charset="-122"/>
                <a:cs typeface="Calibri" pitchFamily="34" charset="-120"/>
              </a:rPr>
              <a:t>Scrum &amp; XP</a:t>
            </a:r>
            <a:endParaRPr lang="en-US" sz="1550" dirty="0"/>
          </a:p>
          <a:p>
            <a:pPr indent="0" marL="0">
              <a:lnSpc>
                <a:spcPct val="115000"/>
              </a:lnSpc>
              <a:buNone/>
            </a:pPr>
            <a:r>
              <a:rPr lang="en-US" sz="1200" i="1" dirty="0">
                <a:solidFill>
                  <a:srgbClr val="5B6478"/>
                </a:solidFill>
                <a:latin typeface="Calibri" pitchFamily="34" charset="0"/>
                <a:ea typeface="Calibri" pitchFamily="34" charset="-122"/>
                <a:cs typeface="Calibri" pitchFamily="34" charset="-120"/>
              </a:rPr>
              <a:t>Teams needed concrete roles and practices</a:t>
            </a:r>
            <a:endParaRPr lang="en-US" sz="1550" dirty="0"/>
          </a:p>
        </p:txBody>
      </p:sp>
      <p:sp>
        <p:nvSpPr>
          <p:cNvPr id="14" name="Shape 12"/>
          <p:cNvSpPr/>
          <p:nvPr/>
        </p:nvSpPr>
        <p:spPr>
          <a:xfrm>
            <a:off x="603504" y="5586984"/>
            <a:ext cx="292608" cy="292608"/>
          </a:xfrm>
          <a:prstGeom prst="ellipse">
            <a:avLst/>
          </a:prstGeom>
          <a:solidFill>
            <a:srgbClr val="18A0C9"/>
          </a:solidFill>
          <a:ln w="19050">
            <a:solidFill>
              <a:srgbClr val="FFFFFF"/>
            </a:solidFill>
            <a:prstDash val="solid"/>
          </a:ln>
        </p:spPr>
      </p:sp>
      <p:sp>
        <p:nvSpPr>
          <p:cNvPr id="15" name="Text 13"/>
          <p:cNvSpPr/>
          <p:nvPr/>
        </p:nvSpPr>
        <p:spPr>
          <a:xfrm>
            <a:off x="603504" y="558698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6" name="Text 14"/>
          <p:cNvSpPr/>
          <p:nvPr/>
        </p:nvSpPr>
        <p:spPr>
          <a:xfrm>
            <a:off x="1115568" y="5202936"/>
            <a:ext cx="4507992" cy="1060704"/>
          </a:xfrm>
          <a:prstGeom prst="rect">
            <a:avLst/>
          </a:prstGeom>
          <a:noFill/>
          <a:ln/>
        </p:spPr>
        <p:txBody>
          <a:bodyPr wrap="square" lIns="0" tIns="0" rIns="0" bIns="0" rtlCol="0" anchor="ctr"/>
          <a:lstStyle/>
          <a:p>
            <a:pPr indent="0" marL="0">
              <a:lnSpc>
                <a:spcPct val="115000"/>
              </a:lnSpc>
              <a:spcAft>
                <a:spcPts val="300"/>
              </a:spcAft>
              <a:buNone/>
            </a:pPr>
            <a:r>
              <a:rPr lang="en-US" sz="1550" b="1" dirty="0">
                <a:solidFill>
                  <a:srgbClr val="121A3C"/>
                </a:solidFill>
                <a:latin typeface="Calibri" pitchFamily="34" charset="0"/>
                <a:ea typeface="Calibri" pitchFamily="34" charset="-122"/>
                <a:cs typeface="Calibri" pitchFamily="34" charset="-120"/>
              </a:rPr>
              <a:t>DevOps</a:t>
            </a:r>
            <a:endParaRPr lang="en-US" sz="1550" dirty="0"/>
          </a:p>
          <a:p>
            <a:pPr indent="0" marL="0">
              <a:lnSpc>
                <a:spcPct val="115000"/>
              </a:lnSpc>
              <a:buNone/>
            </a:pPr>
            <a:r>
              <a:rPr lang="en-US" sz="1200" i="1" dirty="0">
                <a:solidFill>
                  <a:srgbClr val="5B6478"/>
                </a:solidFill>
                <a:latin typeface="Calibri" pitchFamily="34" charset="0"/>
                <a:ea typeface="Calibri" pitchFamily="34" charset="-122"/>
                <a:cs typeface="Calibri" pitchFamily="34" charset="-120"/>
              </a:rPr>
              <a:t>Dev and Ops had to unite for speed</a:t>
            </a:r>
            <a:endParaRPr lang="en-US" sz="1550" dirty="0"/>
          </a:p>
        </p:txBody>
      </p:sp>
      <p:sp>
        <p:nvSpPr>
          <p:cNvPr id="17" name="Shape 15"/>
          <p:cNvSpPr/>
          <p:nvPr/>
        </p:nvSpPr>
        <p:spPr>
          <a:xfrm>
            <a:off x="6556248" y="2386584"/>
            <a:ext cx="0" cy="3346704"/>
          </a:xfrm>
          <a:prstGeom prst="line">
            <a:avLst/>
          </a:prstGeom>
          <a:noFill/>
          <a:ln w="31750">
            <a:solidFill>
              <a:srgbClr val="C7D0DE"/>
            </a:solidFill>
            <a:prstDash val="solid"/>
          </a:ln>
        </p:spPr>
      </p:sp>
      <p:sp>
        <p:nvSpPr>
          <p:cNvPr id="18" name="Shape 16"/>
          <p:cNvSpPr/>
          <p:nvPr/>
        </p:nvSpPr>
        <p:spPr>
          <a:xfrm>
            <a:off x="6409944" y="2240280"/>
            <a:ext cx="292608" cy="292608"/>
          </a:xfrm>
          <a:prstGeom prst="ellipse">
            <a:avLst/>
          </a:prstGeom>
          <a:solidFill>
            <a:srgbClr val="18A0C9"/>
          </a:solidFill>
          <a:ln w="19050">
            <a:solidFill>
              <a:srgbClr val="FFFFFF"/>
            </a:solidFill>
            <a:prstDash val="solid"/>
          </a:ln>
        </p:spPr>
      </p:sp>
      <p:sp>
        <p:nvSpPr>
          <p:cNvPr id="19" name="Text 17"/>
          <p:cNvSpPr/>
          <p:nvPr/>
        </p:nvSpPr>
        <p:spPr>
          <a:xfrm>
            <a:off x="6409944" y="2240280"/>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0" name="Text 18"/>
          <p:cNvSpPr/>
          <p:nvPr/>
        </p:nvSpPr>
        <p:spPr>
          <a:xfrm>
            <a:off x="6922008" y="1856232"/>
            <a:ext cx="4718304" cy="1060704"/>
          </a:xfrm>
          <a:prstGeom prst="rect">
            <a:avLst/>
          </a:prstGeom>
          <a:noFill/>
          <a:ln/>
        </p:spPr>
        <p:txBody>
          <a:bodyPr wrap="square" lIns="0" tIns="0" rIns="0" bIns="0" rtlCol="0" anchor="ctr"/>
          <a:lstStyle/>
          <a:p>
            <a:pPr indent="0" marL="0">
              <a:lnSpc>
                <a:spcPct val="115000"/>
              </a:lnSpc>
              <a:spcAft>
                <a:spcPts val="300"/>
              </a:spcAft>
              <a:buNone/>
            </a:pPr>
            <a:r>
              <a:rPr lang="en-US" sz="1550" b="1" dirty="0">
                <a:solidFill>
                  <a:srgbClr val="121A3C"/>
                </a:solidFill>
                <a:latin typeface="Calibri" pitchFamily="34" charset="0"/>
                <a:ea typeface="Calibri" pitchFamily="34" charset="-122"/>
                <a:cs typeface="Calibri" pitchFamily="34" charset="-120"/>
              </a:rPr>
              <a:t>DevSecOps</a:t>
            </a:r>
            <a:endParaRPr lang="en-US" sz="1550" dirty="0"/>
          </a:p>
          <a:p>
            <a:pPr indent="0" marL="0">
              <a:lnSpc>
                <a:spcPct val="115000"/>
              </a:lnSpc>
              <a:buNone/>
            </a:pPr>
            <a:r>
              <a:rPr lang="en-US" sz="1200" i="1" dirty="0">
                <a:solidFill>
                  <a:srgbClr val="5B6478"/>
                </a:solidFill>
                <a:latin typeface="Calibri" pitchFamily="34" charset="0"/>
                <a:ea typeface="Calibri" pitchFamily="34" charset="-122"/>
                <a:cs typeface="Calibri" pitchFamily="34" charset="-120"/>
              </a:rPr>
              <a:t>Security could no longer be an afterthought</a:t>
            </a:r>
            <a:endParaRPr lang="en-US" sz="1550" dirty="0"/>
          </a:p>
        </p:txBody>
      </p:sp>
      <p:sp>
        <p:nvSpPr>
          <p:cNvPr id="21" name="Shape 19"/>
          <p:cNvSpPr/>
          <p:nvPr/>
        </p:nvSpPr>
        <p:spPr>
          <a:xfrm>
            <a:off x="6409944" y="3355848"/>
            <a:ext cx="292608" cy="292608"/>
          </a:xfrm>
          <a:prstGeom prst="ellipse">
            <a:avLst/>
          </a:prstGeom>
          <a:solidFill>
            <a:srgbClr val="18A0C9"/>
          </a:solidFill>
          <a:ln w="19050">
            <a:solidFill>
              <a:srgbClr val="FFFFFF"/>
            </a:solidFill>
            <a:prstDash val="solid"/>
          </a:ln>
        </p:spPr>
      </p:sp>
      <p:sp>
        <p:nvSpPr>
          <p:cNvPr id="22" name="Text 20"/>
          <p:cNvSpPr/>
          <p:nvPr/>
        </p:nvSpPr>
        <p:spPr>
          <a:xfrm>
            <a:off x="6409944" y="3355848"/>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3" name="Text 21"/>
          <p:cNvSpPr/>
          <p:nvPr/>
        </p:nvSpPr>
        <p:spPr>
          <a:xfrm>
            <a:off x="6922008" y="2971800"/>
            <a:ext cx="4718304" cy="1060704"/>
          </a:xfrm>
          <a:prstGeom prst="rect">
            <a:avLst/>
          </a:prstGeom>
          <a:noFill/>
          <a:ln/>
        </p:spPr>
        <p:txBody>
          <a:bodyPr wrap="square" lIns="0" tIns="0" rIns="0" bIns="0" rtlCol="0" anchor="ctr"/>
          <a:lstStyle/>
          <a:p>
            <a:pPr indent="0" marL="0">
              <a:lnSpc>
                <a:spcPct val="115000"/>
              </a:lnSpc>
              <a:spcAft>
                <a:spcPts val="300"/>
              </a:spcAft>
              <a:buNone/>
            </a:pPr>
            <a:r>
              <a:rPr lang="en-US" sz="1550" b="1" dirty="0">
                <a:solidFill>
                  <a:srgbClr val="121A3C"/>
                </a:solidFill>
                <a:latin typeface="Calibri" pitchFamily="34" charset="0"/>
                <a:ea typeface="Calibri" pitchFamily="34" charset="-122"/>
                <a:cs typeface="Calibri" pitchFamily="34" charset="-120"/>
              </a:rPr>
              <a:t>Cloud-Native</a:t>
            </a:r>
            <a:endParaRPr lang="en-US" sz="1550" dirty="0"/>
          </a:p>
          <a:p>
            <a:pPr indent="0" marL="0">
              <a:lnSpc>
                <a:spcPct val="115000"/>
              </a:lnSpc>
              <a:buNone/>
            </a:pPr>
            <a:r>
              <a:rPr lang="en-US" sz="1200" i="1" dirty="0">
                <a:solidFill>
                  <a:srgbClr val="5B6478"/>
                </a:solidFill>
                <a:latin typeface="Calibri" pitchFamily="34" charset="0"/>
                <a:ea typeface="Calibri" pitchFamily="34" charset="-122"/>
                <a:cs typeface="Calibri" pitchFamily="34" charset="-120"/>
              </a:rPr>
              <a:t>Systems needed elastic, resilient infrastructure</a:t>
            </a:r>
            <a:endParaRPr lang="en-US" sz="1550" dirty="0"/>
          </a:p>
        </p:txBody>
      </p:sp>
      <p:sp>
        <p:nvSpPr>
          <p:cNvPr id="24" name="Shape 22"/>
          <p:cNvSpPr/>
          <p:nvPr/>
        </p:nvSpPr>
        <p:spPr>
          <a:xfrm>
            <a:off x="6409944" y="4471416"/>
            <a:ext cx="292608" cy="292608"/>
          </a:xfrm>
          <a:prstGeom prst="ellipse">
            <a:avLst/>
          </a:prstGeom>
          <a:solidFill>
            <a:srgbClr val="FF7A45"/>
          </a:solidFill>
          <a:ln w="19050">
            <a:solidFill>
              <a:srgbClr val="FFFFFF"/>
            </a:solidFill>
            <a:prstDash val="solid"/>
          </a:ln>
        </p:spPr>
      </p:sp>
      <p:sp>
        <p:nvSpPr>
          <p:cNvPr id="25" name="Text 23"/>
          <p:cNvSpPr/>
          <p:nvPr/>
        </p:nvSpPr>
        <p:spPr>
          <a:xfrm>
            <a:off x="6409944" y="4471416"/>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26" name="Text 24"/>
          <p:cNvSpPr/>
          <p:nvPr/>
        </p:nvSpPr>
        <p:spPr>
          <a:xfrm>
            <a:off x="6922008" y="4087368"/>
            <a:ext cx="4718304" cy="1060704"/>
          </a:xfrm>
          <a:prstGeom prst="rect">
            <a:avLst/>
          </a:prstGeom>
          <a:noFill/>
          <a:ln/>
        </p:spPr>
        <p:txBody>
          <a:bodyPr wrap="square" lIns="0" tIns="0" rIns="0" bIns="0" rtlCol="0" anchor="ctr"/>
          <a:lstStyle/>
          <a:p>
            <a:pPr indent="0" marL="0">
              <a:lnSpc>
                <a:spcPct val="115000"/>
              </a:lnSpc>
              <a:spcAft>
                <a:spcPts val="300"/>
              </a:spcAft>
              <a:buNone/>
            </a:pPr>
            <a:r>
              <a:rPr lang="en-US" sz="1550" b="1" dirty="0">
                <a:solidFill>
                  <a:srgbClr val="121A3C"/>
                </a:solidFill>
                <a:latin typeface="Calibri" pitchFamily="34" charset="0"/>
                <a:ea typeface="Calibri" pitchFamily="34" charset="-122"/>
                <a:cs typeface="Calibri" pitchFamily="34" charset="-120"/>
              </a:rPr>
              <a:t>AI-Assisted Development</a:t>
            </a:r>
            <a:endParaRPr lang="en-US" sz="1550" dirty="0"/>
          </a:p>
          <a:p>
            <a:pPr indent="0" marL="0">
              <a:lnSpc>
                <a:spcPct val="115000"/>
              </a:lnSpc>
              <a:buNone/>
            </a:pPr>
            <a:r>
              <a:rPr lang="en-US" sz="1200" i="1" dirty="0">
                <a:solidFill>
                  <a:srgbClr val="5B6478"/>
                </a:solidFill>
                <a:latin typeface="Calibri" pitchFamily="34" charset="0"/>
                <a:ea typeface="Calibri" pitchFamily="34" charset="-122"/>
                <a:cs typeface="Calibri" pitchFamily="34" charset="-120"/>
              </a:rPr>
              <a:t>AI began augmenting everyday engineering work</a:t>
            </a:r>
            <a:endParaRPr lang="en-US" sz="1550" dirty="0"/>
          </a:p>
        </p:txBody>
      </p:sp>
      <p:sp>
        <p:nvSpPr>
          <p:cNvPr id="27" name="Shape 25"/>
          <p:cNvSpPr/>
          <p:nvPr/>
        </p:nvSpPr>
        <p:spPr>
          <a:xfrm>
            <a:off x="6409944" y="5586984"/>
            <a:ext cx="292608" cy="292608"/>
          </a:xfrm>
          <a:prstGeom prst="ellipse">
            <a:avLst/>
          </a:prstGeom>
          <a:solidFill>
            <a:srgbClr val="FF7A45"/>
          </a:solidFill>
          <a:ln w="19050">
            <a:solidFill>
              <a:srgbClr val="FFFFFF"/>
            </a:solidFill>
            <a:prstDash val="solid"/>
          </a:ln>
        </p:spPr>
      </p:sp>
      <p:sp>
        <p:nvSpPr>
          <p:cNvPr id="28" name="Text 26"/>
          <p:cNvSpPr/>
          <p:nvPr/>
        </p:nvSpPr>
        <p:spPr>
          <a:xfrm>
            <a:off x="6409944" y="558698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29" name="Text 27"/>
          <p:cNvSpPr/>
          <p:nvPr/>
        </p:nvSpPr>
        <p:spPr>
          <a:xfrm>
            <a:off x="6922008" y="5202936"/>
            <a:ext cx="4718304" cy="1060704"/>
          </a:xfrm>
          <a:prstGeom prst="rect">
            <a:avLst/>
          </a:prstGeom>
          <a:noFill/>
          <a:ln/>
        </p:spPr>
        <p:txBody>
          <a:bodyPr wrap="square" lIns="0" tIns="0" rIns="0" bIns="0" rtlCol="0" anchor="ctr"/>
          <a:lstStyle/>
          <a:p>
            <a:pPr indent="0" marL="0">
              <a:lnSpc>
                <a:spcPct val="115000"/>
              </a:lnSpc>
              <a:spcAft>
                <a:spcPts val="300"/>
              </a:spcAft>
              <a:buNone/>
            </a:pPr>
            <a:r>
              <a:rPr lang="en-US" sz="1550" b="1" dirty="0">
                <a:solidFill>
                  <a:srgbClr val="121A3C"/>
                </a:solidFill>
                <a:latin typeface="Calibri" pitchFamily="34" charset="0"/>
                <a:ea typeface="Calibri" pitchFamily="34" charset="-122"/>
                <a:cs typeface="Calibri" pitchFamily="34" charset="-120"/>
              </a:rPr>
              <a:t>AI-Native Engineering</a:t>
            </a:r>
            <a:endParaRPr lang="en-US" sz="1550" dirty="0"/>
          </a:p>
          <a:p>
            <a:pPr indent="0" marL="0">
              <a:lnSpc>
                <a:spcPct val="115000"/>
              </a:lnSpc>
              <a:buNone/>
            </a:pPr>
            <a:r>
              <a:rPr lang="en-US" sz="1200" i="1" dirty="0">
                <a:solidFill>
                  <a:srgbClr val="5B6478"/>
                </a:solidFill>
                <a:latin typeface="Calibri" pitchFamily="34" charset="0"/>
                <a:ea typeface="Calibri" pitchFamily="34" charset="-122"/>
                <a:cs typeface="Calibri" pitchFamily="34" charset="-120"/>
              </a:rPr>
              <a:t>AI becomes core to how software is built</a:t>
            </a:r>
            <a:endParaRPr lang="en-US" sz="1550" dirty="0"/>
          </a:p>
        </p:txBody>
      </p:sp>
      <p:sp>
        <p:nvSpPr>
          <p:cNvPr id="30" name="Shape 28"/>
          <p:cNvSpPr/>
          <p:nvPr/>
        </p:nvSpPr>
        <p:spPr>
          <a:xfrm>
            <a:off x="5623560" y="3182112"/>
            <a:ext cx="594360" cy="640080"/>
          </a:xfrm>
          <a:prstGeom prst="roundRect">
            <a:avLst>
              <a:gd name="adj" fmla="val 53846"/>
            </a:avLst>
          </a:prstGeom>
          <a:solidFill>
            <a:srgbClr val="F7F9FC"/>
          </a:solidFill>
          <a:ln w="19050">
            <a:solidFill>
              <a:srgbClr val="C7D0DE"/>
            </a:solidFill>
            <a:prstDash val="solid"/>
          </a:ln>
        </p:spPr>
      </p:sp>
      <p:sp>
        <p:nvSpPr>
          <p:cNvPr id="31" name="Text 29"/>
          <p:cNvSpPr/>
          <p:nvPr/>
        </p:nvSpPr>
        <p:spPr>
          <a:xfrm>
            <a:off x="5623560" y="3182112"/>
            <a:ext cx="594360" cy="640080"/>
          </a:xfrm>
          <a:prstGeom prst="rect">
            <a:avLst/>
          </a:prstGeom>
          <a:noFill/>
          <a:ln/>
        </p:spPr>
        <p:txBody>
          <a:bodyPr wrap="square" lIns="0" tIns="0" rIns="0" bIns="0" rtlCol="0" anchor="ctr"/>
          <a:lstStyle/>
          <a:p>
            <a:pPr algn="ctr" indent="0" marL="0">
              <a:buNone/>
            </a:pPr>
            <a:r>
              <a:rPr lang="en-US" sz="2000" b="1" dirty="0">
                <a:solidFill>
                  <a:srgbClr val="5B6478"/>
                </a:solidFill>
                <a:latin typeface="Calibri" pitchFamily="34" charset="0"/>
                <a:ea typeface="Calibri" pitchFamily="34" charset="-122"/>
                <a:cs typeface="Calibri" pitchFamily="34" charset="-120"/>
              </a:rPr>
              <a:t>→</a:t>
            </a:r>
            <a:endParaRPr lang="en-US" sz="2000" dirty="0"/>
          </a:p>
        </p:txBody>
      </p:sp>
      <p:sp>
        <p:nvSpPr>
          <p:cNvPr id="32" name="Text 30"/>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33" name="Text 3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A3C"/>
        </a:solidFill>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FF7A45"/>
                </a:solidFill>
                <a:latin typeface="Calibri" pitchFamily="34" charset="0"/>
                <a:ea typeface="Calibri" pitchFamily="34" charset="-122"/>
                <a:cs typeface="Calibri" pitchFamily="34" charset="-120"/>
              </a:rPr>
              <a:t>APPLY WHAT YOU LEARNED</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Case Study &amp; Discussion</a:t>
            </a:r>
            <a:endParaRPr lang="en-US" sz="3000" dirty="0"/>
          </a:p>
        </p:txBody>
      </p:sp>
      <p:sp>
        <p:nvSpPr>
          <p:cNvPr id="4" name="Shape 2"/>
          <p:cNvSpPr/>
          <p:nvPr/>
        </p:nvSpPr>
        <p:spPr>
          <a:xfrm>
            <a:off x="548640" y="1371600"/>
            <a:ext cx="11091672" cy="731520"/>
          </a:xfrm>
          <a:prstGeom prst="roundRect">
            <a:avLst>
              <a:gd name="adj" fmla="val 8750"/>
            </a:avLst>
          </a:prstGeom>
          <a:solidFill>
            <a:srgbClr val="1B2557"/>
          </a:solidFill>
          <a:ln w="12700">
            <a:solidFill>
              <a:srgbClr val="333F7A"/>
            </a:solidFill>
            <a:prstDash val="solid"/>
          </a:ln>
        </p:spPr>
      </p:sp>
      <p:sp>
        <p:nvSpPr>
          <p:cNvPr id="5" name="Shape 3"/>
          <p:cNvSpPr/>
          <p:nvPr/>
        </p:nvSpPr>
        <p:spPr>
          <a:xfrm>
            <a:off x="749808" y="1481328"/>
            <a:ext cx="512064" cy="512064"/>
          </a:xfrm>
          <a:prstGeom prst="ellipse">
            <a:avLst/>
          </a:prstGeom>
          <a:solidFill>
            <a:srgbClr val="FF7A45"/>
          </a:solidFill>
          <a:ln/>
        </p:spPr>
      </p:sp>
      <p:pic>
        <p:nvPicPr>
          <p:cNvPr id="6" name="Image 0" descr="/home/claude/mse_deck/icons/utensils.png">    </p:cNvPr>
          <p:cNvPicPr>
            <a:picLocks noChangeAspect="1"/>
          </p:cNvPicPr>
          <p:nvPr/>
        </p:nvPicPr>
        <p:blipFill>
          <a:blip r:embed="rId1"/>
          <a:stretch>
            <a:fillRect/>
          </a:stretch>
        </p:blipFill>
        <p:spPr>
          <a:xfrm>
            <a:off x="862462" y="1593982"/>
            <a:ext cx="286756" cy="286756"/>
          </a:xfrm>
          <a:prstGeom prst="rect">
            <a:avLst/>
          </a:prstGeom>
        </p:spPr>
      </p:pic>
      <p:sp>
        <p:nvSpPr>
          <p:cNvPr id="7" name="Text 4"/>
          <p:cNvSpPr/>
          <p:nvPr/>
        </p:nvSpPr>
        <p:spPr>
          <a:xfrm>
            <a:off x="1444752" y="1371600"/>
            <a:ext cx="9966960" cy="731520"/>
          </a:xfrm>
          <a:prstGeom prst="rect">
            <a:avLst/>
          </a:prstGeom>
          <a:noFill/>
          <a:ln/>
        </p:spPr>
        <p:txBody>
          <a:bodyPr wrap="square" lIns="0" tIns="0" rIns="0" bIns="0" rtlCol="0" anchor="ctr"/>
          <a:lstStyle/>
          <a:p>
            <a:pPr indent="0" marL="0">
              <a:buNone/>
            </a:pPr>
            <a:r>
              <a:rPr lang="en-US" sz="1450" b="1" dirty="0">
                <a:solidFill>
                  <a:srgbClr val="FF7A45"/>
                </a:solidFill>
                <a:latin typeface="Calibri" pitchFamily="34" charset="0"/>
                <a:ea typeface="Calibri" pitchFamily="34" charset="-122"/>
                <a:cs typeface="Calibri" pitchFamily="34" charset="-120"/>
              </a:rPr>
              <a:t>Case: </a:t>
            </a:r>
            <a:pPr indent="0" marL="0">
              <a:buNone/>
            </a:pPr>
            <a:r>
              <a:rPr lang="en-US" sz="1450" dirty="0">
                <a:solidFill>
                  <a:srgbClr val="FFFFFF"/>
                </a:solidFill>
                <a:latin typeface="Calibri" pitchFamily="34" charset="0"/>
                <a:ea typeface="Calibri" pitchFamily="34" charset="-122"/>
                <a:cs typeface="Calibri" pitchFamily="34" charset="-120"/>
              </a:rPr>
              <a:t>Building a Food Delivery Application</a:t>
            </a:r>
            <a:endParaRPr lang="en-US" sz="1450" dirty="0"/>
          </a:p>
        </p:txBody>
      </p:sp>
      <p:sp>
        <p:nvSpPr>
          <p:cNvPr id="8" name="Text 5"/>
          <p:cNvSpPr/>
          <p:nvPr/>
        </p:nvSpPr>
        <p:spPr>
          <a:xfrm>
            <a:off x="548640" y="2286000"/>
            <a:ext cx="5486400" cy="274320"/>
          </a:xfrm>
          <a:prstGeom prst="rect">
            <a:avLst/>
          </a:prstGeom>
          <a:noFill/>
          <a:ln/>
        </p:spPr>
        <p:txBody>
          <a:bodyPr wrap="square" lIns="0" tIns="0" rIns="0" bIns="0" rtlCol="0" anchor="ctr"/>
          <a:lstStyle/>
          <a:p>
            <a:pPr indent="0" marL="0">
              <a:buNone/>
            </a:pPr>
            <a:r>
              <a:rPr lang="en-US" sz="1200" b="1" spc="120" kern="0" dirty="0">
                <a:solidFill>
                  <a:srgbClr val="FF7A45"/>
                </a:solidFill>
                <a:latin typeface="Calibri" pitchFamily="34" charset="0"/>
                <a:ea typeface="Calibri" pitchFamily="34" charset="-122"/>
                <a:cs typeface="Calibri" pitchFamily="34" charset="-120"/>
              </a:rPr>
              <a:t>FIVE ANGLES ON ONE APP</a:t>
            </a:r>
            <a:endParaRPr lang="en-US" sz="1200" dirty="0"/>
          </a:p>
        </p:txBody>
      </p:sp>
      <p:sp>
        <p:nvSpPr>
          <p:cNvPr id="9" name="Shape 6"/>
          <p:cNvSpPr/>
          <p:nvPr/>
        </p:nvSpPr>
        <p:spPr>
          <a:xfrm>
            <a:off x="548640" y="2606040"/>
            <a:ext cx="1188720" cy="365760"/>
          </a:xfrm>
          <a:prstGeom prst="roundRect">
            <a:avLst>
              <a:gd name="adj" fmla="val 15000"/>
            </a:avLst>
          </a:prstGeom>
          <a:solidFill>
            <a:srgbClr val="18A0C9"/>
          </a:solidFill>
          <a:ln/>
        </p:spPr>
      </p:sp>
      <p:sp>
        <p:nvSpPr>
          <p:cNvPr id="10" name="Text 7"/>
          <p:cNvSpPr/>
          <p:nvPr/>
        </p:nvSpPr>
        <p:spPr>
          <a:xfrm>
            <a:off x="548640" y="2606040"/>
            <a:ext cx="11887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Agile</a:t>
            </a:r>
            <a:endParaRPr lang="en-US" sz="1050" dirty="0"/>
          </a:p>
        </p:txBody>
      </p:sp>
      <p:sp>
        <p:nvSpPr>
          <p:cNvPr id="11" name="Text 8"/>
          <p:cNvSpPr/>
          <p:nvPr/>
        </p:nvSpPr>
        <p:spPr>
          <a:xfrm>
            <a:off x="1874520" y="2606040"/>
            <a:ext cx="4206240" cy="365760"/>
          </a:xfrm>
          <a:prstGeom prst="rect">
            <a:avLst/>
          </a:prstGeom>
          <a:noFill/>
          <a:ln/>
        </p:spPr>
        <p:txBody>
          <a:bodyPr wrap="square" lIns="0" tIns="0" rIns="0" bIns="0" rtlCol="0" anchor="ctr"/>
          <a:lstStyle/>
          <a:p>
            <a:pPr indent="0" marL="0">
              <a:buNone/>
            </a:pPr>
            <a:r>
              <a:rPr lang="en-US" sz="1150" dirty="0">
                <a:solidFill>
                  <a:srgbClr val="E4E9F2"/>
                </a:solidFill>
                <a:latin typeface="Calibri" pitchFamily="34" charset="0"/>
                <a:ea typeface="Calibri" pitchFamily="34" charset="-122"/>
                <a:cs typeface="Calibri" pitchFamily="34" charset="-120"/>
              </a:rPr>
              <a:t>Iterative delivery of menu, cart, tracking</a:t>
            </a:r>
            <a:endParaRPr lang="en-US" sz="1150" dirty="0"/>
          </a:p>
        </p:txBody>
      </p:sp>
      <p:sp>
        <p:nvSpPr>
          <p:cNvPr id="12" name="Shape 9"/>
          <p:cNvSpPr/>
          <p:nvPr/>
        </p:nvSpPr>
        <p:spPr>
          <a:xfrm>
            <a:off x="548640" y="3044952"/>
            <a:ext cx="1188720" cy="365760"/>
          </a:xfrm>
          <a:prstGeom prst="roundRect">
            <a:avLst>
              <a:gd name="adj" fmla="val 15000"/>
            </a:avLst>
          </a:prstGeom>
          <a:solidFill>
            <a:srgbClr val="18A0C9"/>
          </a:solidFill>
          <a:ln/>
        </p:spPr>
      </p:sp>
      <p:sp>
        <p:nvSpPr>
          <p:cNvPr id="13" name="Text 10"/>
          <p:cNvSpPr/>
          <p:nvPr/>
        </p:nvSpPr>
        <p:spPr>
          <a:xfrm>
            <a:off x="548640" y="3044952"/>
            <a:ext cx="11887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Scrum</a:t>
            </a:r>
            <a:endParaRPr lang="en-US" sz="1050" dirty="0"/>
          </a:p>
        </p:txBody>
      </p:sp>
      <p:sp>
        <p:nvSpPr>
          <p:cNvPr id="14" name="Text 11"/>
          <p:cNvSpPr/>
          <p:nvPr/>
        </p:nvSpPr>
        <p:spPr>
          <a:xfrm>
            <a:off x="1874520" y="3044952"/>
            <a:ext cx="4206240" cy="365760"/>
          </a:xfrm>
          <a:prstGeom prst="rect">
            <a:avLst/>
          </a:prstGeom>
          <a:noFill/>
          <a:ln/>
        </p:spPr>
        <p:txBody>
          <a:bodyPr wrap="square" lIns="0" tIns="0" rIns="0" bIns="0" rtlCol="0" anchor="ctr"/>
          <a:lstStyle/>
          <a:p>
            <a:pPr indent="0" marL="0">
              <a:buNone/>
            </a:pPr>
            <a:r>
              <a:rPr lang="en-US" sz="1150" dirty="0">
                <a:solidFill>
                  <a:srgbClr val="E4E9F2"/>
                </a:solidFill>
                <a:latin typeface="Calibri" pitchFamily="34" charset="0"/>
                <a:ea typeface="Calibri" pitchFamily="34" charset="-122"/>
                <a:cs typeface="Calibri" pitchFamily="34" charset="-120"/>
              </a:rPr>
              <a:t>Cross-functional squads own key features</a:t>
            </a:r>
            <a:endParaRPr lang="en-US" sz="1150" dirty="0"/>
          </a:p>
        </p:txBody>
      </p:sp>
      <p:sp>
        <p:nvSpPr>
          <p:cNvPr id="15" name="Shape 12"/>
          <p:cNvSpPr/>
          <p:nvPr/>
        </p:nvSpPr>
        <p:spPr>
          <a:xfrm>
            <a:off x="548640" y="3483864"/>
            <a:ext cx="1188720" cy="365760"/>
          </a:xfrm>
          <a:prstGeom prst="roundRect">
            <a:avLst>
              <a:gd name="adj" fmla="val 15000"/>
            </a:avLst>
          </a:prstGeom>
          <a:solidFill>
            <a:srgbClr val="18A0C9"/>
          </a:solidFill>
          <a:ln/>
        </p:spPr>
      </p:sp>
      <p:sp>
        <p:nvSpPr>
          <p:cNvPr id="16" name="Text 13"/>
          <p:cNvSpPr/>
          <p:nvPr/>
        </p:nvSpPr>
        <p:spPr>
          <a:xfrm>
            <a:off x="548640" y="3483864"/>
            <a:ext cx="11887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DevOps</a:t>
            </a:r>
            <a:endParaRPr lang="en-US" sz="1050" dirty="0"/>
          </a:p>
        </p:txBody>
      </p:sp>
      <p:sp>
        <p:nvSpPr>
          <p:cNvPr id="17" name="Text 14"/>
          <p:cNvSpPr/>
          <p:nvPr/>
        </p:nvSpPr>
        <p:spPr>
          <a:xfrm>
            <a:off x="1874520" y="3483864"/>
            <a:ext cx="4206240" cy="365760"/>
          </a:xfrm>
          <a:prstGeom prst="rect">
            <a:avLst/>
          </a:prstGeom>
          <a:noFill/>
          <a:ln/>
        </p:spPr>
        <p:txBody>
          <a:bodyPr wrap="square" lIns="0" tIns="0" rIns="0" bIns="0" rtlCol="0" anchor="ctr"/>
          <a:lstStyle/>
          <a:p>
            <a:pPr indent="0" marL="0">
              <a:buNone/>
            </a:pPr>
            <a:r>
              <a:rPr lang="en-US" sz="1150" dirty="0">
                <a:solidFill>
                  <a:srgbClr val="E4E9F2"/>
                </a:solidFill>
                <a:latin typeface="Calibri" pitchFamily="34" charset="0"/>
                <a:ea typeface="Calibri" pitchFamily="34" charset="-122"/>
                <a:cs typeface="Calibri" pitchFamily="34" charset="-120"/>
              </a:rPr>
              <a:t>Automated pipeline deploys multiple times daily</a:t>
            </a:r>
            <a:endParaRPr lang="en-US" sz="1150" dirty="0"/>
          </a:p>
        </p:txBody>
      </p:sp>
      <p:sp>
        <p:nvSpPr>
          <p:cNvPr id="18" name="Shape 15"/>
          <p:cNvSpPr/>
          <p:nvPr/>
        </p:nvSpPr>
        <p:spPr>
          <a:xfrm>
            <a:off x="548640" y="3922776"/>
            <a:ext cx="1188720" cy="365760"/>
          </a:xfrm>
          <a:prstGeom prst="roundRect">
            <a:avLst>
              <a:gd name="adj" fmla="val 15000"/>
            </a:avLst>
          </a:prstGeom>
          <a:solidFill>
            <a:srgbClr val="18A0C9"/>
          </a:solidFill>
          <a:ln/>
        </p:spPr>
      </p:sp>
      <p:sp>
        <p:nvSpPr>
          <p:cNvPr id="19" name="Text 16"/>
          <p:cNvSpPr/>
          <p:nvPr/>
        </p:nvSpPr>
        <p:spPr>
          <a:xfrm>
            <a:off x="548640" y="3922776"/>
            <a:ext cx="11887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Cloud</a:t>
            </a:r>
            <a:endParaRPr lang="en-US" sz="1050" dirty="0"/>
          </a:p>
        </p:txBody>
      </p:sp>
      <p:sp>
        <p:nvSpPr>
          <p:cNvPr id="20" name="Text 17"/>
          <p:cNvSpPr/>
          <p:nvPr/>
        </p:nvSpPr>
        <p:spPr>
          <a:xfrm>
            <a:off x="1874520" y="3922776"/>
            <a:ext cx="4206240" cy="365760"/>
          </a:xfrm>
          <a:prstGeom prst="rect">
            <a:avLst/>
          </a:prstGeom>
          <a:noFill/>
          <a:ln/>
        </p:spPr>
        <p:txBody>
          <a:bodyPr wrap="square" lIns="0" tIns="0" rIns="0" bIns="0" rtlCol="0" anchor="ctr"/>
          <a:lstStyle/>
          <a:p>
            <a:pPr indent="0" marL="0">
              <a:buNone/>
            </a:pPr>
            <a:r>
              <a:rPr lang="en-US" sz="1150" dirty="0">
                <a:solidFill>
                  <a:srgbClr val="E4E9F2"/>
                </a:solidFill>
                <a:latin typeface="Calibri" pitchFamily="34" charset="0"/>
                <a:ea typeface="Calibri" pitchFamily="34" charset="-122"/>
                <a:cs typeface="Calibri" pitchFamily="34" charset="-120"/>
              </a:rPr>
              <a:t>Auto-scales for lunch and dinner peaks</a:t>
            </a:r>
            <a:endParaRPr lang="en-US" sz="1150" dirty="0"/>
          </a:p>
        </p:txBody>
      </p:sp>
      <p:sp>
        <p:nvSpPr>
          <p:cNvPr id="21" name="Shape 18"/>
          <p:cNvSpPr/>
          <p:nvPr/>
        </p:nvSpPr>
        <p:spPr>
          <a:xfrm>
            <a:off x="548640" y="4361688"/>
            <a:ext cx="1188720" cy="365760"/>
          </a:xfrm>
          <a:prstGeom prst="roundRect">
            <a:avLst>
              <a:gd name="adj" fmla="val 15000"/>
            </a:avLst>
          </a:prstGeom>
          <a:solidFill>
            <a:srgbClr val="18A0C9"/>
          </a:solidFill>
          <a:ln/>
        </p:spPr>
      </p:sp>
      <p:sp>
        <p:nvSpPr>
          <p:cNvPr id="22" name="Text 19"/>
          <p:cNvSpPr/>
          <p:nvPr/>
        </p:nvSpPr>
        <p:spPr>
          <a:xfrm>
            <a:off x="548640" y="4361688"/>
            <a:ext cx="11887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a:t>
            </a:r>
            <a:endParaRPr lang="en-US" sz="1050" dirty="0"/>
          </a:p>
        </p:txBody>
      </p:sp>
      <p:sp>
        <p:nvSpPr>
          <p:cNvPr id="23" name="Text 20"/>
          <p:cNvSpPr/>
          <p:nvPr/>
        </p:nvSpPr>
        <p:spPr>
          <a:xfrm>
            <a:off x="1874520" y="4361688"/>
            <a:ext cx="4206240" cy="365760"/>
          </a:xfrm>
          <a:prstGeom prst="rect">
            <a:avLst/>
          </a:prstGeom>
          <a:noFill/>
          <a:ln/>
        </p:spPr>
        <p:txBody>
          <a:bodyPr wrap="square" lIns="0" tIns="0" rIns="0" bIns="0" rtlCol="0" anchor="ctr"/>
          <a:lstStyle/>
          <a:p>
            <a:pPr indent="0" marL="0">
              <a:buNone/>
            </a:pPr>
            <a:r>
              <a:rPr lang="en-US" sz="1150" dirty="0">
                <a:solidFill>
                  <a:srgbClr val="E4E9F2"/>
                </a:solidFill>
                <a:latin typeface="Calibri" pitchFamily="34" charset="0"/>
                <a:ea typeface="Calibri" pitchFamily="34" charset="-122"/>
                <a:cs typeface="Calibri" pitchFamily="34" charset="-120"/>
              </a:rPr>
              <a:t>Chatbots, recommendations, demand forecasting</a:t>
            </a:r>
            <a:endParaRPr lang="en-US" sz="1150" dirty="0"/>
          </a:p>
        </p:txBody>
      </p:sp>
      <p:sp>
        <p:nvSpPr>
          <p:cNvPr id="24" name="Text 21"/>
          <p:cNvSpPr/>
          <p:nvPr/>
        </p:nvSpPr>
        <p:spPr>
          <a:xfrm>
            <a:off x="548640" y="4910328"/>
            <a:ext cx="5486400" cy="274320"/>
          </a:xfrm>
          <a:prstGeom prst="rect">
            <a:avLst/>
          </a:prstGeom>
          <a:noFill/>
          <a:ln/>
        </p:spPr>
        <p:txBody>
          <a:bodyPr wrap="square" lIns="0" tIns="0" rIns="0" bIns="0" rtlCol="0" anchor="ctr"/>
          <a:lstStyle/>
          <a:p>
            <a:pPr indent="0" marL="0">
              <a:buNone/>
            </a:pPr>
            <a:r>
              <a:rPr lang="en-US" sz="1200" b="1" spc="120" kern="0" dirty="0">
                <a:solidFill>
                  <a:srgbClr val="FF7A45"/>
                </a:solidFill>
                <a:latin typeface="Calibri" pitchFamily="34" charset="0"/>
                <a:ea typeface="Calibri" pitchFamily="34" charset="-122"/>
                <a:cs typeface="Calibri" pitchFamily="34" charset="-120"/>
              </a:rPr>
              <a:t>KEY TAKEAWAYS</a:t>
            </a:r>
            <a:endParaRPr lang="en-US" sz="1200" dirty="0"/>
          </a:p>
        </p:txBody>
      </p:sp>
      <p:sp>
        <p:nvSpPr>
          <p:cNvPr id="25" name="Text 22"/>
          <p:cNvSpPr/>
          <p:nvPr/>
        </p:nvSpPr>
        <p:spPr>
          <a:xfrm>
            <a:off x="548640" y="5221224"/>
            <a:ext cx="5943600" cy="1371600"/>
          </a:xfrm>
          <a:prstGeom prst="rect">
            <a:avLst/>
          </a:prstGeom>
          <a:noFill/>
          <a:ln/>
        </p:spPr>
        <p:txBody>
          <a:bodyPr wrap="square" lIns="0" tIns="0" rIns="0" bIns="0" rtlCol="0" anchor="t"/>
          <a:lstStyle/>
          <a:p>
            <a:pPr marL="228600" indent="-228600">
              <a:spcAft>
                <a:spcPts val="800"/>
              </a:spcAft>
              <a:buSzPct val="100000"/>
              <a:buChar char="▪"/>
            </a:pPr>
            <a:r>
              <a:rPr lang="en-US" sz="1250" dirty="0">
                <a:solidFill>
                  <a:srgbClr val="E4E9F2"/>
                </a:solidFill>
                <a:latin typeface="Calibri" pitchFamily="34" charset="0"/>
                <a:ea typeface="Calibri" pitchFamily="34" charset="-122"/>
                <a:cs typeface="Calibri" pitchFamily="34" charset="-120"/>
              </a:rPr>
              <a:t>Every model responds to a real engineering pressure</a:t>
            </a:r>
            <a:endParaRPr lang="en-US" sz="1250" dirty="0"/>
          </a:p>
          <a:p>
            <a:pPr marL="228600" indent="-228600">
              <a:spcAft>
                <a:spcPts val="800"/>
              </a:spcAft>
              <a:buSzPct val="100000"/>
              <a:buChar char="▪"/>
            </a:pPr>
            <a:r>
              <a:rPr lang="en-US" sz="1250" dirty="0">
                <a:solidFill>
                  <a:srgbClr val="E4E9F2"/>
                </a:solidFill>
                <a:latin typeface="Calibri" pitchFamily="34" charset="0"/>
                <a:ea typeface="Calibri" pitchFamily="34" charset="-122"/>
                <a:cs typeface="Calibri" pitchFamily="34" charset="-120"/>
              </a:rPr>
              <a:t>Modern teams blend Agile, DevOps, cloud, and AI</a:t>
            </a:r>
            <a:endParaRPr lang="en-US" sz="1250" dirty="0"/>
          </a:p>
          <a:p>
            <a:pPr marL="228600" indent="-228600">
              <a:spcAft>
                <a:spcPts val="800"/>
              </a:spcAft>
              <a:buSzPct val="100000"/>
              <a:buChar char="▪"/>
            </a:pPr>
            <a:r>
              <a:rPr lang="en-US" sz="1250" dirty="0">
                <a:solidFill>
                  <a:srgbClr val="E4E9F2"/>
                </a:solidFill>
                <a:latin typeface="Calibri" pitchFamily="34" charset="0"/>
                <a:ea typeface="Calibri" pitchFamily="34" charset="-122"/>
                <a:cs typeface="Calibri" pitchFamily="34" charset="-120"/>
              </a:rPr>
              <a:t>AI augments engineers; judgment stays human</a:t>
            </a:r>
            <a:endParaRPr lang="en-US" sz="1250" dirty="0"/>
          </a:p>
        </p:txBody>
      </p:sp>
      <p:sp>
        <p:nvSpPr>
          <p:cNvPr id="26" name="Shape 23"/>
          <p:cNvSpPr/>
          <p:nvPr/>
        </p:nvSpPr>
        <p:spPr>
          <a:xfrm>
            <a:off x="6903720" y="2286000"/>
            <a:ext cx="4736592" cy="3977640"/>
          </a:xfrm>
          <a:prstGeom prst="roundRect">
            <a:avLst>
              <a:gd name="adj" fmla="val 1839"/>
            </a:avLst>
          </a:prstGeom>
          <a:solidFill>
            <a:srgbClr val="1B2557"/>
          </a:solidFill>
          <a:ln w="12700">
            <a:solidFill>
              <a:srgbClr val="333F7A"/>
            </a:solidFill>
            <a:prstDash val="solid"/>
          </a:ln>
        </p:spPr>
      </p:sp>
      <p:sp>
        <p:nvSpPr>
          <p:cNvPr id="27" name="Text 24"/>
          <p:cNvSpPr/>
          <p:nvPr/>
        </p:nvSpPr>
        <p:spPr>
          <a:xfrm>
            <a:off x="7132320" y="2468880"/>
            <a:ext cx="4297680" cy="274320"/>
          </a:xfrm>
          <a:prstGeom prst="rect">
            <a:avLst/>
          </a:prstGeom>
          <a:noFill/>
          <a:ln/>
        </p:spPr>
        <p:txBody>
          <a:bodyPr wrap="square" lIns="0" tIns="0" rIns="0" bIns="0" rtlCol="0" anchor="ctr"/>
          <a:lstStyle/>
          <a:p>
            <a:pPr indent="0" marL="0">
              <a:buNone/>
            </a:pPr>
            <a:r>
              <a:rPr lang="en-US" sz="1200" b="1" spc="120" kern="0" dirty="0">
                <a:solidFill>
                  <a:srgbClr val="FF7A45"/>
                </a:solidFill>
                <a:latin typeface="Calibri" pitchFamily="34" charset="0"/>
                <a:ea typeface="Calibri" pitchFamily="34" charset="-122"/>
                <a:cs typeface="Calibri" pitchFamily="34" charset="-120"/>
              </a:rPr>
              <a:t>DISCUSS IN GROUPS</a:t>
            </a:r>
            <a:endParaRPr lang="en-US" sz="1200" dirty="0"/>
          </a:p>
        </p:txBody>
      </p:sp>
      <p:sp>
        <p:nvSpPr>
          <p:cNvPr id="28" name="Text 25"/>
          <p:cNvSpPr/>
          <p:nvPr/>
        </p:nvSpPr>
        <p:spPr>
          <a:xfrm>
            <a:off x="7132320" y="2834640"/>
            <a:ext cx="4297680" cy="3291840"/>
          </a:xfrm>
          <a:prstGeom prst="rect">
            <a:avLst/>
          </a:prstGeom>
          <a:noFill/>
          <a:ln/>
        </p:spPr>
        <p:txBody>
          <a:bodyPr wrap="square" lIns="0" tIns="0" rIns="0" bIns="0" rtlCol="0" anchor="t"/>
          <a:lstStyle/>
          <a:p>
            <a:pPr indent="0" marL="0">
              <a:spcAft>
                <a:spcPts val="1600"/>
              </a:spcAft>
              <a:buNone/>
            </a:pPr>
            <a:r>
              <a:rPr lang="en-US" sz="1300" dirty="0">
                <a:solidFill>
                  <a:srgbClr val="FFFFFF"/>
                </a:solidFill>
                <a:latin typeface="Calibri" pitchFamily="34" charset="0"/>
                <a:ea typeface="Calibri" pitchFamily="34" charset="-122"/>
                <a:cs typeface="Calibri" pitchFamily="34" charset="-120"/>
              </a:rPr>
              <a:t>1.  Which features benefit most from iterative Agile delivery?</a:t>
            </a:r>
            <a:endParaRPr lang="en-US" sz="1300" dirty="0"/>
          </a:p>
          <a:p>
            <a:pPr indent="0" marL="0">
              <a:spcAft>
                <a:spcPts val="1600"/>
              </a:spcAft>
              <a:buNone/>
            </a:pPr>
            <a:r>
              <a:rPr lang="en-US" sz="1300" dirty="0">
                <a:solidFill>
                  <a:srgbClr val="FFFFFF"/>
                </a:solidFill>
                <a:latin typeface="Calibri" pitchFamily="34" charset="0"/>
                <a:ea typeface="Calibri" pitchFamily="34" charset="-122"/>
                <a:cs typeface="Calibri" pitchFamily="34" charset="-120"/>
              </a:rPr>
              <a:t>2.  How should Scrum teams be split across this app?</a:t>
            </a:r>
            <a:endParaRPr lang="en-US" sz="1300" dirty="0"/>
          </a:p>
          <a:p>
            <a:pPr indent="0" marL="0">
              <a:spcAft>
                <a:spcPts val="1600"/>
              </a:spcAft>
              <a:buNone/>
            </a:pPr>
            <a:r>
              <a:rPr lang="en-US" sz="1300" dirty="0">
                <a:solidFill>
                  <a:srgbClr val="FFFFFF"/>
                </a:solidFill>
                <a:latin typeface="Calibri" pitchFamily="34" charset="0"/>
                <a:ea typeface="Calibri" pitchFamily="34" charset="-122"/>
                <a:cs typeface="Calibri" pitchFamily="34" charset="-120"/>
              </a:rPr>
              <a:t>3.  What should the DevOps pipeline automate first?</a:t>
            </a:r>
            <a:endParaRPr lang="en-US" sz="1300" dirty="0"/>
          </a:p>
          <a:p>
            <a:pPr indent="0" marL="0">
              <a:spcAft>
                <a:spcPts val="1600"/>
              </a:spcAft>
              <a:buNone/>
            </a:pPr>
            <a:r>
              <a:rPr lang="en-US" sz="1300" dirty="0">
                <a:solidFill>
                  <a:srgbClr val="FFFFFF"/>
                </a:solidFill>
                <a:latin typeface="Calibri" pitchFamily="34" charset="0"/>
                <a:ea typeface="Calibri" pitchFamily="34" charset="-122"/>
                <a:cs typeface="Calibri" pitchFamily="34" charset="-120"/>
              </a:rPr>
              <a:t>4.  Which components most need cloud elasticity?</a:t>
            </a:r>
            <a:endParaRPr lang="en-US" sz="1300" dirty="0"/>
          </a:p>
          <a:p>
            <a:pPr indent="0" marL="0">
              <a:spcAft>
                <a:spcPts val="1600"/>
              </a:spcAft>
              <a:buNone/>
            </a:pPr>
            <a:r>
              <a:rPr lang="en-US" sz="1300" dirty="0">
                <a:solidFill>
                  <a:srgbClr val="FFFFFF"/>
                </a:solidFill>
                <a:latin typeface="Calibri" pitchFamily="34" charset="0"/>
                <a:ea typeface="Calibri" pitchFamily="34" charset="-122"/>
                <a:cs typeface="Calibri" pitchFamily="34" charset="-120"/>
              </a:rPr>
              <a:t>5.  Where could AI add value without replacing judgment?</a:t>
            </a:r>
            <a:endParaRPr lang="en-US" sz="1300" dirty="0"/>
          </a:p>
        </p:txBody>
      </p:sp>
      <p:sp>
        <p:nvSpPr>
          <p:cNvPr id="29" name="Text 26"/>
          <p:cNvSpPr/>
          <p:nvPr/>
        </p:nvSpPr>
        <p:spPr>
          <a:xfrm>
            <a:off x="548640" y="6473952"/>
            <a:ext cx="64008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MODERN SOFTWARE ENGINEERING</a:t>
            </a:r>
            <a:endParaRPr lang="en-US" sz="900" dirty="0"/>
          </a:p>
        </p:txBody>
      </p:sp>
      <p:sp>
        <p:nvSpPr>
          <p:cNvPr id="30" name="Text 27"/>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2026-09-10T07:27:45Z</dcterms:created>
  <dcterms:modified xsi:type="dcterms:W3CDTF">2026-09-10T07:27:45Z</dcterms:modified>
</cp:coreProperties>
</file>