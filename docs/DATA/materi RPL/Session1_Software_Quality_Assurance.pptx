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iP0SUcO22g3Ohp2x6deOAkznx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0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118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692640" y="-822960"/>
            <a:ext cx="3291900" cy="32919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31520" y="1874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REKAYASA PERANGKAT LUNAK · SESSION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2286000"/>
            <a:ext cx="9601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Software Quality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Assurance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41605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AE7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FEAE7"/>
                </a:solidFill>
                <a:latin typeface="Calibri"/>
                <a:ea typeface="Calibri"/>
                <a:cs typeface="Calibri"/>
                <a:sym typeface="Calibri"/>
              </a:rPr>
              <a:t>Foundations, Practices, and the AI-Driven Future of QA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49808" y="4892040"/>
            <a:ext cx="50292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31520" y="603504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6C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C6C2"/>
                </a:solidFill>
                <a:latin typeface="Calibri"/>
                <a:ea typeface="Calibri"/>
                <a:cs typeface="Calibri"/>
                <a:sym typeface="Calibri"/>
              </a:rPr>
              <a:t>Informatics Engineering Program  ·  Academic Year 2026/2027  ·  International Class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SESSION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Learning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234440" y="1527048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Define software quality and clearly distinguish QA, QC, and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239572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48640" y="23957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234440" y="2368296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Explain established quality models: McCall’s Factors and ISO/IEC 25010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48640" y="32369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34440" y="3209544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Describe core SQA activities and the Verification vs. Validation process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4078224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48640" y="40782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234440" y="4050792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Classify software testing levels and testing types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491947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48640" y="4919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234440" y="489204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Evaluate how AI and DevOps are reshaping quality assurance in 2026 and beyond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8F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The Cost of Getting Quality Wrong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1737360"/>
            <a:ext cx="338328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FBFBC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731520" y="196596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10–100×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77240" y="2880360"/>
            <a:ext cx="2926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Cost multiplier to fix a defect after release vs. during design (Boehm’s Curve of cost escalation)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251960" y="1737360"/>
            <a:ext cx="338328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FBFBC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434840" y="196596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US$370M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480560" y="2880360"/>
            <a:ext cx="2926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Lost when Ariane 5 exploded 37 seconds after launch (1996) — caused by an unhandled integer overflow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955280" y="1737360"/>
            <a:ext cx="338328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FBFBC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138160" y="196596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US$440M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183880" y="2880360"/>
            <a:ext cx="2926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Lost by Knight Capital in 45 minutes (2012) after a flawed production software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8640" y="4800600"/>
            <a:ext cx="10789920" cy="822960"/>
          </a:xfrm>
          <a:prstGeom prst="roundRect">
            <a:avLst>
              <a:gd fmla="val 11111" name="adj"/>
            </a:avLst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22960" y="48006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Quality assurance is not a checklist item — it is risk management.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CORE CONCEPTS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What Is Software Quality?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48640" y="1508760"/>
            <a:ext cx="10789920" cy="1051560"/>
          </a:xfrm>
          <a:prstGeom prst="roundRect">
            <a:avLst>
              <a:gd fmla="val 8696" name="adj"/>
            </a:avLst>
          </a:prstGeom>
          <a:solidFill>
            <a:srgbClr val="F4FAF9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22960" y="1508760"/>
            <a:ext cx="10241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“Software quality is the degree to which a system, component, or process meets specified requirements and satisfies stakeholders’ explicit and implicit needs.” </a:t>
            </a: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— IEEE / ISO 25010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48640" y="2880360"/>
            <a:ext cx="5212080" cy="292608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48640" y="2880360"/>
            <a:ext cx="521208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548640" y="288036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Quality of Design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914400" y="3657600"/>
            <a:ext cx="4480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How well the design satisfies the stated requirements — specifications, architecture choices, and planned features.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080760" y="2880360"/>
            <a:ext cx="5212080" cy="292608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080760" y="2880360"/>
            <a:ext cx="521208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080760" y="288036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Quality of Conformance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446520" y="3657600"/>
            <a:ext cx="4480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How faithfully the implementation follows the design — coding correctness, testing thoroughness, and defect rates.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8F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QUALITY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McCall’s Quality Factors (1977)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48640" y="1645920"/>
            <a:ext cx="3383280" cy="388620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48640" y="1645920"/>
            <a:ext cx="338328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48640" y="16459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Product Operation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22960" y="2478024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1051560" y="231343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Correctness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22960" y="3044952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051560" y="28803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22960" y="361188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1051560" y="344728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22960" y="4178808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1051560" y="401421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Integrity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22960" y="4745736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051560" y="458114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Usability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251960" y="1645920"/>
            <a:ext cx="3383280" cy="388620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251960" y="1645920"/>
            <a:ext cx="3383280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251960" y="16459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Product Revision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26280" y="2478024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754880" y="231343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Maintainability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26280" y="3044952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754880" y="28803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Flexibility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26280" y="3611880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754880" y="344728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Testability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955280" y="1645920"/>
            <a:ext cx="3383280" cy="388620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955280" y="1645920"/>
            <a:ext cx="3383280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7955280" y="16459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Product Transition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8229600" y="2478024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8458200" y="231343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Portability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229600" y="3044952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8458200" y="28803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Reusability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229600" y="3611880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8458200" y="344728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Interoperability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48640" y="57150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One of the earliest and most influential software quality frameworks — still foundational to later standards such as ISO/IEC 25010.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QUALITY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ISO/IEC 25010: The Current Global Standard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" y="1600200"/>
            <a:ext cx="2514600" cy="1600200"/>
          </a:xfrm>
          <a:prstGeom prst="roundRect">
            <a:avLst>
              <a:gd fmla="val 5714" name="adj"/>
            </a:avLst>
          </a:prstGeom>
          <a:solidFill>
            <a:srgbClr val="F4FAF9"/>
          </a:solidFill>
          <a:ln cap="flat" cmpd="sng" w="22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1604772" y="1801368"/>
            <a:ext cx="402336" cy="40233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604772" y="18013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40080" y="22860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3047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3047"/>
                </a:solidFill>
                <a:latin typeface="Calibri"/>
                <a:ea typeface="Calibri"/>
                <a:cs typeface="Calibri"/>
                <a:sym typeface="Calibri"/>
              </a:rPr>
              <a:t>Suitability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264408" y="1600200"/>
            <a:ext cx="2514600" cy="1600200"/>
          </a:xfrm>
          <a:prstGeom prst="roundRect">
            <a:avLst>
              <a:gd fmla="val 5714" name="adj"/>
            </a:avLst>
          </a:prstGeom>
          <a:solidFill>
            <a:srgbClr val="F4FAF9"/>
          </a:solidFill>
          <a:ln cap="flat" cmpd="sng" w="22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320540" y="1801368"/>
            <a:ext cx="402336" cy="40233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320540" y="18013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355848" y="22860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3047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3047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980176" y="1600200"/>
            <a:ext cx="2514600" cy="1600200"/>
          </a:xfrm>
          <a:prstGeom prst="roundRect">
            <a:avLst>
              <a:gd fmla="val 5714" name="adj"/>
            </a:avLst>
          </a:prstGeom>
          <a:solidFill>
            <a:srgbClr val="F4FAF9"/>
          </a:solidFill>
          <a:ln cap="flat" cmpd="sng" w="2222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7036308" y="1801368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7036308" y="18013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071616" y="22860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3047"/>
                </a:solidFill>
                <a:latin typeface="Calibri"/>
                <a:ea typeface="Calibri"/>
                <a:cs typeface="Calibri"/>
                <a:sym typeface="Calibri"/>
              </a:rPr>
              <a:t>Compatibility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695944" y="1600200"/>
            <a:ext cx="2514600" cy="1600200"/>
          </a:xfrm>
          <a:prstGeom prst="roundRect">
            <a:avLst>
              <a:gd fmla="val 5714" name="adj"/>
            </a:avLst>
          </a:prstGeom>
          <a:solidFill>
            <a:srgbClr val="F4FAF9"/>
          </a:solidFill>
          <a:ln cap="flat" cmpd="sng" w="22225">
            <a:solidFill>
              <a:srgbClr val="023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9752076" y="1801368"/>
            <a:ext cx="402336" cy="402336"/>
          </a:xfrm>
          <a:prstGeom prst="ellipse">
            <a:avLst/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9752076" y="18013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787384" y="22860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3047"/>
                </a:solidFill>
                <a:latin typeface="Calibri"/>
                <a:ea typeface="Calibri"/>
                <a:cs typeface="Calibri"/>
                <a:sym typeface="Calibri"/>
              </a:rPr>
              <a:t>Usability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48640" y="3429000"/>
            <a:ext cx="2514600" cy="1600200"/>
          </a:xfrm>
          <a:prstGeom prst="roundRect">
            <a:avLst>
              <a:gd fmla="val 5714" name="adj"/>
            </a:avLst>
          </a:prstGeom>
          <a:solidFill>
            <a:srgbClr val="F4FAF9"/>
          </a:solidFill>
          <a:ln cap="flat" cmpd="sng" w="22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604772" y="3630168"/>
            <a:ext cx="402336" cy="40233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604772" y="36301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40080" y="41148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3047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264408" y="3429000"/>
            <a:ext cx="2514600" cy="1600200"/>
          </a:xfrm>
          <a:prstGeom prst="roundRect">
            <a:avLst>
              <a:gd fmla="val 5714" name="adj"/>
            </a:avLst>
          </a:prstGeom>
          <a:solidFill>
            <a:srgbClr val="F4FAF9"/>
          </a:solidFill>
          <a:ln cap="flat" cmpd="sng" w="22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320540" y="3630168"/>
            <a:ext cx="402336" cy="40233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320540" y="36301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355848" y="41148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3047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980176" y="3429000"/>
            <a:ext cx="2514600" cy="1600200"/>
          </a:xfrm>
          <a:prstGeom prst="roundRect">
            <a:avLst>
              <a:gd fmla="val 5714" name="adj"/>
            </a:avLst>
          </a:prstGeom>
          <a:solidFill>
            <a:srgbClr val="F4FAF9"/>
          </a:solidFill>
          <a:ln cap="flat" cmpd="sng" w="2222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7036308" y="3630168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7036308" y="36301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071616" y="41148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3047"/>
                </a:solidFill>
                <a:latin typeface="Calibri"/>
                <a:ea typeface="Calibri"/>
                <a:cs typeface="Calibri"/>
                <a:sym typeface="Calibri"/>
              </a:rPr>
              <a:t>Maintainability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695944" y="3429000"/>
            <a:ext cx="2514600" cy="1600200"/>
          </a:xfrm>
          <a:prstGeom prst="roundRect">
            <a:avLst>
              <a:gd fmla="val 5714" name="adj"/>
            </a:avLst>
          </a:prstGeom>
          <a:solidFill>
            <a:srgbClr val="F4FAF9"/>
          </a:solidFill>
          <a:ln cap="flat" cmpd="sng" w="22225">
            <a:solidFill>
              <a:srgbClr val="023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9752076" y="3630168"/>
            <a:ext cx="402336" cy="402336"/>
          </a:xfrm>
          <a:prstGeom prst="ellipse">
            <a:avLst/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9752076" y="36301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787384" y="41148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23047"/>
                </a:solidFill>
                <a:latin typeface="Calibri"/>
                <a:ea typeface="Calibri"/>
                <a:cs typeface="Calibri"/>
                <a:sym typeface="Calibri"/>
              </a:rPr>
              <a:t>Portability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48640" y="571500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Successor to ISO 9126 — the reference model used in industry certification and academic curricula today.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8F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CORE CONCEPTS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QA vs. QC vs. Testing — Don’t Confuse Them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48640" y="1691640"/>
            <a:ext cx="2743200" cy="502920"/>
          </a:xfrm>
          <a:prstGeom prst="rect">
            <a:avLst/>
          </a:prstGeom>
          <a:solidFill>
            <a:srgbClr val="023047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85800" y="16916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Aspect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291840" y="1691640"/>
            <a:ext cx="4480560" cy="502920"/>
          </a:xfrm>
          <a:prstGeom prst="rect">
            <a:avLst/>
          </a:prstGeom>
          <a:solidFill>
            <a:srgbClr val="023047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3429000" y="169164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Focus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772400" y="1691640"/>
            <a:ext cx="3566160" cy="502920"/>
          </a:xfrm>
          <a:prstGeom prst="rect">
            <a:avLst/>
          </a:prstGeom>
          <a:solidFill>
            <a:srgbClr val="023047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7909560" y="16916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48640" y="2194560"/>
            <a:ext cx="2743200" cy="960120"/>
          </a:xfrm>
          <a:prstGeom prst="rect">
            <a:avLst/>
          </a:prstGeom>
          <a:solidFill>
            <a:srgbClr val="F4FAF9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85800" y="219456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Quality Assurance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291840" y="2194560"/>
            <a:ext cx="4480560" cy="960120"/>
          </a:xfrm>
          <a:prstGeom prst="rect">
            <a:avLst/>
          </a:prstGeom>
          <a:solidFill>
            <a:srgbClr val="F4FAF9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3429000" y="2194560"/>
            <a:ext cx="4206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Process-oriented, preventive, covers the whole lifecycle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772400" y="2194560"/>
            <a:ext cx="3566160" cy="960120"/>
          </a:xfrm>
          <a:prstGeom prst="rect">
            <a:avLst/>
          </a:prstGeom>
          <a:solidFill>
            <a:srgbClr val="F4FAF9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7909560" y="2194560"/>
            <a:ext cx="3291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Defining coding standards and a peer-review process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8640" y="3154680"/>
            <a:ext cx="274320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85800" y="315468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Quality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291840" y="3154680"/>
            <a:ext cx="448056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3429000" y="3154680"/>
            <a:ext cx="4206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Product-oriented, detects defects in specific deliverables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772400" y="3154680"/>
            <a:ext cx="356616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7909560" y="3154680"/>
            <a:ext cx="3291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Inspecting a build against a release checklist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48640" y="4114800"/>
            <a:ext cx="2743200" cy="960120"/>
          </a:xfrm>
          <a:prstGeom prst="rect">
            <a:avLst/>
          </a:prstGeom>
          <a:solidFill>
            <a:srgbClr val="F4FAF9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85800" y="411480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291840" y="4114800"/>
            <a:ext cx="4480560" cy="960120"/>
          </a:xfrm>
          <a:prstGeom prst="rect">
            <a:avLst/>
          </a:prstGeom>
          <a:solidFill>
            <a:srgbClr val="F4FAF9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429000" y="4114800"/>
            <a:ext cx="4206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A subset of QC — executing software to find defects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7772400" y="4114800"/>
            <a:ext cx="3566160" cy="960120"/>
          </a:xfrm>
          <a:prstGeom prst="rect">
            <a:avLst/>
          </a:prstGeom>
          <a:solidFill>
            <a:srgbClr val="F4FAF9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7909560" y="4114800"/>
            <a:ext cx="3291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Running unit tests on a login module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CORE CONCEPTS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Verification vs. Validation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48640" y="1554480"/>
            <a:ext cx="5212080" cy="3794760"/>
          </a:xfrm>
          <a:prstGeom prst="roundRect">
            <a:avLst>
              <a:gd fmla="val 2892" name="adj"/>
            </a:avLst>
          </a:prstGeom>
          <a:solidFill>
            <a:srgbClr val="F4FAF9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86868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Verification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68680" y="228600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“Are we building the product right?”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868680" y="3063240"/>
            <a:ext cx="448056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1051560" y="30632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Reviews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68680" y="3630168"/>
            <a:ext cx="448056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1051560" y="363016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Inspections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868680" y="4197096"/>
            <a:ext cx="448056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1051560" y="4197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Walkthroughs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868680" y="4764024"/>
            <a:ext cx="448056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1051560" y="476402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Static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080760" y="1554480"/>
            <a:ext cx="5212080" cy="3794760"/>
          </a:xfrm>
          <a:prstGeom prst="roundRect">
            <a:avLst>
              <a:gd fmla="val 2892" name="adj"/>
            </a:avLst>
          </a:prstGeom>
          <a:solidFill>
            <a:srgbClr val="F4FAF9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64008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Validation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400800" y="228600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“Are we building the right product?”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400800" y="3063240"/>
            <a:ext cx="448056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583680" y="30632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Functional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400800" y="3630168"/>
            <a:ext cx="448056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6583680" y="363016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User acceptance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400800" y="4197096"/>
            <a:ext cx="448056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6583680" y="4197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Prototype demos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6400800" y="4764024"/>
            <a:ext cx="448056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6583680" y="476402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Beta releases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48640" y="553212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Both are connected through the classic V-Model, which pairs each development stage with a corresponding testing stage.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8F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SQA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The SQA Plan (SQAP) &amp; Core Activities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48640" y="1645920"/>
            <a:ext cx="521208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777240" y="1970532"/>
            <a:ext cx="402336" cy="402336"/>
          </a:xfrm>
          <a:prstGeom prst="roundRect">
            <a:avLst>
              <a:gd fmla="val 5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777240" y="19705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371600" y="1645920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Formal technical reviews &amp; inspections (e.g., Fagan Inspection)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6126480" y="1645920"/>
            <a:ext cx="521208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6355080" y="1970532"/>
            <a:ext cx="402336" cy="402336"/>
          </a:xfrm>
          <a:prstGeom prst="roundRect">
            <a:avLst>
              <a:gd fmla="val 5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6355080" y="19705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949440" y="1645920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Standards &amp; conventions enforcement (coding, documentation)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48640" y="2971800"/>
            <a:ext cx="521208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777240" y="3296412"/>
            <a:ext cx="402336" cy="402336"/>
          </a:xfrm>
          <a:prstGeom prst="roundRect">
            <a:avLst>
              <a:gd fmla="val 5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777240" y="329641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371600" y="2971800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Defect tracking &amp; management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126480" y="2971800"/>
            <a:ext cx="521208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6355080" y="3296412"/>
            <a:ext cx="402336" cy="402336"/>
          </a:xfrm>
          <a:prstGeom prst="roundRect">
            <a:avLst>
              <a:gd fmla="val 5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6355080" y="329641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949440" y="2971800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Configuration &amp; change control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48640" y="4297680"/>
            <a:ext cx="521208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777240" y="4622292"/>
            <a:ext cx="402336" cy="402336"/>
          </a:xfrm>
          <a:prstGeom prst="roundRect">
            <a:avLst>
              <a:gd fmla="val 5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777240" y="46222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371600" y="4297680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Risk management across the project lifecycle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126480" y="4297680"/>
            <a:ext cx="521208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6355080" y="4622292"/>
            <a:ext cx="402336" cy="402336"/>
          </a:xfrm>
          <a:prstGeom prst="roundRect">
            <a:avLst>
              <a:gd fmla="val 5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6355080" y="46222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949440" y="4297680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Training &amp; continuous process improvement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48640" y="598932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Reference framework: IEEE 730 – Standard for Software Quality Assurance Processes.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SOFTWARE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Testing Levels: From Code to Customer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3529584" y="1600200"/>
            <a:ext cx="4754880" cy="914400"/>
          </a:xfrm>
          <a:prstGeom prst="roundRect">
            <a:avLst>
              <a:gd fmla="val 8000" name="adj"/>
            </a:avLst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3803904" y="1673352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  Unit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3803904" y="205740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6F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AF6F4"/>
                </a:solidFill>
                <a:latin typeface="Calibri"/>
                <a:ea typeface="Calibri"/>
                <a:cs typeface="Calibri"/>
                <a:sym typeface="Calibri"/>
              </a:rPr>
              <a:t>Individual functions/classes tested in isolation by developers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2706624" y="2715768"/>
            <a:ext cx="6400800" cy="914400"/>
          </a:xfrm>
          <a:prstGeom prst="roundRect">
            <a:avLst>
              <a:gd fmla="val 8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2980944" y="2788920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2.  Integration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2980944" y="3172968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6F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AF6F4"/>
                </a:solidFill>
                <a:latin typeface="Calibri"/>
                <a:ea typeface="Calibri"/>
                <a:cs typeface="Calibri"/>
                <a:sym typeface="Calibri"/>
              </a:rPr>
              <a:t>Interactions between combined modules/components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883664" y="3831336"/>
            <a:ext cx="8046720" cy="914400"/>
          </a:xfrm>
          <a:prstGeom prst="roundRect">
            <a:avLst>
              <a:gd fmla="val 8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2157984" y="3904488"/>
            <a:ext cx="7498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3.  System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157984" y="4288536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6F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AF6F4"/>
                </a:solidFill>
                <a:latin typeface="Calibri"/>
                <a:ea typeface="Calibri"/>
                <a:cs typeface="Calibri"/>
                <a:sym typeface="Calibri"/>
              </a:rPr>
              <a:t>The complete, integrated system against requirements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060704" y="4946904"/>
            <a:ext cx="9692640" cy="914400"/>
          </a:xfrm>
          <a:prstGeom prst="roundRect">
            <a:avLst>
              <a:gd fmla="val 80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1335024" y="5020056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4.  Acceptance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335024" y="5404104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6F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AF6F4"/>
                </a:solidFill>
                <a:latin typeface="Calibri"/>
                <a:ea typeface="Calibri"/>
                <a:cs typeface="Calibri"/>
                <a:sym typeface="Calibri"/>
              </a:rPr>
              <a:t>Validates the system meets business needs — often with real users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8F7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SOFTWARE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Testing Types at a Glance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48640" y="1600200"/>
            <a:ext cx="342900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FBFBC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777240" y="1801368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1207008" y="176479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Functional vs. Non-functional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822960" y="23774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What the system does vs. how well it performs (speed, security, usability)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233672" y="1600200"/>
            <a:ext cx="342900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FBFBC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4462272" y="1801368"/>
            <a:ext cx="310896" cy="31089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4892040" y="176479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Black / White / Grey-box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507992" y="23774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Based on visibility into internal code structure during test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7918704" y="1600200"/>
            <a:ext cx="342900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FBFBC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8147304" y="1801368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8577072" y="176479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Regression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8193024" y="23774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Confirms new changes haven’t broken existing functionality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48640" y="3502152"/>
            <a:ext cx="342900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FBFBC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777240" y="370332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1207008" y="366674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Smoke &amp; Sanity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822960" y="4279392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Quick checks that core functions work before deeper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233672" y="3502152"/>
            <a:ext cx="342900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FBFBC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4462272" y="3703320"/>
            <a:ext cx="310896" cy="31089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892040" y="366674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Performance &amp; Security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507992" y="4279392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Load, stress, scalability, and vulnerability assessment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7918704" y="3502152"/>
            <a:ext cx="342900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FBFBC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8147304" y="3703320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8577072" y="366674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Exploratory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8193024" y="4279392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Simultaneous learning, test design, and execution by a human tester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MODERN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Shift-Left &amp; Continuous Testing in DevOps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48640" y="1600200"/>
            <a:ext cx="6126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Shift-Left Testing: </a:t>
            </a:r>
            <a:r>
              <a:rPr b="0" i="0" lang="en-US" sz="16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Move testing activities earlier in the SDLC — as soon as requirements and code exist — to catch defects when they are cheapest to fix.</a:t>
            </a:r>
            <a:br>
              <a:rPr b="0" i="0" lang="en-US" sz="16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Continuous Testing: </a:t>
            </a:r>
            <a:r>
              <a:rPr b="0" i="0" lang="en-US" sz="16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Automated tests run at every stage of the CI/CD pipeline, with quality gates that block risky changes from advancing.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995160" y="1600200"/>
            <a:ext cx="4343400" cy="3017520"/>
          </a:xfrm>
          <a:prstGeom prst="roundRect">
            <a:avLst>
              <a:gd fmla="val 3636" name="adj"/>
            </a:avLst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7223760" y="1828800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84%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7315200" y="2834640"/>
            <a:ext cx="3794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6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6F4"/>
                </a:solidFill>
                <a:latin typeface="Calibri"/>
                <a:ea typeface="Calibri"/>
                <a:cs typeface="Calibri"/>
                <a:sym typeface="Calibri"/>
              </a:rPr>
              <a:t>of DevOps teams now use automated testing tools in their CI/CD pipelines (2026 industry data)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548640" y="48463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Pipeline flow: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548640" y="5257800"/>
            <a:ext cx="1691640" cy="594360"/>
          </a:xfrm>
          <a:prstGeom prst="roundRect">
            <a:avLst>
              <a:gd fmla="val 46154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548640" y="525780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2258568" y="5257800"/>
            <a:ext cx="137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2377440" y="5257800"/>
            <a:ext cx="1691640" cy="594360"/>
          </a:xfrm>
          <a:prstGeom prst="roundRect">
            <a:avLst>
              <a:gd fmla="val 46154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2377440" y="525780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4087368" y="5257800"/>
            <a:ext cx="137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206240" y="5257800"/>
            <a:ext cx="1691640" cy="594360"/>
          </a:xfrm>
          <a:prstGeom prst="roundRect">
            <a:avLst>
              <a:gd fmla="val 46154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4206240" y="525780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 Tests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916168" y="5257800"/>
            <a:ext cx="137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6035040" y="5257800"/>
            <a:ext cx="1691640" cy="594360"/>
          </a:xfrm>
          <a:prstGeom prst="roundRect">
            <a:avLst>
              <a:gd fmla="val 46154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6035040" y="525780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 Tests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7744968" y="5257800"/>
            <a:ext cx="137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7863840" y="5257800"/>
            <a:ext cx="1691640" cy="594360"/>
          </a:xfrm>
          <a:prstGeom prst="roundRect">
            <a:avLst>
              <a:gd fmla="val 46154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7863840" y="525780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 → Staging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9573768" y="5257800"/>
            <a:ext cx="137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3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737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9692640" y="5257800"/>
            <a:ext cx="1691640" cy="594360"/>
          </a:xfrm>
          <a:prstGeom prst="roundRect">
            <a:avLst>
              <a:gd fmla="val 46154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9692640" y="525780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8F7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2026 TRENDS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AI-Driven &amp; Autonomous Testing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548640" y="1673352"/>
            <a:ext cx="128016" cy="12801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868680" y="1527048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AI systems generate, execute, and self-heal automated tests as the application changes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868680" y="2395728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Predictive quality engineering uses code churn, complexity, and defect history to target testing effort where risk is highest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548640" y="3410712"/>
            <a:ext cx="128016" cy="12801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868680" y="3264408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AI-generated synthetic test data preserves statistical realism while protecting customer privacy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548640" y="4434840"/>
            <a:ext cx="521208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58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822960" y="4553712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45%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2697480" y="4553712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Projected reduction in manual testing effort by 2026 through AI augmentation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6080760" y="4434840"/>
            <a:ext cx="521208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58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6355080" y="4553712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89%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8229600" y="4553712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Of organizations expect AI-driven risk analysis to become core to QA decision-making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2026 TRENDS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QA Becomes the Accountability Layer for AI-Written Code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548640" y="1691640"/>
            <a:ext cx="10789920" cy="1051560"/>
          </a:xfrm>
          <a:prstGeom prst="roundRect">
            <a:avLst>
              <a:gd fmla="val 8696" name="adj"/>
            </a:avLst>
          </a:prstGeom>
          <a:solidFill>
            <a:srgbClr val="F4FAF9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822960" y="198882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822960" y="19888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1508760" y="1691640"/>
            <a:ext cx="9692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A large and growing share of shipped code today is AI-generated — and it still needs human-grade verification before release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548640" y="2926080"/>
            <a:ext cx="10789920" cy="1051560"/>
          </a:xfrm>
          <a:prstGeom prst="roundRect">
            <a:avLst>
              <a:gd fmla="val 8696" name="adj"/>
            </a:avLst>
          </a:prstGeom>
          <a:solidFill>
            <a:srgbClr val="F4FAF9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822960" y="322326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822960" y="32232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1508760" y="2926080"/>
            <a:ext cx="9692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Risk-based assurance is replacing coverage-driven testing: effort is aligned with business, security, and compliance risk, not just line/branch coverage targets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548640" y="4160520"/>
            <a:ext cx="10789920" cy="1051560"/>
          </a:xfrm>
          <a:prstGeom prst="roundRect">
            <a:avLst>
              <a:gd fmla="val 8696" name="adj"/>
            </a:avLst>
          </a:prstGeom>
          <a:solidFill>
            <a:srgbClr val="F4FAF9"/>
          </a:solidFill>
          <a:ln cap="flat" cmpd="sng" w="12700">
            <a:solidFill>
              <a:srgbClr val="DCE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822960" y="44577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822960" y="44577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1508760" y="4160520"/>
            <a:ext cx="9692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Testing scope now explicitly includes validating AI-generated code itself — not only the application logic it sits inside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047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LOOKING AHEAD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SQA Beyond 2026: What to Expect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548640" y="1783080"/>
            <a:ext cx="10789920" cy="960120"/>
          </a:xfrm>
          <a:prstGeom prst="roundRect">
            <a:avLst>
              <a:gd fmla="val 9524" name="adj"/>
            </a:avLst>
          </a:prstGeom>
          <a:solidFill>
            <a:srgbClr val="01181C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777240" y="2029968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777240" y="2029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181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1181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1463040" y="1783080"/>
            <a:ext cx="9692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6F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AF6F4"/>
                </a:solidFill>
                <a:latin typeface="Calibri"/>
                <a:ea typeface="Calibri"/>
                <a:cs typeface="Calibri"/>
                <a:sym typeface="Calibri"/>
              </a:rPr>
              <a:t>Fully autonomous test suites that decide what to test based on usage patterns and risk signals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548640" y="2898648"/>
            <a:ext cx="10789920" cy="960120"/>
          </a:xfrm>
          <a:prstGeom prst="roundRect">
            <a:avLst>
              <a:gd fmla="val 9524" name="adj"/>
            </a:avLst>
          </a:prstGeom>
          <a:solidFill>
            <a:srgbClr val="01181C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777240" y="3145536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777240" y="31455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181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1181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1463040" y="2898648"/>
            <a:ext cx="9692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6F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AF6F4"/>
                </a:solidFill>
                <a:latin typeface="Calibri"/>
                <a:ea typeface="Calibri"/>
                <a:cs typeface="Calibri"/>
                <a:sym typeface="Calibri"/>
              </a:rPr>
              <a:t>Quality engineering converges testing, security, and performance monitoring into one continuous discipline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548640" y="4014216"/>
            <a:ext cx="10789920" cy="960120"/>
          </a:xfrm>
          <a:prstGeom prst="roundRect">
            <a:avLst>
              <a:gd fmla="val 9524" name="adj"/>
            </a:avLst>
          </a:prstGeom>
          <a:solidFill>
            <a:srgbClr val="01181C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181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1181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1463040" y="4014216"/>
            <a:ext cx="9692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6F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AF6F4"/>
                </a:solidFill>
                <a:latin typeface="Calibri"/>
                <a:ea typeface="Calibri"/>
                <a:cs typeface="Calibri"/>
                <a:sym typeface="Calibri"/>
              </a:rPr>
              <a:t>Continuous assurance becomes a competitive differentiator — not a cost center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548640" y="5129784"/>
            <a:ext cx="10789920" cy="960120"/>
          </a:xfrm>
          <a:prstGeom prst="roundRect">
            <a:avLst>
              <a:gd fmla="val 9524" name="adj"/>
            </a:avLst>
          </a:prstGeom>
          <a:solidFill>
            <a:srgbClr val="01181C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777240" y="5376672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777240" y="53766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181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1181C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1463040" y="5129784"/>
            <a:ext cx="9692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6F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AF6F4"/>
                </a:solidFill>
                <a:latin typeface="Calibri"/>
                <a:ea typeface="Calibri"/>
                <a:cs typeface="Calibri"/>
                <a:sym typeface="Calibri"/>
              </a:rPr>
              <a:t>Human value shifts toward test strategy, risk judgment, and exploratory testing as execution automates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6C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C6C2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6C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C6C2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8F7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548640" y="1655064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868680" y="1508760"/>
            <a:ext cx="9966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Quality is multidimensional — use recognized models (McCall, ISO/IEC 25010) rather than gut feeling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548640" y="2404872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868680" y="2258568"/>
            <a:ext cx="9966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QA (process) ≠ QC (product) ≠ Testing (execution) — all three are needed, at different points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548640" y="3154680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868680" y="3008376"/>
            <a:ext cx="9966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Verification asks “right product?”; Validation asks “right product built?” — you need both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548640" y="3904488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868680" y="3758184"/>
            <a:ext cx="9966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Modern QA lives inside DevOps: shift-left, continuous testing, and automated quality gates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548640" y="4654296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868680" y="4507992"/>
            <a:ext cx="9966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AI is reshaping QA — from autonomous test generation to validating AI-written code itself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548640" y="5404104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868680" y="5257800"/>
            <a:ext cx="9966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Quality assurance is strategic risk management, not a final-stage checkbox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7"/>
          <p:cNvSpPr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FOR DISCUSSION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457200" y="621792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3047"/>
                </a:solidFill>
                <a:latin typeface="Cambria"/>
                <a:ea typeface="Cambria"/>
                <a:cs typeface="Cambria"/>
                <a:sym typeface="Cambria"/>
              </a:rPr>
              <a:t>Reflect &amp; Discuss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548640" y="1737360"/>
            <a:ext cx="10789920" cy="1234440"/>
          </a:xfrm>
          <a:prstGeom prst="roundRect">
            <a:avLst>
              <a:gd fmla="val 7407" name="adj"/>
            </a:avLst>
          </a:prstGeom>
          <a:solidFill>
            <a:srgbClr val="F4FAF9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7"/>
          <p:cNvSpPr/>
          <p:nvPr/>
        </p:nvSpPr>
        <p:spPr>
          <a:xfrm>
            <a:off x="777240" y="1737360"/>
            <a:ext cx="8229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Q1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1600200" y="1737360"/>
            <a:ext cx="9509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Pick an app you use daily. Which ISO/IEC 25010 characteristic does it excel at, and which one is weakest? Justify with examples.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548640" y="3154680"/>
            <a:ext cx="10789920" cy="1234440"/>
          </a:xfrm>
          <a:prstGeom prst="roundRect">
            <a:avLst>
              <a:gd fmla="val 7407" name="adj"/>
            </a:avLst>
          </a:prstGeom>
          <a:solidFill>
            <a:srgbClr val="F4FAF9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777240" y="3154680"/>
            <a:ext cx="8229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Q2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1600200" y="3154680"/>
            <a:ext cx="9509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If 70% of a team’s codebase is AI-generated, how should their SQA process and reviews change?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548640" y="4572000"/>
            <a:ext cx="10789920" cy="1234440"/>
          </a:xfrm>
          <a:prstGeom prst="roundRect">
            <a:avLst>
              <a:gd fmla="val 7407" name="adj"/>
            </a:avLst>
          </a:prstGeom>
          <a:solidFill>
            <a:srgbClr val="F4FAF9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777240" y="4572000"/>
            <a:ext cx="8229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Q3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1600200" y="4572000"/>
            <a:ext cx="9509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162B2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62B2B"/>
                </a:solidFill>
                <a:latin typeface="Calibri"/>
                <a:ea typeface="Calibri"/>
                <a:cs typeface="Calibri"/>
                <a:sym typeface="Calibri"/>
              </a:rPr>
              <a:t>Describe a real or hypothetical case where skipping validation (even with strong verification) led to a failed product.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A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047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8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References &amp; Further Reading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CE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6ECE9"/>
                </a:solidFill>
                <a:latin typeface="Calibri"/>
                <a:ea typeface="Calibri"/>
                <a:cs typeface="Calibri"/>
                <a:sym typeface="Calibri"/>
              </a:rPr>
              <a:t>•  ISO/IEC 25010:2011 – Systems and software Quality Requirements and Evaluation (SQuaRE)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548640" y="22860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CE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6ECE9"/>
                </a:solidFill>
                <a:latin typeface="Calibri"/>
                <a:ea typeface="Calibri"/>
                <a:cs typeface="Calibri"/>
                <a:sym typeface="Calibri"/>
              </a:rPr>
              <a:t>•  IEEE Std 730-2014 – Standard for Software Quality Assurance Processes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548640" y="288036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CE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6ECE9"/>
                </a:solidFill>
                <a:latin typeface="Calibri"/>
                <a:ea typeface="Calibri"/>
                <a:cs typeface="Calibri"/>
                <a:sym typeface="Calibri"/>
              </a:rPr>
              <a:t>•  Boehm, B. (1981). Software Engineering Economics. Prentice Hall.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548640" y="347472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CE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6ECE9"/>
                </a:solidFill>
                <a:latin typeface="Calibri"/>
                <a:ea typeface="Calibri"/>
                <a:cs typeface="Calibri"/>
                <a:sym typeface="Calibri"/>
              </a:rPr>
              <a:t>•  McCall, J., Richards, P., Walters, G. (1977). Factors in Software Quality. GE / RADC.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548640" y="406908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CE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6ECE9"/>
                </a:solidFill>
                <a:latin typeface="Calibri"/>
                <a:ea typeface="Calibri"/>
                <a:cs typeface="Calibri"/>
                <a:sym typeface="Calibri"/>
              </a:rPr>
              <a:t>•  Sommerville, I. Software Engineering (10th/11th ed.), Pearson.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548640" y="46634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CE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6ECE9"/>
                </a:solidFill>
                <a:latin typeface="Calibri"/>
                <a:ea typeface="Calibri"/>
                <a:cs typeface="Calibri"/>
                <a:sym typeface="Calibri"/>
              </a:rPr>
              <a:t>•  Tricentis (2026). QA Trends: AI, Agents, and the Future of Testing.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548640" y="52578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CE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6ECE9"/>
                </a:solidFill>
                <a:latin typeface="Calibri"/>
                <a:ea typeface="Calibri"/>
                <a:cs typeface="Calibri"/>
                <a:sym typeface="Calibri"/>
              </a:rPr>
              <a:t>•  Testomat.io, Inflectra, TestFort, Evozon, tBlocks, KiwiQA (2026). Software Testing Trends 2026 industry reports.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457200" y="65379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6C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C6C2"/>
                </a:solidFill>
                <a:latin typeface="Calibri"/>
                <a:ea typeface="Calibri"/>
                <a:cs typeface="Calibri"/>
                <a:sym typeface="Calibri"/>
              </a:rPr>
              <a:t>RPL – Software Quality Assurance (Session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11091672" y="6537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6C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C6C2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2026-09-10T08:23:09Z</dcterms:created>
  <dc:creator>PptxGenJS</dc:creator>
</cp:coreProperties>
</file>