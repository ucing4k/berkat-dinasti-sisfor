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01181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822960"/>
            <a:ext cx="3291840" cy="3291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REKAYASA PERANGKAT LUNAK · SESSION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Metrics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Size, Complexity, Quality, and Delivery — from LOC to the AI Era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4251960"/>
            <a:ext cx="50292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6035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Informatics Engineering Program  ·  Academic Year 2026/2027  ·  International Class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52704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software metrics are and why we measure software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36829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metrics into product, process, and project categories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3697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36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20954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classic metrics: Lines of Code, Function Points, and Cyclomatic Complexity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07822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78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05079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quality metrics such as defect density, MTBF, and MTTR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9194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19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8920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modern delivery metrics (DORA, SPACE) and how AI is changing measurement in 2026 and beyond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SESSION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Quality Assurance to Measurement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0" y="2103120"/>
            <a:ext cx="8869680" cy="1920240"/>
          </a:xfrm>
          <a:prstGeom prst="roundRect">
            <a:avLst>
              <a:gd name="adj" fmla="val 5714"/>
            </a:avLst>
          </a:prstGeom>
          <a:solidFill>
            <a:srgbClr val="01181C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23317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can't control what you can't measure.”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0" y="32461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Tom DeMarco, Controlling Software Projects (1982)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4480560"/>
            <a:ext cx="8869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explored how we assure quality through process and practice. Session 2 asks: how do we quantify quality, size, complexity, and delivery performance so that improvement can be tracked objectively?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Software Metrics &amp; Why Measure?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F4FAF9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metric is a quantitative measure of the degree to which a system, component, or process possesses a given attribute.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88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effort &amp; cost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24912" y="27889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2788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01184" y="27889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2624" y="2788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quality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77456" y="27889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68896" y="2788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risk areas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253728" y="27889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45168" y="2788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decisions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0789920" cy="1600200"/>
          </a:xfrm>
          <a:prstGeom prst="roundRect">
            <a:avLst>
              <a:gd name="adj" fmla="val 6857"/>
            </a:avLst>
          </a:prstGeom>
          <a:solidFill>
            <a:srgbClr val="EF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79392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Goal-Question-Metric (GQM) Approach (Basili &amp; Weiss)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a Goal  →  2. Ask Questions that clarify how to know the goal is met  →  3. Identify Metrics that answer each question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of Software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68880" cy="502920"/>
          </a:xfrm>
          <a:prstGeom prst="rect">
            <a:avLst/>
          </a:prstGeom>
          <a:solidFill>
            <a:srgbClr val="023047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17520" y="1691640"/>
            <a:ext cx="4206240" cy="502920"/>
          </a:xfrm>
          <a:prstGeom prst="rect">
            <a:avLst/>
          </a:prstGeom>
          <a:solidFill>
            <a:srgbClr val="023047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16916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23760" y="1691640"/>
            <a:ext cx="4114800" cy="502920"/>
          </a:xfrm>
          <a:prstGeom prst="rect">
            <a:avLst/>
          </a:prstGeom>
          <a:solidFill>
            <a:srgbClr val="023047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2468880" cy="914400"/>
          </a:xfrm>
          <a:prstGeom prst="rect">
            <a:avLst/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94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Metrics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17520" y="2194560"/>
            <a:ext cx="4206240" cy="914400"/>
          </a:xfrm>
          <a:prstGeom prst="rect">
            <a:avLst/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21945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of the software artifact itself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23760" y="2194560"/>
            <a:ext cx="4114800" cy="914400"/>
          </a:xfrm>
          <a:prstGeom prst="rect">
            <a:avLst/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21945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(LOC), complexity, defect density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24688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08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Metrics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017520" y="3108960"/>
            <a:ext cx="4206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31089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of the SDLC process used to build 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23760" y="3108960"/>
            <a:ext cx="4114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31089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removal efficiency, review effectiveness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2468880" cy="914400"/>
          </a:xfrm>
          <a:prstGeom prst="rect">
            <a:avLst/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023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Metrics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017520" y="4023360"/>
            <a:ext cx="4206240" cy="914400"/>
          </a:xfrm>
          <a:prstGeom prst="rect">
            <a:avLst/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40233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schedule, resources, staffing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23760" y="4023360"/>
            <a:ext cx="4114800" cy="914400"/>
          </a:xfrm>
          <a:prstGeom prst="rect">
            <a:avLst/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4023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(person-months), schedule variance, budget variance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Lines of Code (LOC)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oldest and simplest size metric — counts the number of lines in the source code (often expressed as KLOC, thousands of lines of code).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788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41071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26440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fast to collect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9776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83133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understood and tooling-friendly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54456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398264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normalizing other metrics (e.g., defects / KLOC)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260604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4FAF9"/>
          </a:solidFill>
          <a:ln w="15875">
            <a:solidFill>
              <a:srgbClr val="9C4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788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4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46520" y="3410712"/>
            <a:ext cx="91440" cy="91440"/>
          </a:xfrm>
          <a:prstGeom prst="ellipse">
            <a:avLst/>
          </a:prstGeom>
          <a:solidFill>
            <a:srgbClr val="9C4A1F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326440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Language-dependent (Python vs. C++ differ hugely)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3977640"/>
            <a:ext cx="91440" cy="91440"/>
          </a:xfrm>
          <a:prstGeom prst="ellipse">
            <a:avLst/>
          </a:prstGeom>
          <a:solidFill>
            <a:srgbClr val="9C4A1F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383133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capture functionality delivered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46520" y="4544568"/>
            <a:ext cx="91440" cy="91440"/>
          </a:xfrm>
          <a:prstGeom prst="ellipse">
            <a:avLst/>
          </a:prstGeom>
          <a:solidFill>
            <a:srgbClr val="9C4A1F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398264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gamed — more lines ≠ more value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46520" y="5111496"/>
            <a:ext cx="91440" cy="91440"/>
          </a:xfrm>
          <a:prstGeom prst="ellipse">
            <a:avLst/>
          </a:prstGeom>
          <a:solidFill>
            <a:srgbClr val="9C4A1F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96519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design/algorithmic complexity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functionality delivered to the user, independent of programming language — making it ideal for early-stage effort estimation before code exists.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35024" y="271576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335024" y="2715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644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Inputs (EI)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24912" y="25146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271576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511296" y="2715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16352" y="32644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Outputs (EO)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01184" y="25146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87568" y="271576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687568" y="2715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92624" y="32644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Inquiries (EQ)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77456" y="25146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271576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2715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68896" y="32644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Logical Files (ILF)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253728" y="25146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40112" y="271576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10040112" y="2715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45168" y="32644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Interface Files (EIF)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206240"/>
            <a:ext cx="10789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206240"/>
            <a:ext cx="10149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is weighted by complexity (simple/average/complex) and summed to produce an Unadjusted Function Point (UFP) count, which can then be converted into effort or cost estimates using historical productivity data (e.g., hours per function point).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McCabe Cyclomatic Complexity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quantitative measure of the number of independent linearly-independent paths through a program’s source code — introduced by Thomas McCabe (1976).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0230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231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V(G) = E − N + 2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edges, N = nodes in the control-flow graph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52160" y="228600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023047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24231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V(G) = P + 1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85216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number of decision points (if, while, for, case, &amp;&amp;, ||)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155448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069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103120" y="4069080"/>
            <a:ext cx="9235440" cy="502920"/>
          </a:xfrm>
          <a:prstGeom prst="rect">
            <a:avLst/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406908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low risk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636008"/>
            <a:ext cx="155448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63600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11–20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103120" y="4636008"/>
            <a:ext cx="9235440" cy="502920"/>
          </a:xfrm>
          <a:prstGeom prst="rect">
            <a:avLst/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463600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complexity, moderate risk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202936"/>
            <a:ext cx="1554480" cy="502920"/>
          </a:xfrm>
          <a:prstGeom prst="rect">
            <a:avLst/>
          </a:prstGeom>
          <a:solidFill>
            <a:srgbClr val="9C4A1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20293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21–50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103120" y="5202936"/>
            <a:ext cx="9235440" cy="502920"/>
          </a:xfrm>
          <a:prstGeom prst="rect">
            <a:avLst/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5202936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high risk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769864"/>
            <a:ext cx="1554480" cy="502920"/>
          </a:xfrm>
          <a:prstGeom prst="rect">
            <a:avLst/>
          </a:prstGeom>
          <a:solidFill>
            <a:srgbClr val="8C2F0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76986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103120" y="5769864"/>
            <a:ext cx="9235440" cy="502920"/>
          </a:xfrm>
          <a:prstGeom prst="rect">
            <a:avLst/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5769864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Untestable, very high risk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Calculating Cyclomatic Complexity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3794760"/>
          </a:xfrm>
          <a:prstGeom prst="roundRect">
            <a:avLst>
              <a:gd name="adj" fmla="val 2410"/>
            </a:avLst>
          </a:prstGeom>
          <a:solidFill>
            <a:srgbClr val="0230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gradeScore(score) {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043684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(score &gt;= 90) {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"A";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65633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if (score &gt;= 75) {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96265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"B";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268980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if (score &gt;= 60) {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575304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"C";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88162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18795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"D";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494276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800600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486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decision points (if / else-if / else-if)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1554480"/>
            <a:ext cx="46177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Count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49440" y="2240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with a base of 1 (single path)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49440" y="27249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+1 for “if (score &gt;= 90)”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49440" y="32095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+1 for “else if (score &gt;= 75)”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49440" y="36941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+1 for “else if (score &gt;= 60)”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49440" y="41788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(final “else” adds no new branch point)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49440" y="461772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461772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V(G) = 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Halstead Metrics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counting operators and operands in the source code, Halstead’s metrics (1977) estimate program size, difficulty, and implementation effort.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4FAF9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5915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228600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distinct operators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228600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4FAF9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35915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77640" y="228600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distinct operands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52160" y="228600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4FAF9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35915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N₁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29400" y="228600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operators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03920" y="228600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4FAF9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235915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N₂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281160" y="228600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operands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 Measures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3108960" cy="457200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86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Length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0" y="3886200"/>
            <a:ext cx="3291840" cy="457200"/>
          </a:xfrm>
          <a:prstGeom prst="rect">
            <a:avLst/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3886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N₁ + N₂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398264"/>
            <a:ext cx="3108960" cy="457200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9826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0" y="4398264"/>
            <a:ext cx="3291840" cy="457200"/>
          </a:xfrm>
          <a:prstGeom prst="rect">
            <a:avLst/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439826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n₁ + n₂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910328"/>
            <a:ext cx="3108960" cy="457200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9103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57600" y="4910328"/>
            <a:ext cx="3291840" cy="457200"/>
          </a:xfrm>
          <a:prstGeom prst="rect">
            <a:avLst/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49103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N × log₂(n)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422392"/>
            <a:ext cx="3108960" cy="457200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4223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657600" y="5422392"/>
            <a:ext cx="3291840" cy="457200"/>
          </a:xfrm>
          <a:prstGeom prst="rect">
            <a:avLst/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54223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(n₁/2) × (N₂/n₂)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934456"/>
            <a:ext cx="3108960" cy="457200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93445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657600" y="5934456"/>
            <a:ext cx="3291840" cy="457200"/>
          </a:xfrm>
          <a:prstGeom prst="rect">
            <a:avLst/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593445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D × V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269480" y="3429000"/>
            <a:ext cx="4069080" cy="2651760"/>
          </a:xfrm>
          <a:prstGeom prst="roundRect">
            <a:avLst>
              <a:gd name="adj" fmla="val 3448"/>
            </a:avLst>
          </a:prstGeom>
          <a:solidFill>
            <a:srgbClr val="EF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0" y="3657600"/>
            <a:ext cx="3611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estimate implementation effort and contribute to composite Maintainability Index formulas alongside cyclomatic complexity and LOC.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Defects &amp; Reliability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Density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4FAF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48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Defects ÷ KLOC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confirmed defects per thousand lines of code (or per function point) — lower is better.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MTBF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214884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4FA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48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uptime ÷ Number of failures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Between Failures — average operating time between system failures.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MTTR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3891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4FAF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389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downtime ÷ Number of incidents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Repair/Recovery — average time to restore service after a failure.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8404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Removal Efficiency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43891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4FAF9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389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(Defects found pre-release ÷ Total defects) × 100%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937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effective QA activities are at catching defects before release.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DELIVERY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DORA — The Four Keys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the DevOps Research and Assessment (DORA) team and published in Accelerate (2018), these four metrics became the industry-standard measure of software delivery performance.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02304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Frequency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an organization successfully releases to production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237744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447288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47288" y="30632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Time for Changes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47288" y="37490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code commit to code running in production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0176" y="237744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163056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63056" y="30632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Failure Rate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63056" y="37490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deployments causing a failure in production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95944" y="237744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878824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878824" y="30632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Time to Recovery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78824" y="37490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it takes to restore service after a failure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892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benchmarking: teams are typically classified as Elite, High, Medium, or Low performers based on these four metrics.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 UPDATE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DORA Evolves: Rework Rate &amp; Beyond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789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metric added: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Google’s 2025 DORA report introduced </a:t>
            </a:r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Rate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percentage of changes that require unplanned fixes pushed back to production — to close a blind spot the original four metrics couldn’t see.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AI-assisted coding raises deployment frequency and shortens lead time — but doesn’t by itself tell you whether quality is improving or silently degrading underneath.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5212080" cy="1645920"/>
          </a:xfrm>
          <a:prstGeom prst="roundRect">
            <a:avLst>
              <a:gd name="adj" fmla="val 6667"/>
            </a:avLst>
          </a:prstGeom>
          <a:solidFill>
            <a:srgbClr val="02304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148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97480" y="41148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 now use AI tools at work (Google 2025 DORA report)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3977640"/>
            <a:ext cx="5212080" cy="1645920"/>
          </a:xfrm>
          <a:prstGeom prst="roundRect">
            <a:avLst>
              <a:gd name="adj" fmla="val 6667"/>
            </a:avLst>
          </a:prstGeom>
          <a:solidFill>
            <a:srgbClr val="023047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41148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0" y="41148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 say they actually trust AI-generated output in 2026 — down from ~40% in 2024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DORA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 &amp; DX Core 4 Frameworks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AF9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1051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54203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9572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&amp; wellbeing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05409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90779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5661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41985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07822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9319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collaboration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59028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44398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flow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0760" y="16002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81051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DX Core 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446520" y="254203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39572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305409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290779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35661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41985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46520" y="40782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9319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5074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multi-dimensional measurement matters: any single metric can be gamed. Balancing frameworks combine delivery speed, quality, and human factors for a fuller picture.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TRENDS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in the Age of AI-Generated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27048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Share — what percentage of committed code is AI-generated vs. human-written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8658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40280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Durability / Churn — does code stick, or does it get rewritten again soon after merging?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09981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53512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Acceptance Rate — how much AI-suggested code developers actually keep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81304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Complexity-Adjusted Throughput — delivery speed weighted by the complexity of what shipped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7548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" y="5394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code is now written by AI tools (2026)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0" y="46177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47548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297680" y="5394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doubling of code churn in 2026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80960" y="46177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47548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863840" y="5394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code needs manual debugging even after passing QA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OF CAUTION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Avoiding the Metrics Trap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789920" cy="1051560"/>
          </a:xfrm>
          <a:prstGeom prst="roundRect">
            <a:avLst>
              <a:gd name="adj" fmla="val 8696"/>
            </a:avLst>
          </a:prstGeom>
          <a:solidFill>
            <a:srgbClr val="01181C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“When a measure becomes a target, it ceases to be a good measure.” — Goodhart’s Law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326440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306324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DORA or delivery metrics for individual performance evaluation — they are team/org-level signals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77240" y="436168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361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416052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every speed metric with a quality metric, and every quantitative metric with a qualitative one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240" y="54589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458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63040" y="525780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gaming: e.g., inflating deployment frequency with trivial commits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Metrics Beyond 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9692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“engineering intelligence” platforms combining delivery speed, code quality, AI attribution, and developer experience in one stack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28269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990088"/>
            <a:ext cx="9692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importance of trust &amp; explainability metrics for AI-assisted development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288536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58114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81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4288536"/>
            <a:ext cx="9692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increasingly tied directly to business outcomes — not just engineering output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fall into three categories: product, process, and project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04872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58568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metrics (LOC, Function Points) are useful but limited — pair them with complexity/quality metrics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08376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Cyclomatic Complexity flags risky, hard-to-test code by counting decision points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04488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58184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DORA’s four keys (plus Rework Rate) remain the delivery-performance baseline, extended by SPACE and DX Core 4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54296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507992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code demands new metrics: AI code share, code durability, and acceptance rate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04104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257800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a single metric become the target — always balance speed with quality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Reflect, Calculate &amp; Discuss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789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00200" y="1737360"/>
            <a:ext cx="9509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cyclomatic complexity of a function containing 4 independent if-statements and 1 while loop, with no nesting.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0789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15468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3154680"/>
            <a:ext cx="9509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team’s deployment frequency doubled after adopting an AI coding assistant, but change failure rate rose from 5% to 12%. What additional metrics would you introduce to diagnose this, and why?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0789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57200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00200" y="4572000"/>
            <a:ext cx="9509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Goodhart’s Law make a well-intentioned metric harmful once it becomes a target?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Further Reading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McCabe, T. J. (1976). A Complexity Measure. IEEE Transactions on Software Engineering.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25856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Halstead, M. H. (1977). Elements of Software Science. Elsevier.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254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Albrecht, A. J. (1979). Function Points — IBM measurement of application development productivity.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39242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DeMarco, T. (1982). Controlling Software Projects. Yourdon Press.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95935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Forsgren, N., Humble, J., &amp; Kim, G. (2018). Accelerate. IT Revolution Press. (Origin of DORA metrics)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Google Cloud (2025). DORA State of DevOps Report.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09320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GetDX, QASource, Larridin, Oobeya, Plandek, Zylos (2026). Engineering &amp; DORA metrics in the AI era — industry reports.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– Software Metrics (Session 2)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2026-09-10T14:52:43Z</dcterms:created>
  <dcterms:modified xsi:type="dcterms:W3CDTF">2026-09-10T14:52:43Z</dcterms:modified>
</cp:coreProperties>
</file>