
<file path=[Content_Types].xml><?xml version="1.0" encoding="utf-8"?>
<Types xmlns="http://schemas.openxmlformats.org/package/2006/content-types">
  <Default ContentType="application/vnd.openxmlformats-officedocument.spreadsheetml.sheet" Extension="xlsx"/>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hEr8dMGlYthf8WvDUv8K+hFS+E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Lines of Code</c:v>
                </c:pt>
              </c:strCache>
            </c:strRef>
          </c:tx>
          <c:spPr>
            <a:solidFill>
              <a:srgbClr val="FF7A00"/>
            </a:solidFill>
            <a:effectLst/>
          </c:spPr>
          <c:invertIfNegative val="0"/>
          <c:dLbls>
            <c:numFmt formatCode="#,##0" sourceLinked="0"/>
            <c:txPr>
              <a:bodyPr/>
              <a:lstStyle/>
              <a:p>
                <a:pPr>
                  <a:defRPr b="1" i="0" strike="noStrike" sz="1200" u="none">
                    <a:solidFill>
                      <a:srgbClr val="12263A"/>
                    </a:solidFill>
                    <a:latin typeface="Arial"/>
                  </a:defRPr>
                </a:pPr>
              </a:p>
            </c:txPr>
            <c:showLegendKey val="0"/>
            <c:showVal val="1"/>
            <c:showCatName val="0"/>
            <c:showSerName val="0"/>
            <c:showPercent val="0"/>
            <c:showBubbleSize val="0"/>
            <c:showLeaderLines val="0"/>
          </c:dLbls>
          <c:cat>
            <c:multiLvlStrRef>
              <c:f>Sheet1!$A$2:$A$3</c:f>
              <c:multiLvlStrCache>
                <c:ptCount val="2"/>
                <c:lvl>
                  <c:pt idx="0">
                    <c:v>Codebase A
(Verbose)</c:v>
                  </c:pt>
                  <c:pt idx="1">
                    <c:v>Codebase B
(Concise)</c:v>
                  </c:pt>
                </c:lvl>
              </c:multiLvlStrCache>
            </c:multiLvlStrRef>
          </c:cat>
          <c:val>
            <c:numRef>
              <c:f>Sheet1!$B$2:$B$3</c:f>
              <c:numCache>
                <c:formatCode>General</c:formatCode>
                <c:ptCount val="2"/>
                <c:pt idx="0">
                  <c:v>12400</c:v>
                </c:pt>
                <c:pt idx="1">
                  <c:v>6100</c:v>
                </c:pt>
              </c:numCache>
            </c:numRef>
          </c:val>
        </c:ser>
        <c:dLbls>
          <c:numFmt formatCode="#,##0" sourceLinked="0"/>
          <c:txPr>
            <a:bodyPr/>
            <a:lstStyle/>
            <a:p>
              <a:pPr>
                <a:defRPr b="1" i="0" strike="noStrike" sz="1200" u="none">
                  <a:solidFill>
                    <a:srgbClr val="12263A"/>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C"/>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Ideal</c:v>
                </c:pt>
              </c:strCache>
            </c:strRef>
          </c:tx>
          <c:spPr>
            <a:solidFill>
              <a:srgbClr val="3E5C76"/>
            </a:solidFill>
            <a:ln w="31750" cap="flat">
              <a:solidFill>
                <a:srgbClr val="3E5C7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3E5C76"/>
              </a:solidFill>
              <a:ln w="9525" cap="flat">
                <a:solidFill>
                  <a:srgbClr val="3E5C76"/>
                </a:solidFill>
                <a:prstDash val="solid"/>
                <a:round/>
              </a:ln>
              <a:effectLst/>
            </c:spPr>
          </c:marker>
          <c:cat>
            <c:multiLvlStrRef>
              <c:f>Sheet1!$A$2:$A$11</c:f>
              <c:multiLvlStrCache>
                <c:ptCount val="10"/>
                <c:lvl>
                  <c:pt idx="0">
                    <c:v>D1</c:v>
                  </c:pt>
                  <c:pt idx="1">
                    <c:v>D2</c:v>
                  </c:pt>
                  <c:pt idx="2">
                    <c:v>D3</c:v>
                  </c:pt>
                  <c:pt idx="3">
                    <c:v>D4</c:v>
                  </c:pt>
                  <c:pt idx="4">
                    <c:v>D5</c:v>
                  </c:pt>
                  <c:pt idx="5">
                    <c:v>D6</c:v>
                  </c:pt>
                  <c:pt idx="6">
                    <c:v>D7</c:v>
                  </c:pt>
                  <c:pt idx="7">
                    <c:v>D8</c:v>
                  </c:pt>
                  <c:pt idx="8">
                    <c:v>D9</c:v>
                  </c:pt>
                  <c:pt idx="9">
                    <c:v>D10</c:v>
                  </c:pt>
                </c:lvl>
              </c:multiLvlStrCache>
            </c:multiLvlStrRef>
          </c:cat>
          <c:val>
            <c:numRef>
              <c:f>Sheet1!$B$2:$B$11</c:f>
              <c:numCache>
                <c:formatCode>General</c:formatCode>
                <c:ptCount val="10"/>
                <c:pt idx="0">
                  <c:v>50</c:v>
                </c:pt>
                <c:pt idx="1">
                  <c:v>45</c:v>
                </c:pt>
                <c:pt idx="2">
                  <c:v>40</c:v>
                </c:pt>
                <c:pt idx="3">
                  <c:v>35</c:v>
                </c:pt>
                <c:pt idx="4">
                  <c:v>30</c:v>
                </c:pt>
                <c:pt idx="5">
                  <c:v>25</c:v>
                </c:pt>
                <c:pt idx="6">
                  <c:v>20</c:v>
                </c:pt>
                <c:pt idx="7">
                  <c:v>15</c:v>
                </c:pt>
                <c:pt idx="8">
                  <c:v>10</c:v>
                </c:pt>
                <c:pt idx="9">
                  <c:v>0</c:v>
                </c:pt>
              </c:numCache>
            </c:numRef>
          </c:val>
          <c:smooth val="0"/>
        </c:ser>
        <c:ser>
          <c:idx val="1"/>
          <c:order val="1"/>
          <c:tx>
            <c:strRef>
              <c:f>Sheet1!$C$1</c:f>
              <c:strCache>
                <c:ptCount val="1"/>
                <c:pt idx="0">
                  <c:v>Actual</c:v>
                </c:pt>
              </c:strCache>
            </c:strRef>
          </c:tx>
          <c:spPr>
            <a:solidFill>
              <a:srgbClr val="FF7A00"/>
            </a:solidFill>
            <a:ln w="31750" cap="flat">
              <a:solidFill>
                <a:srgbClr val="FF7A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FF7A00"/>
              </a:solidFill>
              <a:ln w="9525" cap="flat">
                <a:solidFill>
                  <a:srgbClr val="FF7A00"/>
                </a:solidFill>
                <a:prstDash val="solid"/>
                <a:round/>
              </a:ln>
              <a:effectLst/>
            </c:spPr>
          </c:marker>
          <c:cat>
            <c:multiLvlStrRef>
              <c:f>Sheet1!$A$2:$A$11</c:f>
              <c:multiLvlStrCache>
                <c:ptCount val="10"/>
                <c:lvl>
                  <c:pt idx="0">
                    <c:v>D1</c:v>
                  </c:pt>
                  <c:pt idx="1">
                    <c:v>D2</c:v>
                  </c:pt>
                  <c:pt idx="2">
                    <c:v>D3</c:v>
                  </c:pt>
                  <c:pt idx="3">
                    <c:v>D4</c:v>
                  </c:pt>
                  <c:pt idx="4">
                    <c:v>D5</c:v>
                  </c:pt>
                  <c:pt idx="5">
                    <c:v>D6</c:v>
                  </c:pt>
                  <c:pt idx="6">
                    <c:v>D7</c:v>
                  </c:pt>
                  <c:pt idx="7">
                    <c:v>D8</c:v>
                  </c:pt>
                  <c:pt idx="8">
                    <c:v>D9</c:v>
                  </c:pt>
                  <c:pt idx="9">
                    <c:v>D10</c:v>
                  </c:pt>
                </c:lvl>
              </c:multiLvlStrCache>
            </c:multiLvlStrRef>
          </c:cat>
          <c:val>
            <c:numRef>
              <c:f>Sheet1!$C$2:$C$11</c:f>
              <c:numCache>
                <c:formatCode>General</c:formatCode>
                <c:ptCount val="10"/>
                <c:pt idx="0">
                  <c:v>50</c:v>
                </c:pt>
                <c:pt idx="1">
                  <c:v>48</c:v>
                </c:pt>
                <c:pt idx="2">
                  <c:v>44</c:v>
                </c:pt>
                <c:pt idx="3">
                  <c:v>41</c:v>
                </c:pt>
                <c:pt idx="4">
                  <c:v>38</c:v>
                </c:pt>
                <c:pt idx="5">
                  <c:v>30</c:v>
                </c:pt>
                <c:pt idx="6">
                  <c:v>24</c:v>
                </c:pt>
                <c:pt idx="7">
                  <c:v>16</c:v>
                </c:pt>
                <c:pt idx="8">
                  <c:v>8</c:v>
                </c:pt>
                <c:pt idx="9">
                  <c:v>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7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1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7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B6B7C"/>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the class and frame the lecture: software metrics turn engineering intuition into evidence. Preview that we will move from foundational definitions to modern DevOps and AI-era measurement. Emphasize the course promise: metrics support decisions, they never replace engineering judgment. Ask students to keep one question in mind: 'What would I measure to know if my own project is healthy?'</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 name="Google Shape;3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by asking students how they'd know, without looking at the code, whether a project is going well. Introduce the four reasons teams measure software. Use the dashboard analogy to show that metrics are decision aids, not the destination itself. Note that Amazon famously found that every 100 milliseconds of added latency measurably reduced sales — a direct case of a metric driving a business decision.</a:t>
            </a:r>
            <a:endParaRPr/>
          </a:p>
        </p:txBody>
      </p:sp>
      <p:sp>
        <p:nvSpPr>
          <p:cNvPr id="35" name="Google Shape;3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 the formal definition, then immediately ground it: a metric is only useful if it is compared over time or against a baseline. Preview the three-category taxonomy covered on the next slide. Stress that the point of naming metric types is to know what question each one actually answers.</a:t>
            </a:r>
            <a:endParaRPr/>
          </a:p>
        </p:txBody>
      </p:sp>
      <p:sp>
        <p:nvSpPr>
          <p:cNvPr id="71" name="Google Shape;7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the diagram left to right: product metrics describe the artifact, process metrics describe how it was made, and both feed the project-level view used for management decisions. Clarify that the same raw data can appear in more than one category depending on the question being asked. This taxonomy is the map we will use for the next three slides.</a:t>
            </a:r>
            <a:endParaRPr/>
          </a:p>
        </p:txBody>
      </p:sp>
      <p:sp>
        <p:nvSpPr>
          <p:cNvPr id="106" name="Google Shape;10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Product metrics judge the delivered artifact, not the team that built it. Response time and uptime are the two examples most students already experience daily as end users. Ask: which of these four would matter most for a banking app versus a game?</a:t>
            </a:r>
            <a:endParaRPr/>
          </a:p>
        </p:txBody>
      </p:sp>
      <p:sp>
        <p:nvSpPr>
          <p:cNvPr id="138" name="Google Shape;13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Process metrics describe the assembly line, not the product coming off it. Microsoft's early defect-density studies during Windows development are a classic example of process measurement shaping engineering standards. Point out that process metrics only matter if the process can actually be changed in response.</a:t>
            </a:r>
            <a:endParaRPr/>
          </a:p>
        </p:txBody>
      </p:sp>
      <p:sp>
        <p:nvSpPr>
          <p:cNvPr id="174" name="Google Shape;17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Project metrics are the manager's-eye view: is this effort under control as a piece of work, independent of code quality. Contrast with product metrics from two slides ago — a project can finish on time and budget while still shipping a low-quality product, which is exactly why teams need more than one category of metric.</a:t>
            </a:r>
            <a:endParaRPr/>
          </a:p>
        </p:txBody>
      </p:sp>
      <p:sp>
        <p:nvSpPr>
          <p:cNvPr id="210" name="Google Shape;21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LOC is the oldest and simplest sizing metric, but it rewards verbosity over elegance. Walk through the chart: two codebases with identical functionality can have very different line counts, so LOC alone is a poor productivity measure. This motivates the next slide's alternative, Function Point Analysis.</a:t>
            </a:r>
            <a:endParaRPr/>
          </a:p>
        </p:txBody>
      </p:sp>
      <p:sp>
        <p:nvSpPr>
          <p:cNvPr id="246" name="Google Shape;24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Function Point Analysis rates software by user-visible functionality rather than implementation detail. The two cards make the point concrete: different languages and line counts, identical function point score, because both applications deliver the same features to the user. This is why FPA remains valuable for comparing productivity across different technology stacks.</a:t>
            </a:r>
            <a:endParaRPr/>
          </a:p>
        </p:txBody>
      </p:sp>
      <p:sp>
        <p:nvSpPr>
          <p:cNvPr id="280" name="Google Shape;28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Quality metrics move beyond size to ask whether the software actually works well for users. Availability targets like 99.95 percent, often called four nines lite, translate directly into an allowed number of downtime minutes per year, which makes the abstract number concrete. Netflix's engineering culture around resilience and chaos testing is a well-known real-world example of taking availability seriously as a metric.</a:t>
            </a:r>
            <a:endParaRPr/>
          </a:p>
        </p:txBody>
      </p:sp>
      <p:sp>
        <p:nvSpPr>
          <p:cNvPr id="328" name="Google Shape;32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Agile metrics track flow rather than a fixed scope, which suits iterative delivery. Walk through the burndown chart: the gap between ideal and actual lines tells the team whether the sprint plan is realistic. Mention Spotify's squad model as a well-known example of a company built around this kind of continuous, team-level measurement.</a:t>
            </a:r>
            <a:endParaRPr/>
          </a:p>
        </p:txBody>
      </p:sp>
      <p:sp>
        <p:nvSpPr>
          <p:cNvPr id="367" name="Google Shape;36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four DORA metrics — deployment frequency, lead time, change failure rate, and mean time to recovery — are today's industry-standard measure of engineering velocity balanced against stability. Emphasize the balance: shipping fast without the failure-rate and recovery-time metrics would be reckless, exactly like a hospital tracking speed of care alongside patient safety. Note that this research originated at Google and now shapes how most tech companies benchmark DevOps performance.</a:t>
            </a:r>
            <a:endParaRPr/>
          </a:p>
        </p:txBody>
      </p:sp>
      <p:sp>
        <p:nvSpPr>
          <p:cNvPr id="401" name="Google Shape;40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 AI tools generate more code, teams need new metrics for a human-AI collaboration rather than a human-only process. Acceptance rate, review burden, and correction frequency are becoming as routine as velocity was a decade ago. Stress the running theme of the lecture here: a high acceptance rate is meaningless without a paired quality metric confirming the accepted code is actually correct.</a:t>
            </a:r>
            <a:endParaRPr/>
          </a:p>
        </p:txBody>
      </p:sp>
      <p:sp>
        <p:nvSpPr>
          <p:cNvPr id="441" name="Google Shape;44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Apply the full taxonomy to one familiar system: a food delivery application. Walk the class through why each metric sits in its category, then ask them to identify one metric per category for an app of their own choosing. This exercise is the bridge from lecture content to the discussion questions on the final slide.</a:t>
            </a:r>
            <a:endParaRPr/>
          </a:p>
        </p:txBody>
      </p:sp>
      <p:sp>
        <p:nvSpPr>
          <p:cNvPr id="480" name="Google Shape;48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with open discussion — these five questions have no single correct answer and are meant to surface genuine debate. Return to the lecture's central theme for the key takeaways: metrics are decision support, pairing speed with quality prevents the most common mistake, and Goodhart's Law warns that any metric turned into a target loses its meaning. End by connecting back to the companies named throughout the lecture as evidence this is not academic theory but daily industry practice.</a:t>
            </a:r>
            <a:endParaRPr/>
          </a:p>
        </p:txBody>
      </p:sp>
      <p:sp>
        <p:nvSpPr>
          <p:cNvPr id="522" name="Google Shape;52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8.png"/><Relationship Id="rId4" Type="http://schemas.openxmlformats.org/officeDocument/2006/relationships/image" Target="../media/image2.png"/><Relationship Id="rId5" Type="http://schemas.openxmlformats.org/officeDocument/2006/relationships/image" Target="../media/image27.png"/><Relationship Id="rId6" Type="http://schemas.openxmlformats.org/officeDocument/2006/relationships/image" Target="../media/image33.png"/><Relationship Id="rId7"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8.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2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6.png"/><Relationship Id="rId8"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7.png"/><Relationship Id="rId4" Type="http://schemas.openxmlformats.org/officeDocument/2006/relationships/image" Target="../media/image10.png"/><Relationship Id="rId5" Type="http://schemas.openxmlformats.org/officeDocument/2006/relationships/image" Target="../media/image19.png"/><Relationship Id="rId6" Type="http://schemas.openxmlformats.org/officeDocument/2006/relationships/image" Target="../media/image33.png"/><Relationship Id="rId7"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1.png"/><Relationship Id="rId4" Type="http://schemas.openxmlformats.org/officeDocument/2006/relationships/image" Target="../media/image2.png"/><Relationship Id="rId5" Type="http://schemas.openxmlformats.org/officeDocument/2006/relationships/image" Target="../media/image33.png"/><Relationship Id="rId6" Type="http://schemas.openxmlformats.org/officeDocument/2006/relationships/image" Target="../media/image27.png"/><Relationship Id="rId7" Type="http://schemas.openxmlformats.org/officeDocument/2006/relationships/image" Target="../media/image57.png"/><Relationship Id="rId8"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8.png"/><Relationship Id="rId4" Type="http://schemas.openxmlformats.org/officeDocument/2006/relationships/image" Target="../media/image19.png"/><Relationship Id="rId5" Type="http://schemas.openxmlformats.org/officeDocument/2006/relationships/image" Target="../media/image2.png"/><Relationship Id="rId6" Type="http://schemas.openxmlformats.org/officeDocument/2006/relationships/image" Target="../media/image33.png"/><Relationship Id="rId7"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19.png"/><Relationship Id="rId7" Type="http://schemas.openxmlformats.org/officeDocument/2006/relationships/image" Target="../media/image4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11.png"/><Relationship Id="rId7" Type="http://schemas.openxmlformats.org/officeDocument/2006/relationships/image" Target="../media/image65.png"/><Relationship Id="rId8"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27.png"/><Relationship Id="rId5" Type="http://schemas.openxmlformats.org/officeDocument/2006/relationships/image" Target="../media/image2.png"/><Relationship Id="rId6" Type="http://schemas.openxmlformats.org/officeDocument/2006/relationships/image" Target="../media/image7.png"/><Relationship Id="rId7" Type="http://schemas.openxmlformats.org/officeDocument/2006/relationships/image" Target="../media/image5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8.png"/><Relationship Id="rId4" Type="http://schemas.openxmlformats.org/officeDocument/2006/relationships/image" Target="../media/image2.png"/><Relationship Id="rId5" Type="http://schemas.openxmlformats.org/officeDocument/2006/relationships/image" Target="../media/image19.png"/><Relationship Id="rId6" Type="http://schemas.openxmlformats.org/officeDocument/2006/relationships/image" Target="../media/image33.png"/><Relationship Id="rId7"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15.png"/><Relationship Id="rId6" Type="http://schemas.openxmlformats.org/officeDocument/2006/relationships/image" Target="../media/image5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4.png"/><Relationship Id="rId4" Type="http://schemas.openxmlformats.org/officeDocument/2006/relationships/image" Target="../media/image6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263A"/>
        </a:solidFill>
      </p:bgPr>
    </p:bg>
    <p:spTree>
      <p:nvGrpSpPr>
        <p:cNvPr id="15" name="Shape 15"/>
        <p:cNvGrpSpPr/>
        <p:nvPr/>
      </p:nvGrpSpPr>
      <p:grpSpPr>
        <a:xfrm>
          <a:off x="0" y="0"/>
          <a:ext cx="0" cy="0"/>
          <a:chOff x="0" y="0"/>
          <a:chExt cx="0" cy="0"/>
        </a:xfrm>
      </p:grpSpPr>
      <p:pic>
        <p:nvPicPr>
          <p:cNvPr descr="/home/claude/icons/gauge_navy.png" id="16" name="Google Shape;16;p1"/>
          <p:cNvPicPr preferRelativeResize="0"/>
          <p:nvPr/>
        </p:nvPicPr>
        <p:blipFill rotWithShape="1">
          <a:blip r:embed="rId3">
            <a:alphaModFix amt="30000"/>
          </a:blip>
          <a:srcRect b="0" l="0" r="0" t="0"/>
          <a:stretch/>
        </p:blipFill>
        <p:spPr>
          <a:xfrm>
            <a:off x="8138160" y="1005840"/>
            <a:ext cx="4206240" cy="4206240"/>
          </a:xfrm>
          <a:prstGeom prst="rect">
            <a:avLst/>
          </a:prstGeom>
          <a:noFill/>
          <a:ln>
            <a:noFill/>
          </a:ln>
        </p:spPr>
      </p:pic>
      <p:sp>
        <p:nvSpPr>
          <p:cNvPr id="17" name="Google Shape;17;p1"/>
          <p:cNvSpPr/>
          <p:nvPr/>
        </p:nvSpPr>
        <p:spPr>
          <a:xfrm>
            <a:off x="822960" y="141732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300"/>
              <a:buFont typeface="Calibri"/>
              <a:buNone/>
            </a:pPr>
            <a:r>
              <a:rPr b="1" i="0" lang="en-US" sz="1300" u="none" cap="none" strike="noStrike">
                <a:solidFill>
                  <a:srgbClr val="FF7A00"/>
                </a:solidFill>
                <a:latin typeface="Calibri"/>
                <a:ea typeface="Calibri"/>
                <a:cs typeface="Calibri"/>
                <a:sym typeface="Calibri"/>
              </a:rPr>
              <a:t>SOFTWARE ENGINEERING · LECTURE</a:t>
            </a:r>
            <a:endParaRPr b="0" i="0" sz="1300" u="none" cap="none" strike="noStrike">
              <a:solidFill>
                <a:schemeClr val="dk1"/>
              </a:solidFill>
              <a:latin typeface="Calibri"/>
              <a:ea typeface="Calibri"/>
              <a:cs typeface="Calibri"/>
              <a:sym typeface="Calibri"/>
            </a:endParaRPr>
          </a:p>
        </p:txBody>
      </p:sp>
      <p:sp>
        <p:nvSpPr>
          <p:cNvPr id="18" name="Google Shape;18;p1"/>
          <p:cNvSpPr/>
          <p:nvPr/>
        </p:nvSpPr>
        <p:spPr>
          <a:xfrm>
            <a:off x="822960" y="1737360"/>
            <a:ext cx="7863840" cy="17373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FFFFFF"/>
              </a:buClr>
              <a:buSzPts val="4600"/>
              <a:buFont typeface="Cambria"/>
              <a:buNone/>
            </a:pPr>
            <a:r>
              <a:rPr b="1" i="0" lang="en-US" sz="4600" u="none" cap="none" strike="noStrike">
                <a:solidFill>
                  <a:srgbClr val="FFFFFF"/>
                </a:solidFill>
                <a:latin typeface="Cambria"/>
                <a:ea typeface="Cambria"/>
                <a:cs typeface="Cambria"/>
                <a:sym typeface="Cambria"/>
              </a:rPr>
              <a:t>Software Metrics</a:t>
            </a:r>
            <a:endParaRPr b="0" i="0" sz="46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FFFFFF"/>
              </a:buClr>
              <a:buSzPts val="4600"/>
              <a:buFont typeface="Cambria"/>
              <a:buNone/>
            </a:pPr>
            <a:r>
              <a:rPr b="1" i="0" lang="en-US" sz="4600" u="none" cap="none" strike="noStrike">
                <a:solidFill>
                  <a:srgbClr val="FFFFFF"/>
                </a:solidFill>
                <a:latin typeface="Cambria"/>
                <a:ea typeface="Cambria"/>
                <a:cs typeface="Cambria"/>
                <a:sym typeface="Cambria"/>
              </a:rPr>
              <a:t>and Measurement</a:t>
            </a:r>
            <a:endParaRPr b="0" i="0" sz="4600" u="none" cap="none" strike="noStrike">
              <a:solidFill>
                <a:schemeClr val="dk1"/>
              </a:solidFill>
              <a:latin typeface="Calibri"/>
              <a:ea typeface="Calibri"/>
              <a:cs typeface="Calibri"/>
              <a:sym typeface="Calibri"/>
            </a:endParaRPr>
          </a:p>
        </p:txBody>
      </p:sp>
      <p:sp>
        <p:nvSpPr>
          <p:cNvPr id="19" name="Google Shape;19;p1"/>
          <p:cNvSpPr/>
          <p:nvPr/>
        </p:nvSpPr>
        <p:spPr>
          <a:xfrm>
            <a:off x="822960" y="352044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500"/>
              <a:buFont typeface="Calibri"/>
              <a:buNone/>
            </a:pPr>
            <a:r>
              <a:rPr b="0" i="1" lang="en-US" sz="1500" u="none" cap="none" strike="noStrike">
                <a:solidFill>
                  <a:srgbClr val="CADCFC"/>
                </a:solidFill>
                <a:latin typeface="Calibri"/>
                <a:ea typeface="Calibri"/>
                <a:cs typeface="Calibri"/>
                <a:sym typeface="Calibri"/>
              </a:rPr>
              <a:t>Because in software engineering, what gets measured gets improved.</a:t>
            </a:r>
            <a:endParaRPr b="0" i="0" sz="1500" u="none" cap="none" strike="noStrike">
              <a:solidFill>
                <a:schemeClr val="dk1"/>
              </a:solidFill>
              <a:latin typeface="Calibri"/>
              <a:ea typeface="Calibri"/>
              <a:cs typeface="Calibri"/>
              <a:sym typeface="Calibri"/>
            </a:endParaRPr>
          </a:p>
        </p:txBody>
      </p:sp>
      <p:cxnSp>
        <p:nvCxnSpPr>
          <p:cNvPr id="20" name="Google Shape;20;p1"/>
          <p:cNvCxnSpPr/>
          <p:nvPr/>
        </p:nvCxnSpPr>
        <p:spPr>
          <a:xfrm>
            <a:off x="822960" y="4114800"/>
            <a:ext cx="5852160" cy="0"/>
          </a:xfrm>
          <a:prstGeom prst="straightConnector1">
            <a:avLst/>
          </a:prstGeom>
          <a:noFill/>
          <a:ln cap="flat" cmpd="sng" w="12700">
            <a:solidFill>
              <a:srgbClr val="324A66"/>
            </a:solidFill>
            <a:prstDash val="solid"/>
            <a:round/>
            <a:headEnd len="sm" w="sm" type="none"/>
            <a:tailEnd len="sm" w="sm" type="none"/>
          </a:ln>
        </p:spPr>
      </p:cxnSp>
      <p:sp>
        <p:nvSpPr>
          <p:cNvPr id="21" name="Google Shape;21;p1"/>
          <p:cNvSpPr/>
          <p:nvPr/>
        </p:nvSpPr>
        <p:spPr>
          <a:xfrm>
            <a:off x="822960" y="4279392"/>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150"/>
              <a:buFont typeface="Calibri"/>
              <a:buNone/>
            </a:pPr>
            <a:r>
              <a:rPr b="1" i="0" lang="en-US" sz="1150" u="none" cap="none" strike="noStrike">
                <a:solidFill>
                  <a:srgbClr val="FF7A00"/>
                </a:solidFill>
                <a:latin typeface="Calibri"/>
                <a:ea typeface="Calibri"/>
                <a:cs typeface="Calibri"/>
                <a:sym typeface="Calibri"/>
              </a:rPr>
              <a:t>BY THE END OF THIS LECTURE, YOU WILL BE ABLE TO:</a:t>
            </a:r>
            <a:endParaRPr b="0" i="0" sz="1150" u="none" cap="none" strike="noStrike">
              <a:solidFill>
                <a:schemeClr val="dk1"/>
              </a:solidFill>
              <a:latin typeface="Calibri"/>
              <a:ea typeface="Calibri"/>
              <a:cs typeface="Calibri"/>
              <a:sym typeface="Calibri"/>
            </a:endParaRPr>
          </a:p>
        </p:txBody>
      </p:sp>
      <p:sp>
        <p:nvSpPr>
          <p:cNvPr id="22" name="Google Shape;22;p1"/>
          <p:cNvSpPr/>
          <p:nvPr/>
        </p:nvSpPr>
        <p:spPr>
          <a:xfrm>
            <a:off x="822960" y="4672584"/>
            <a:ext cx="109728" cy="109728"/>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a:off x="1097280" y="4544568"/>
            <a:ext cx="6675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Explain why software teams measure their work</a:t>
            </a:r>
            <a:endParaRPr b="0" i="0" sz="1400" u="none" cap="none" strike="noStrike">
              <a:solidFill>
                <a:schemeClr val="dk1"/>
              </a:solidFill>
              <a:latin typeface="Calibri"/>
              <a:ea typeface="Calibri"/>
              <a:cs typeface="Calibri"/>
              <a:sym typeface="Calibri"/>
            </a:endParaRPr>
          </a:p>
        </p:txBody>
      </p:sp>
      <p:sp>
        <p:nvSpPr>
          <p:cNvPr id="24" name="Google Shape;24;p1"/>
          <p:cNvSpPr/>
          <p:nvPr/>
        </p:nvSpPr>
        <p:spPr>
          <a:xfrm>
            <a:off x="822960" y="5056632"/>
            <a:ext cx="109728" cy="109728"/>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1097280" y="4928616"/>
            <a:ext cx="6675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Distinguish product, process, and project metrics</a:t>
            </a:r>
            <a:endParaRPr b="0" i="0" sz="1400" u="none" cap="none" strike="noStrike">
              <a:solidFill>
                <a:schemeClr val="dk1"/>
              </a:solidFill>
              <a:latin typeface="Calibri"/>
              <a:ea typeface="Calibri"/>
              <a:cs typeface="Calibri"/>
              <a:sym typeface="Calibri"/>
            </a:endParaRPr>
          </a:p>
        </p:txBody>
      </p:sp>
      <p:sp>
        <p:nvSpPr>
          <p:cNvPr id="26" name="Google Shape;26;p1"/>
          <p:cNvSpPr/>
          <p:nvPr/>
        </p:nvSpPr>
        <p:spPr>
          <a:xfrm>
            <a:off x="822960" y="5440680"/>
            <a:ext cx="109728" cy="109728"/>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
          <p:cNvSpPr/>
          <p:nvPr/>
        </p:nvSpPr>
        <p:spPr>
          <a:xfrm>
            <a:off x="1097280" y="5312664"/>
            <a:ext cx="6675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Apply classic and modern metrics, including DORA</a:t>
            </a:r>
            <a:endParaRPr b="0" i="0" sz="1400" u="none" cap="none" strike="noStrike">
              <a:solidFill>
                <a:schemeClr val="dk1"/>
              </a:solidFill>
              <a:latin typeface="Calibri"/>
              <a:ea typeface="Calibri"/>
              <a:cs typeface="Calibri"/>
              <a:sym typeface="Calibri"/>
            </a:endParaRPr>
          </a:p>
        </p:txBody>
      </p:sp>
      <p:sp>
        <p:nvSpPr>
          <p:cNvPr id="28" name="Google Shape;28;p1"/>
          <p:cNvSpPr/>
          <p:nvPr/>
        </p:nvSpPr>
        <p:spPr>
          <a:xfrm>
            <a:off x="822960" y="5824728"/>
            <a:ext cx="109728" cy="109728"/>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
          <p:cNvSpPr/>
          <p:nvPr/>
        </p:nvSpPr>
        <p:spPr>
          <a:xfrm>
            <a:off x="1097280" y="5696712"/>
            <a:ext cx="6675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Interpret AI-era measurement without misusing numbers</a:t>
            </a:r>
            <a:endParaRPr b="0" i="0" sz="1400" u="none" cap="none" strike="noStrike">
              <a:solidFill>
                <a:schemeClr val="dk1"/>
              </a:solidFill>
              <a:latin typeface="Calibri"/>
              <a:ea typeface="Calibri"/>
              <a:cs typeface="Calibri"/>
              <a:sym typeface="Calibri"/>
            </a:endParaRPr>
          </a:p>
        </p:txBody>
      </p:sp>
      <p:sp>
        <p:nvSpPr>
          <p:cNvPr id="30" name="Google Shape;30;p1"/>
          <p:cNvSpPr/>
          <p:nvPr/>
        </p:nvSpPr>
        <p:spPr>
          <a:xfrm>
            <a:off x="11505895" y="6291072"/>
            <a:ext cx="384048" cy="384048"/>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
          <p:cNvSpPr/>
          <p:nvPr/>
        </p:nvSpPr>
        <p:spPr>
          <a:xfrm>
            <a:off x="11505895" y="629107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36" name="Shape 36"/>
        <p:cNvGrpSpPr/>
        <p:nvPr/>
      </p:nvGrpSpPr>
      <p:grpSpPr>
        <a:xfrm>
          <a:off x="0" y="0"/>
          <a:ext cx="0" cy="0"/>
          <a:chOff x="0" y="0"/>
          <a:chExt cx="0" cy="0"/>
        </a:xfrm>
      </p:grpSpPr>
      <p:sp>
        <p:nvSpPr>
          <p:cNvPr id="37" name="Google Shape;37;p2"/>
          <p:cNvSpPr/>
          <p:nvPr/>
        </p:nvSpPr>
        <p:spPr>
          <a:xfrm>
            <a:off x="640080" y="384048"/>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300"/>
              <a:buFont typeface="Calibri"/>
              <a:buNone/>
            </a:pPr>
            <a:r>
              <a:rPr b="1" i="0" lang="en-US" sz="1300" u="none" cap="none" strike="noStrike">
                <a:solidFill>
                  <a:srgbClr val="FF7A00"/>
                </a:solidFill>
                <a:latin typeface="Calibri"/>
                <a:ea typeface="Calibri"/>
                <a:cs typeface="Calibri"/>
                <a:sym typeface="Calibri"/>
              </a:rPr>
              <a:t>01 · FOUNDATIONS</a:t>
            </a:r>
            <a:endParaRPr b="0" i="0" sz="1300" u="none" cap="none" strike="noStrike">
              <a:solidFill>
                <a:schemeClr val="dk1"/>
              </a:solidFill>
              <a:latin typeface="Calibri"/>
              <a:ea typeface="Calibri"/>
              <a:cs typeface="Calibri"/>
              <a:sym typeface="Calibri"/>
            </a:endParaRPr>
          </a:p>
        </p:txBody>
      </p:sp>
      <p:sp>
        <p:nvSpPr>
          <p:cNvPr id="38" name="Google Shape;38;p2"/>
          <p:cNvSpPr/>
          <p:nvPr/>
        </p:nvSpPr>
        <p:spPr>
          <a:xfrm>
            <a:off x="640080" y="676656"/>
            <a:ext cx="108813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Why Measure Software?</a:t>
            </a:r>
            <a:endParaRPr b="0" i="0" sz="3200" u="none" cap="none" strike="noStrike">
              <a:solidFill>
                <a:schemeClr val="dk1"/>
              </a:solidFill>
              <a:latin typeface="Calibri"/>
              <a:ea typeface="Calibri"/>
              <a:cs typeface="Calibri"/>
              <a:sym typeface="Calibri"/>
            </a:endParaRPr>
          </a:p>
        </p:txBody>
      </p:sp>
      <p:sp>
        <p:nvSpPr>
          <p:cNvPr id="39" name="Google Shape;39;p2"/>
          <p:cNvSpPr/>
          <p:nvPr/>
        </p:nvSpPr>
        <p:spPr>
          <a:xfrm>
            <a:off x="548640" y="638251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900"/>
              <a:buFont typeface="Calibri"/>
              <a:buNone/>
            </a:pPr>
            <a:r>
              <a:rPr b="0" i="0" lang="en-US" sz="900" u="none" cap="none" strike="noStrike">
                <a:solidFill>
                  <a:srgbClr val="5B6B7C"/>
                </a:solidFill>
                <a:latin typeface="Calibri"/>
                <a:ea typeface="Calibri"/>
                <a:cs typeface="Calibri"/>
                <a:sym typeface="Calibri"/>
              </a:rPr>
              <a:t>SOFTWARE METRICS &amp; MEASUREMENT</a:t>
            </a:r>
            <a:endParaRPr b="0" i="0" sz="900" u="none" cap="none" strike="noStrike">
              <a:solidFill>
                <a:schemeClr val="dk1"/>
              </a:solidFill>
              <a:latin typeface="Calibri"/>
              <a:ea typeface="Calibri"/>
              <a:cs typeface="Calibri"/>
              <a:sym typeface="Calibri"/>
            </a:endParaRPr>
          </a:p>
        </p:txBody>
      </p:sp>
      <p:sp>
        <p:nvSpPr>
          <p:cNvPr id="40" name="Google Shape;40;p2"/>
          <p:cNvSpPr/>
          <p:nvPr/>
        </p:nvSpPr>
        <p:spPr>
          <a:xfrm>
            <a:off x="640080" y="146304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bullseye_white.png" id="41" name="Google Shape;41;p2"/>
          <p:cNvPicPr preferRelativeResize="0"/>
          <p:nvPr/>
        </p:nvPicPr>
        <p:blipFill rotWithShape="1">
          <a:blip r:embed="rId3">
            <a:alphaModFix/>
          </a:blip>
          <a:srcRect b="0" l="0" r="0" t="0"/>
          <a:stretch/>
        </p:blipFill>
        <p:spPr>
          <a:xfrm>
            <a:off x="694944" y="1517904"/>
            <a:ext cx="347472" cy="347472"/>
          </a:xfrm>
          <a:prstGeom prst="rect">
            <a:avLst/>
          </a:prstGeom>
          <a:noFill/>
          <a:ln>
            <a:noFill/>
          </a:ln>
        </p:spPr>
      </p:pic>
      <p:sp>
        <p:nvSpPr>
          <p:cNvPr id="42" name="Google Shape;42;p2"/>
          <p:cNvSpPr/>
          <p:nvPr/>
        </p:nvSpPr>
        <p:spPr>
          <a:xfrm>
            <a:off x="1298448" y="142646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Decision Making</a:t>
            </a:r>
            <a:endParaRPr b="0" i="0" sz="1500" u="none" cap="none" strike="noStrike">
              <a:solidFill>
                <a:schemeClr val="dk1"/>
              </a:solidFill>
              <a:latin typeface="Calibri"/>
              <a:ea typeface="Calibri"/>
              <a:cs typeface="Calibri"/>
              <a:sym typeface="Calibri"/>
            </a:endParaRPr>
          </a:p>
        </p:txBody>
      </p:sp>
      <p:sp>
        <p:nvSpPr>
          <p:cNvPr id="43" name="Google Shape;43;p2"/>
          <p:cNvSpPr/>
          <p:nvPr/>
        </p:nvSpPr>
        <p:spPr>
          <a:xfrm>
            <a:off x="1298448" y="170078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Choose direction using evidence, not opinion alone.</a:t>
            </a:r>
            <a:endParaRPr b="0" i="0" sz="1150" u="none" cap="none" strike="noStrike">
              <a:solidFill>
                <a:schemeClr val="dk1"/>
              </a:solidFill>
              <a:latin typeface="Calibri"/>
              <a:ea typeface="Calibri"/>
              <a:cs typeface="Calibri"/>
              <a:sym typeface="Calibri"/>
            </a:endParaRPr>
          </a:p>
        </p:txBody>
      </p:sp>
      <p:sp>
        <p:nvSpPr>
          <p:cNvPr id="44" name="Google Shape;44;p2"/>
          <p:cNvSpPr/>
          <p:nvPr/>
        </p:nvSpPr>
        <p:spPr>
          <a:xfrm>
            <a:off x="640080" y="265176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shield_white.png" id="45" name="Google Shape;45;p2"/>
          <p:cNvPicPr preferRelativeResize="0"/>
          <p:nvPr/>
        </p:nvPicPr>
        <p:blipFill rotWithShape="1">
          <a:blip r:embed="rId4">
            <a:alphaModFix/>
          </a:blip>
          <a:srcRect b="0" l="0" r="0" t="0"/>
          <a:stretch/>
        </p:blipFill>
        <p:spPr>
          <a:xfrm>
            <a:off x="694944" y="2706624"/>
            <a:ext cx="347472" cy="347472"/>
          </a:xfrm>
          <a:prstGeom prst="rect">
            <a:avLst/>
          </a:prstGeom>
          <a:noFill/>
          <a:ln>
            <a:noFill/>
          </a:ln>
        </p:spPr>
      </p:pic>
      <p:sp>
        <p:nvSpPr>
          <p:cNvPr id="46" name="Google Shape;46;p2"/>
          <p:cNvSpPr/>
          <p:nvPr/>
        </p:nvSpPr>
        <p:spPr>
          <a:xfrm>
            <a:off x="1298448" y="261518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Quality Improvement</a:t>
            </a:r>
            <a:endParaRPr b="0" i="0" sz="1500" u="none" cap="none" strike="noStrike">
              <a:solidFill>
                <a:schemeClr val="dk1"/>
              </a:solidFill>
              <a:latin typeface="Calibri"/>
              <a:ea typeface="Calibri"/>
              <a:cs typeface="Calibri"/>
              <a:sym typeface="Calibri"/>
            </a:endParaRPr>
          </a:p>
        </p:txBody>
      </p:sp>
      <p:sp>
        <p:nvSpPr>
          <p:cNvPr id="47" name="Google Shape;47;p2"/>
          <p:cNvSpPr/>
          <p:nvPr/>
        </p:nvSpPr>
        <p:spPr>
          <a:xfrm>
            <a:off x="1298448" y="288950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Find weak spots before customers ever do.</a:t>
            </a:r>
            <a:endParaRPr b="0" i="0" sz="1150" u="none" cap="none" strike="noStrike">
              <a:solidFill>
                <a:schemeClr val="dk1"/>
              </a:solidFill>
              <a:latin typeface="Calibri"/>
              <a:ea typeface="Calibri"/>
              <a:cs typeface="Calibri"/>
              <a:sym typeface="Calibri"/>
            </a:endParaRPr>
          </a:p>
        </p:txBody>
      </p:sp>
      <p:sp>
        <p:nvSpPr>
          <p:cNvPr id="48" name="Google Shape;48;p2"/>
          <p:cNvSpPr/>
          <p:nvPr/>
        </p:nvSpPr>
        <p:spPr>
          <a:xfrm>
            <a:off x="640080" y="384048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hart_white.png" id="49" name="Google Shape;49;p2"/>
          <p:cNvPicPr preferRelativeResize="0"/>
          <p:nvPr/>
        </p:nvPicPr>
        <p:blipFill rotWithShape="1">
          <a:blip r:embed="rId5">
            <a:alphaModFix/>
          </a:blip>
          <a:srcRect b="0" l="0" r="0" t="0"/>
          <a:stretch/>
        </p:blipFill>
        <p:spPr>
          <a:xfrm>
            <a:off x="694944" y="3895344"/>
            <a:ext cx="347472" cy="347472"/>
          </a:xfrm>
          <a:prstGeom prst="rect">
            <a:avLst/>
          </a:prstGeom>
          <a:noFill/>
          <a:ln>
            <a:noFill/>
          </a:ln>
        </p:spPr>
      </p:pic>
      <p:sp>
        <p:nvSpPr>
          <p:cNvPr id="50" name="Google Shape;50;p2"/>
          <p:cNvSpPr/>
          <p:nvPr/>
        </p:nvSpPr>
        <p:spPr>
          <a:xfrm>
            <a:off x="1298448" y="380390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Performance Monitoring</a:t>
            </a:r>
            <a:endParaRPr b="0" i="0" sz="1500" u="none" cap="none" strike="noStrike">
              <a:solidFill>
                <a:schemeClr val="dk1"/>
              </a:solidFill>
              <a:latin typeface="Calibri"/>
              <a:ea typeface="Calibri"/>
              <a:cs typeface="Calibri"/>
              <a:sym typeface="Calibri"/>
            </a:endParaRPr>
          </a:p>
        </p:txBody>
      </p:sp>
      <p:sp>
        <p:nvSpPr>
          <p:cNvPr id="51" name="Google Shape;51;p2"/>
          <p:cNvSpPr/>
          <p:nvPr/>
        </p:nvSpPr>
        <p:spPr>
          <a:xfrm>
            <a:off x="1298448" y="407822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Track system health continuously, not just at release.</a:t>
            </a:r>
            <a:endParaRPr b="0" i="0" sz="1150" u="none" cap="none" strike="noStrike">
              <a:solidFill>
                <a:schemeClr val="dk1"/>
              </a:solidFill>
              <a:latin typeface="Calibri"/>
              <a:ea typeface="Calibri"/>
              <a:cs typeface="Calibri"/>
              <a:sym typeface="Calibri"/>
            </a:endParaRPr>
          </a:p>
        </p:txBody>
      </p:sp>
      <p:sp>
        <p:nvSpPr>
          <p:cNvPr id="52" name="Google Shape;52;p2"/>
          <p:cNvSpPr/>
          <p:nvPr/>
        </p:nvSpPr>
        <p:spPr>
          <a:xfrm>
            <a:off x="640080" y="502920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balance_white.png" id="53" name="Google Shape;53;p2"/>
          <p:cNvPicPr preferRelativeResize="0"/>
          <p:nvPr/>
        </p:nvPicPr>
        <p:blipFill rotWithShape="1">
          <a:blip r:embed="rId6">
            <a:alphaModFix/>
          </a:blip>
          <a:srcRect b="0" l="0" r="0" t="0"/>
          <a:stretch/>
        </p:blipFill>
        <p:spPr>
          <a:xfrm>
            <a:off x="694944" y="5084064"/>
            <a:ext cx="347472" cy="347472"/>
          </a:xfrm>
          <a:prstGeom prst="rect">
            <a:avLst/>
          </a:prstGeom>
          <a:noFill/>
          <a:ln>
            <a:noFill/>
          </a:ln>
        </p:spPr>
      </p:pic>
      <p:sp>
        <p:nvSpPr>
          <p:cNvPr id="54" name="Google Shape;54;p2"/>
          <p:cNvSpPr/>
          <p:nvPr/>
        </p:nvSpPr>
        <p:spPr>
          <a:xfrm>
            <a:off x="1298448" y="499262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Risk Reduction</a:t>
            </a:r>
            <a:endParaRPr b="0" i="0" sz="1500" u="none" cap="none" strike="noStrike">
              <a:solidFill>
                <a:schemeClr val="dk1"/>
              </a:solidFill>
              <a:latin typeface="Calibri"/>
              <a:ea typeface="Calibri"/>
              <a:cs typeface="Calibri"/>
              <a:sym typeface="Calibri"/>
            </a:endParaRPr>
          </a:p>
        </p:txBody>
      </p:sp>
      <p:sp>
        <p:nvSpPr>
          <p:cNvPr id="55" name="Google Shape;55;p2"/>
          <p:cNvSpPr/>
          <p:nvPr/>
        </p:nvSpPr>
        <p:spPr>
          <a:xfrm>
            <a:off x="1298448" y="526694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Spot warning signs early enough to act on them.</a:t>
            </a:r>
            <a:endParaRPr b="0" i="0" sz="1150" u="none" cap="none" strike="noStrike">
              <a:solidFill>
                <a:schemeClr val="dk1"/>
              </a:solidFill>
              <a:latin typeface="Calibri"/>
              <a:ea typeface="Calibri"/>
              <a:cs typeface="Calibri"/>
              <a:sym typeface="Calibri"/>
            </a:endParaRPr>
          </a:p>
        </p:txBody>
      </p:sp>
      <p:sp>
        <p:nvSpPr>
          <p:cNvPr id="56" name="Google Shape;56;p2"/>
          <p:cNvSpPr/>
          <p:nvPr/>
        </p:nvSpPr>
        <p:spPr>
          <a:xfrm>
            <a:off x="7269480" y="1463040"/>
            <a:ext cx="4251960" cy="1737360"/>
          </a:xfrm>
          <a:prstGeom prst="roundRect">
            <a:avLst>
              <a:gd fmla="val 4211" name="adj"/>
            </a:avLst>
          </a:prstGeom>
          <a:solidFill>
            <a:srgbClr val="FFFFFF"/>
          </a:solidFill>
          <a:ln cap="flat" cmpd="sng" w="12700">
            <a:solidFill>
              <a:srgbClr val="E1E7EE"/>
            </a:solidFill>
            <a:prstDash val="solid"/>
            <a:round/>
            <a:headEnd len="sm" w="sm" type="none"/>
            <a:tailEnd len="sm" w="sm" type="none"/>
          </a:ln>
          <a:effectLst>
            <a:outerShdw blurRad="76200" rotWithShape="0" algn="bl" dir="5400000" dist="25400">
              <a:srgbClr val="1F2937">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7488936" y="1700784"/>
            <a:ext cx="502920" cy="502920"/>
          </a:xfrm>
          <a:prstGeom prst="ellipse">
            <a:avLst/>
          </a:prstGeom>
          <a:solidFill>
            <a:srgbClr val="3E5C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gauge_white.png" id="58" name="Google Shape;58;p2"/>
          <p:cNvPicPr preferRelativeResize="0"/>
          <p:nvPr/>
        </p:nvPicPr>
        <p:blipFill rotWithShape="1">
          <a:blip r:embed="rId7">
            <a:alphaModFix/>
          </a:blip>
          <a:srcRect b="0" l="0" r="0" t="0"/>
          <a:stretch/>
        </p:blipFill>
        <p:spPr>
          <a:xfrm>
            <a:off x="7549286" y="1761134"/>
            <a:ext cx="382219" cy="382219"/>
          </a:xfrm>
          <a:prstGeom prst="rect">
            <a:avLst/>
          </a:prstGeom>
          <a:noFill/>
          <a:ln>
            <a:noFill/>
          </a:ln>
        </p:spPr>
      </p:pic>
      <p:sp>
        <p:nvSpPr>
          <p:cNvPr id="59" name="Google Shape;59;p2"/>
          <p:cNvSpPr/>
          <p:nvPr/>
        </p:nvSpPr>
        <p:spPr>
          <a:xfrm>
            <a:off x="8129016" y="1682496"/>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5C76"/>
              </a:buClr>
              <a:buSzPts val="1050"/>
              <a:buFont typeface="Calibri"/>
              <a:buNone/>
            </a:pPr>
            <a:r>
              <a:rPr b="1" i="0" lang="en-US" sz="1050" u="none" cap="none" strike="noStrike">
                <a:solidFill>
                  <a:srgbClr val="3E5C76"/>
                </a:solidFill>
                <a:latin typeface="Calibri"/>
                <a:ea typeface="Calibri"/>
                <a:cs typeface="Calibri"/>
                <a:sym typeface="Calibri"/>
              </a:rPr>
              <a:t>ANALOGY</a:t>
            </a:r>
            <a:endParaRPr b="0" i="0" sz="1050" u="none" cap="none" strike="noStrike">
              <a:solidFill>
                <a:schemeClr val="dk1"/>
              </a:solidFill>
              <a:latin typeface="Calibri"/>
              <a:ea typeface="Calibri"/>
              <a:cs typeface="Calibri"/>
              <a:sym typeface="Calibri"/>
            </a:endParaRPr>
          </a:p>
        </p:txBody>
      </p:sp>
      <p:sp>
        <p:nvSpPr>
          <p:cNvPr id="60" name="Google Shape;60;p2"/>
          <p:cNvSpPr/>
          <p:nvPr/>
        </p:nvSpPr>
        <p:spPr>
          <a:xfrm>
            <a:off x="8129016" y="1920240"/>
            <a:ext cx="3200400"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2263A"/>
              </a:buClr>
              <a:buSzPts val="1350"/>
              <a:buFont typeface="Calibri"/>
              <a:buNone/>
            </a:pPr>
            <a:r>
              <a:rPr b="0" i="1" lang="en-US" sz="1350" u="none" cap="none" strike="noStrike">
                <a:solidFill>
                  <a:srgbClr val="12263A"/>
                </a:solidFill>
                <a:latin typeface="Calibri"/>
                <a:ea typeface="Calibri"/>
                <a:cs typeface="Calibri"/>
                <a:sym typeface="Calibri"/>
              </a:rPr>
              <a:t>Software metrics are like a car dashboard.</a:t>
            </a:r>
            <a:endParaRPr b="0" i="0" sz="1350" u="none" cap="none" strike="noStrike">
              <a:solidFill>
                <a:schemeClr val="dk1"/>
              </a:solidFill>
              <a:latin typeface="Calibri"/>
              <a:ea typeface="Calibri"/>
              <a:cs typeface="Calibri"/>
              <a:sym typeface="Calibri"/>
            </a:endParaRPr>
          </a:p>
        </p:txBody>
      </p:sp>
      <p:sp>
        <p:nvSpPr>
          <p:cNvPr id="61" name="Google Shape;61;p2"/>
          <p:cNvSpPr/>
          <p:nvPr/>
        </p:nvSpPr>
        <p:spPr>
          <a:xfrm>
            <a:off x="7269480" y="3566160"/>
            <a:ext cx="4251960" cy="1737360"/>
          </a:xfrm>
          <a:prstGeom prst="roundRect">
            <a:avLst>
              <a:gd fmla="val 4211" name="adj"/>
            </a:avLst>
          </a:prstGeom>
          <a:solidFill>
            <a:srgbClr val="FFFFFF"/>
          </a:solidFill>
          <a:ln cap="flat" cmpd="sng" w="12700">
            <a:solidFill>
              <a:srgbClr val="E1E7EE"/>
            </a:solidFill>
            <a:prstDash val="solid"/>
            <a:round/>
            <a:headEnd len="sm" w="sm" type="none"/>
            <a:tailEnd len="sm" w="sm" type="none"/>
          </a:ln>
          <a:effectLst>
            <a:outerShdw blurRad="76200" rotWithShape="0" algn="bl" dir="5400000" dist="25400">
              <a:srgbClr val="1F2937">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7488936" y="3803904"/>
            <a:ext cx="502920" cy="502920"/>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hart_white.png" id="63" name="Google Shape;63;p2"/>
          <p:cNvPicPr preferRelativeResize="0"/>
          <p:nvPr/>
        </p:nvPicPr>
        <p:blipFill rotWithShape="1">
          <a:blip r:embed="rId5">
            <a:alphaModFix/>
          </a:blip>
          <a:srcRect b="0" l="0" r="0" t="0"/>
          <a:stretch/>
        </p:blipFill>
        <p:spPr>
          <a:xfrm>
            <a:off x="7549286" y="3864254"/>
            <a:ext cx="382219" cy="382219"/>
          </a:xfrm>
          <a:prstGeom prst="rect">
            <a:avLst/>
          </a:prstGeom>
          <a:noFill/>
          <a:ln>
            <a:noFill/>
          </a:ln>
        </p:spPr>
      </p:pic>
      <p:sp>
        <p:nvSpPr>
          <p:cNvPr id="64" name="Google Shape;64;p2"/>
          <p:cNvSpPr/>
          <p:nvPr/>
        </p:nvSpPr>
        <p:spPr>
          <a:xfrm>
            <a:off x="8129016" y="3785616"/>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050"/>
              <a:buFont typeface="Calibri"/>
              <a:buNone/>
            </a:pPr>
            <a:r>
              <a:rPr b="1" i="0" lang="en-US" sz="1050" u="none" cap="none" strike="noStrike">
                <a:solidFill>
                  <a:srgbClr val="FF7A00"/>
                </a:solidFill>
                <a:latin typeface="Calibri"/>
                <a:ea typeface="Calibri"/>
                <a:cs typeface="Calibri"/>
                <a:sym typeface="Calibri"/>
              </a:rPr>
              <a:t>PRACTICAL EXAMPLE</a:t>
            </a:r>
            <a:endParaRPr b="0" i="0" sz="1050" u="none" cap="none" strike="noStrike">
              <a:solidFill>
                <a:schemeClr val="dk1"/>
              </a:solidFill>
              <a:latin typeface="Calibri"/>
              <a:ea typeface="Calibri"/>
              <a:cs typeface="Calibri"/>
              <a:sym typeface="Calibri"/>
            </a:endParaRPr>
          </a:p>
        </p:txBody>
      </p:sp>
      <p:sp>
        <p:nvSpPr>
          <p:cNvPr id="65" name="Google Shape;65;p2"/>
          <p:cNvSpPr/>
          <p:nvPr/>
        </p:nvSpPr>
        <p:spPr>
          <a:xfrm>
            <a:off x="8129016" y="4023360"/>
            <a:ext cx="3200400"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2263A"/>
              </a:buClr>
              <a:buSzPts val="1350"/>
              <a:buFont typeface="Calibri"/>
              <a:buNone/>
            </a:pPr>
            <a:r>
              <a:rPr b="0" i="0" lang="en-US" sz="1350" u="none" cap="none" strike="noStrike">
                <a:solidFill>
                  <a:srgbClr val="12263A"/>
                </a:solidFill>
                <a:latin typeface="Calibri"/>
                <a:ea typeface="Calibri"/>
                <a:cs typeface="Calibri"/>
                <a:sym typeface="Calibri"/>
              </a:rPr>
              <a:t>A speedometer and fuel gauge help a driver decide when to slow down or refuel — metrics do the same for engineering teams.</a:t>
            </a:r>
            <a:endParaRPr b="0" i="0" sz="1350" u="none" cap="none" strike="noStrike">
              <a:solidFill>
                <a:schemeClr val="dk1"/>
              </a:solidFill>
              <a:latin typeface="Calibri"/>
              <a:ea typeface="Calibri"/>
              <a:cs typeface="Calibri"/>
              <a:sym typeface="Calibri"/>
            </a:endParaRPr>
          </a:p>
        </p:txBody>
      </p:sp>
      <p:sp>
        <p:nvSpPr>
          <p:cNvPr id="66" name="Google Shape;66;p2"/>
          <p:cNvSpPr/>
          <p:nvPr/>
        </p:nvSpPr>
        <p:spPr>
          <a:xfrm>
            <a:off x="11505895" y="6291072"/>
            <a:ext cx="384048" cy="384048"/>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11505895" y="629107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72" name="Shape 72"/>
        <p:cNvGrpSpPr/>
        <p:nvPr/>
      </p:nvGrpSpPr>
      <p:grpSpPr>
        <a:xfrm>
          <a:off x="0" y="0"/>
          <a:ext cx="0" cy="0"/>
          <a:chOff x="0" y="0"/>
          <a:chExt cx="0" cy="0"/>
        </a:xfrm>
      </p:grpSpPr>
      <p:sp>
        <p:nvSpPr>
          <p:cNvPr id="73" name="Google Shape;73;p3"/>
          <p:cNvSpPr/>
          <p:nvPr/>
        </p:nvSpPr>
        <p:spPr>
          <a:xfrm>
            <a:off x="640080" y="384048"/>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300"/>
              <a:buFont typeface="Calibri"/>
              <a:buNone/>
            </a:pPr>
            <a:r>
              <a:rPr b="1" i="0" lang="en-US" sz="1300" u="none" cap="none" strike="noStrike">
                <a:solidFill>
                  <a:srgbClr val="FF7A00"/>
                </a:solidFill>
                <a:latin typeface="Calibri"/>
                <a:ea typeface="Calibri"/>
                <a:cs typeface="Calibri"/>
                <a:sym typeface="Calibri"/>
              </a:rPr>
              <a:t>01 · FOUNDATIONS</a:t>
            </a:r>
            <a:endParaRPr b="0" i="0" sz="1300" u="none" cap="none" strike="noStrike">
              <a:solidFill>
                <a:schemeClr val="dk1"/>
              </a:solidFill>
              <a:latin typeface="Calibri"/>
              <a:ea typeface="Calibri"/>
              <a:cs typeface="Calibri"/>
              <a:sym typeface="Calibri"/>
            </a:endParaRPr>
          </a:p>
        </p:txBody>
      </p:sp>
      <p:sp>
        <p:nvSpPr>
          <p:cNvPr id="74" name="Google Shape;74;p3"/>
          <p:cNvSpPr/>
          <p:nvPr/>
        </p:nvSpPr>
        <p:spPr>
          <a:xfrm>
            <a:off x="640080" y="676656"/>
            <a:ext cx="108813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What is Software Metrics?</a:t>
            </a:r>
            <a:endParaRPr b="0" i="0" sz="3200" u="none" cap="none" strike="noStrike">
              <a:solidFill>
                <a:schemeClr val="dk1"/>
              </a:solidFill>
              <a:latin typeface="Calibri"/>
              <a:ea typeface="Calibri"/>
              <a:cs typeface="Calibri"/>
              <a:sym typeface="Calibri"/>
            </a:endParaRPr>
          </a:p>
        </p:txBody>
      </p:sp>
      <p:sp>
        <p:nvSpPr>
          <p:cNvPr id="75" name="Google Shape;75;p3"/>
          <p:cNvSpPr/>
          <p:nvPr/>
        </p:nvSpPr>
        <p:spPr>
          <a:xfrm>
            <a:off x="548640" y="638251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900"/>
              <a:buFont typeface="Calibri"/>
              <a:buNone/>
            </a:pPr>
            <a:r>
              <a:rPr b="0" i="0" lang="en-US" sz="900" u="none" cap="none" strike="noStrike">
                <a:solidFill>
                  <a:srgbClr val="5B6B7C"/>
                </a:solidFill>
                <a:latin typeface="Calibri"/>
                <a:ea typeface="Calibri"/>
                <a:cs typeface="Calibri"/>
                <a:sym typeface="Calibri"/>
              </a:rPr>
              <a:t>SOFTWARE METRICS &amp; MEASUREMENT</a:t>
            </a:r>
            <a:endParaRPr b="0" i="0" sz="900" u="none" cap="none" strike="noStrike">
              <a:solidFill>
                <a:schemeClr val="dk1"/>
              </a:solidFill>
              <a:latin typeface="Calibri"/>
              <a:ea typeface="Calibri"/>
              <a:cs typeface="Calibri"/>
              <a:sym typeface="Calibri"/>
            </a:endParaRPr>
          </a:p>
        </p:txBody>
      </p:sp>
      <p:sp>
        <p:nvSpPr>
          <p:cNvPr id="76" name="Google Shape;76;p3"/>
          <p:cNvSpPr/>
          <p:nvPr/>
        </p:nvSpPr>
        <p:spPr>
          <a:xfrm>
            <a:off x="640080" y="1371600"/>
            <a:ext cx="6309360" cy="1234440"/>
          </a:xfrm>
          <a:prstGeom prst="roundRect">
            <a:avLst>
              <a:gd fmla="val 5926" name="adj"/>
            </a:avLst>
          </a:prstGeom>
          <a:solidFill>
            <a:srgbClr val="FFFFFF"/>
          </a:solidFill>
          <a:ln cap="flat" cmpd="sng" w="12700">
            <a:solidFill>
              <a:srgbClr val="E1E7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896112" y="1517904"/>
            <a:ext cx="5760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5C76"/>
              </a:buClr>
              <a:buSzPts val="1000"/>
              <a:buFont typeface="Calibri"/>
              <a:buNone/>
            </a:pPr>
            <a:r>
              <a:rPr b="1" i="0" lang="en-US" sz="1000" u="none" cap="none" strike="noStrike">
                <a:solidFill>
                  <a:srgbClr val="3E5C76"/>
                </a:solidFill>
                <a:latin typeface="Calibri"/>
                <a:ea typeface="Calibri"/>
                <a:cs typeface="Calibri"/>
                <a:sym typeface="Calibri"/>
              </a:rPr>
              <a:t>DEFINITION</a:t>
            </a:r>
            <a:endParaRPr b="0" i="0" sz="1000" u="none" cap="none" strike="noStrike">
              <a:solidFill>
                <a:schemeClr val="dk1"/>
              </a:solidFill>
              <a:latin typeface="Calibri"/>
              <a:ea typeface="Calibri"/>
              <a:cs typeface="Calibri"/>
              <a:sym typeface="Calibri"/>
            </a:endParaRPr>
          </a:p>
        </p:txBody>
      </p:sp>
      <p:sp>
        <p:nvSpPr>
          <p:cNvPr id="78" name="Google Shape;78;p3"/>
          <p:cNvSpPr/>
          <p:nvPr/>
        </p:nvSpPr>
        <p:spPr>
          <a:xfrm>
            <a:off x="896112" y="1773936"/>
            <a:ext cx="5760720" cy="7772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2263A"/>
              </a:buClr>
              <a:buSzPts val="1400"/>
              <a:buFont typeface="Calibri"/>
              <a:buNone/>
            </a:pPr>
            <a:r>
              <a:rPr b="0" i="1" lang="en-US" sz="1400" u="none" cap="none" strike="noStrike">
                <a:solidFill>
                  <a:srgbClr val="12263A"/>
                </a:solidFill>
                <a:latin typeface="Calibri"/>
                <a:ea typeface="Calibri"/>
                <a:cs typeface="Calibri"/>
                <a:sym typeface="Calibri"/>
              </a:rPr>
              <a:t>A quantitative measure of the degree to which a system, component, or process has a given attribute.</a:t>
            </a:r>
            <a:endParaRPr b="0" i="0" sz="1400" u="none" cap="none" strike="noStrike">
              <a:solidFill>
                <a:schemeClr val="dk1"/>
              </a:solidFill>
              <a:latin typeface="Calibri"/>
              <a:ea typeface="Calibri"/>
              <a:cs typeface="Calibri"/>
              <a:sym typeface="Calibri"/>
            </a:endParaRPr>
          </a:p>
        </p:txBody>
      </p:sp>
      <p:sp>
        <p:nvSpPr>
          <p:cNvPr id="79" name="Google Shape;79;p3"/>
          <p:cNvSpPr/>
          <p:nvPr/>
        </p:nvSpPr>
        <p:spPr>
          <a:xfrm>
            <a:off x="640080" y="306324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bullseye_white.png" id="80" name="Google Shape;80;p3"/>
          <p:cNvPicPr preferRelativeResize="0"/>
          <p:nvPr/>
        </p:nvPicPr>
        <p:blipFill rotWithShape="1">
          <a:blip r:embed="rId3">
            <a:alphaModFix/>
          </a:blip>
          <a:srcRect b="0" l="0" r="0" t="0"/>
          <a:stretch/>
        </p:blipFill>
        <p:spPr>
          <a:xfrm>
            <a:off x="694944" y="3118104"/>
            <a:ext cx="347472" cy="347472"/>
          </a:xfrm>
          <a:prstGeom prst="rect">
            <a:avLst/>
          </a:prstGeom>
          <a:noFill/>
          <a:ln>
            <a:noFill/>
          </a:ln>
        </p:spPr>
      </p:pic>
      <p:sp>
        <p:nvSpPr>
          <p:cNvPr id="81" name="Google Shape;81;p3"/>
          <p:cNvSpPr/>
          <p:nvPr/>
        </p:nvSpPr>
        <p:spPr>
          <a:xfrm>
            <a:off x="1298448" y="302666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Purpose</a:t>
            </a:r>
            <a:endParaRPr b="0" i="0" sz="1500" u="none" cap="none" strike="noStrike">
              <a:solidFill>
                <a:schemeClr val="dk1"/>
              </a:solidFill>
              <a:latin typeface="Calibri"/>
              <a:ea typeface="Calibri"/>
              <a:cs typeface="Calibri"/>
              <a:sym typeface="Calibri"/>
            </a:endParaRPr>
          </a:p>
        </p:txBody>
      </p:sp>
      <p:sp>
        <p:nvSpPr>
          <p:cNvPr id="82" name="Google Shape;82;p3"/>
          <p:cNvSpPr/>
          <p:nvPr/>
        </p:nvSpPr>
        <p:spPr>
          <a:xfrm>
            <a:off x="1298448" y="330098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Turn engineering work into comparable, trackable numbers.</a:t>
            </a:r>
            <a:endParaRPr b="0" i="0" sz="1150" u="none" cap="none" strike="noStrike">
              <a:solidFill>
                <a:schemeClr val="dk1"/>
              </a:solidFill>
              <a:latin typeface="Calibri"/>
              <a:ea typeface="Calibri"/>
              <a:cs typeface="Calibri"/>
              <a:sym typeface="Calibri"/>
            </a:endParaRPr>
          </a:p>
        </p:txBody>
      </p:sp>
      <p:sp>
        <p:nvSpPr>
          <p:cNvPr id="83" name="Google Shape;83;p3"/>
          <p:cNvSpPr/>
          <p:nvPr/>
        </p:nvSpPr>
        <p:spPr>
          <a:xfrm>
            <a:off x="640080" y="411480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shield_white.png" id="84" name="Google Shape;84;p3"/>
          <p:cNvPicPr preferRelativeResize="0"/>
          <p:nvPr/>
        </p:nvPicPr>
        <p:blipFill rotWithShape="1">
          <a:blip r:embed="rId4">
            <a:alphaModFix/>
          </a:blip>
          <a:srcRect b="0" l="0" r="0" t="0"/>
          <a:stretch/>
        </p:blipFill>
        <p:spPr>
          <a:xfrm>
            <a:off x="694944" y="4169664"/>
            <a:ext cx="347472" cy="347472"/>
          </a:xfrm>
          <a:prstGeom prst="rect">
            <a:avLst/>
          </a:prstGeom>
          <a:noFill/>
          <a:ln>
            <a:noFill/>
          </a:ln>
        </p:spPr>
      </p:pic>
      <p:sp>
        <p:nvSpPr>
          <p:cNvPr id="85" name="Google Shape;85;p3"/>
          <p:cNvSpPr/>
          <p:nvPr/>
        </p:nvSpPr>
        <p:spPr>
          <a:xfrm>
            <a:off x="1298448" y="407822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Benefits</a:t>
            </a:r>
            <a:endParaRPr b="0" i="0" sz="1500" u="none" cap="none" strike="noStrike">
              <a:solidFill>
                <a:schemeClr val="dk1"/>
              </a:solidFill>
              <a:latin typeface="Calibri"/>
              <a:ea typeface="Calibri"/>
              <a:cs typeface="Calibri"/>
              <a:sym typeface="Calibri"/>
            </a:endParaRPr>
          </a:p>
        </p:txBody>
      </p:sp>
      <p:sp>
        <p:nvSpPr>
          <p:cNvPr id="86" name="Google Shape;86;p3"/>
          <p:cNvSpPr/>
          <p:nvPr/>
        </p:nvSpPr>
        <p:spPr>
          <a:xfrm>
            <a:off x="1298448" y="435254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Earlier problem detection and more objective decisions.</a:t>
            </a:r>
            <a:endParaRPr b="0" i="0" sz="1150" u="none" cap="none" strike="noStrike">
              <a:solidFill>
                <a:schemeClr val="dk1"/>
              </a:solidFill>
              <a:latin typeface="Calibri"/>
              <a:ea typeface="Calibri"/>
              <a:cs typeface="Calibri"/>
              <a:sym typeface="Calibri"/>
            </a:endParaRPr>
          </a:p>
        </p:txBody>
      </p:sp>
      <p:sp>
        <p:nvSpPr>
          <p:cNvPr id="87" name="Google Shape;87;p3"/>
          <p:cNvSpPr/>
          <p:nvPr/>
        </p:nvSpPr>
        <p:spPr>
          <a:xfrm>
            <a:off x="640080" y="516636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ode_white.png" id="88" name="Google Shape;88;p3"/>
          <p:cNvPicPr preferRelativeResize="0"/>
          <p:nvPr/>
        </p:nvPicPr>
        <p:blipFill rotWithShape="1">
          <a:blip r:embed="rId5">
            <a:alphaModFix/>
          </a:blip>
          <a:srcRect b="0" l="0" r="0" t="0"/>
          <a:stretch/>
        </p:blipFill>
        <p:spPr>
          <a:xfrm>
            <a:off x="694944" y="5221224"/>
            <a:ext cx="347472" cy="347472"/>
          </a:xfrm>
          <a:prstGeom prst="rect">
            <a:avLst/>
          </a:prstGeom>
          <a:noFill/>
          <a:ln>
            <a:noFill/>
          </a:ln>
        </p:spPr>
      </p:pic>
      <p:sp>
        <p:nvSpPr>
          <p:cNvPr id="89" name="Google Shape;89;p3"/>
          <p:cNvSpPr/>
          <p:nvPr/>
        </p:nvSpPr>
        <p:spPr>
          <a:xfrm>
            <a:off x="1298448" y="512978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Types of Metrics</a:t>
            </a:r>
            <a:endParaRPr b="0" i="0" sz="1500" u="none" cap="none" strike="noStrike">
              <a:solidFill>
                <a:schemeClr val="dk1"/>
              </a:solidFill>
              <a:latin typeface="Calibri"/>
              <a:ea typeface="Calibri"/>
              <a:cs typeface="Calibri"/>
              <a:sym typeface="Calibri"/>
            </a:endParaRPr>
          </a:p>
        </p:txBody>
      </p:sp>
      <p:sp>
        <p:nvSpPr>
          <p:cNvPr id="90" name="Google Shape;90;p3"/>
          <p:cNvSpPr/>
          <p:nvPr/>
        </p:nvSpPr>
        <p:spPr>
          <a:xfrm>
            <a:off x="1298448" y="540410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Product, process, and project — covered next.</a:t>
            </a:r>
            <a:endParaRPr b="0" i="0" sz="1150" u="none" cap="none" strike="noStrike">
              <a:solidFill>
                <a:schemeClr val="dk1"/>
              </a:solidFill>
              <a:latin typeface="Calibri"/>
              <a:ea typeface="Calibri"/>
              <a:cs typeface="Calibri"/>
              <a:sym typeface="Calibri"/>
            </a:endParaRPr>
          </a:p>
        </p:txBody>
      </p:sp>
      <p:sp>
        <p:nvSpPr>
          <p:cNvPr id="91" name="Google Shape;91;p3"/>
          <p:cNvSpPr/>
          <p:nvPr/>
        </p:nvSpPr>
        <p:spPr>
          <a:xfrm>
            <a:off x="7269480" y="1463040"/>
            <a:ext cx="4251960" cy="1737360"/>
          </a:xfrm>
          <a:prstGeom prst="roundRect">
            <a:avLst>
              <a:gd fmla="val 4211" name="adj"/>
            </a:avLst>
          </a:prstGeom>
          <a:solidFill>
            <a:srgbClr val="FFFFFF"/>
          </a:solidFill>
          <a:ln cap="flat" cmpd="sng" w="12700">
            <a:solidFill>
              <a:srgbClr val="E1E7EE"/>
            </a:solidFill>
            <a:prstDash val="solid"/>
            <a:round/>
            <a:headEnd len="sm" w="sm" type="none"/>
            <a:tailEnd len="sm" w="sm" type="none"/>
          </a:ln>
          <a:effectLst>
            <a:outerShdw blurRad="76200" rotWithShape="0" algn="bl" dir="5400000" dist="25400">
              <a:srgbClr val="1F2937">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7488936" y="1700784"/>
            <a:ext cx="502920" cy="502920"/>
          </a:xfrm>
          <a:prstGeom prst="ellipse">
            <a:avLst/>
          </a:prstGeom>
          <a:solidFill>
            <a:srgbClr val="3E5C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heartbeat_white.png" id="93" name="Google Shape;93;p3"/>
          <p:cNvPicPr preferRelativeResize="0"/>
          <p:nvPr/>
        </p:nvPicPr>
        <p:blipFill rotWithShape="1">
          <a:blip r:embed="rId6">
            <a:alphaModFix/>
          </a:blip>
          <a:srcRect b="0" l="0" r="0" t="0"/>
          <a:stretch/>
        </p:blipFill>
        <p:spPr>
          <a:xfrm>
            <a:off x="7549286" y="1761134"/>
            <a:ext cx="382219" cy="382219"/>
          </a:xfrm>
          <a:prstGeom prst="rect">
            <a:avLst/>
          </a:prstGeom>
          <a:noFill/>
          <a:ln>
            <a:noFill/>
          </a:ln>
        </p:spPr>
      </p:pic>
      <p:sp>
        <p:nvSpPr>
          <p:cNvPr id="94" name="Google Shape;94;p3"/>
          <p:cNvSpPr/>
          <p:nvPr/>
        </p:nvSpPr>
        <p:spPr>
          <a:xfrm>
            <a:off x="8129016" y="1682496"/>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5C76"/>
              </a:buClr>
              <a:buSzPts val="1050"/>
              <a:buFont typeface="Calibri"/>
              <a:buNone/>
            </a:pPr>
            <a:r>
              <a:rPr b="1" i="0" lang="en-US" sz="1050" u="none" cap="none" strike="noStrike">
                <a:solidFill>
                  <a:srgbClr val="3E5C76"/>
                </a:solidFill>
                <a:latin typeface="Calibri"/>
                <a:ea typeface="Calibri"/>
                <a:cs typeface="Calibri"/>
                <a:sym typeface="Calibri"/>
              </a:rPr>
              <a:t>ANALOGY</a:t>
            </a:r>
            <a:endParaRPr b="0" i="0" sz="1050" u="none" cap="none" strike="noStrike">
              <a:solidFill>
                <a:schemeClr val="dk1"/>
              </a:solidFill>
              <a:latin typeface="Calibri"/>
              <a:ea typeface="Calibri"/>
              <a:cs typeface="Calibri"/>
              <a:sym typeface="Calibri"/>
            </a:endParaRPr>
          </a:p>
        </p:txBody>
      </p:sp>
      <p:sp>
        <p:nvSpPr>
          <p:cNvPr id="95" name="Google Shape;95;p3"/>
          <p:cNvSpPr/>
          <p:nvPr/>
        </p:nvSpPr>
        <p:spPr>
          <a:xfrm>
            <a:off x="8129016" y="1920240"/>
            <a:ext cx="3200400"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2263A"/>
              </a:buClr>
              <a:buSzPts val="1350"/>
              <a:buFont typeface="Calibri"/>
              <a:buNone/>
            </a:pPr>
            <a:r>
              <a:rPr b="0" i="1" lang="en-US" sz="1350" u="none" cap="none" strike="noStrike">
                <a:solidFill>
                  <a:srgbClr val="12263A"/>
                </a:solidFill>
                <a:latin typeface="Calibri"/>
                <a:ea typeface="Calibri"/>
                <a:cs typeface="Calibri"/>
                <a:sym typeface="Calibri"/>
              </a:rPr>
              <a:t>Metrics are health indicators for a software project.</a:t>
            </a:r>
            <a:endParaRPr b="0" i="0" sz="1350" u="none" cap="none" strike="noStrike">
              <a:solidFill>
                <a:schemeClr val="dk1"/>
              </a:solidFill>
              <a:latin typeface="Calibri"/>
              <a:ea typeface="Calibri"/>
              <a:cs typeface="Calibri"/>
              <a:sym typeface="Calibri"/>
            </a:endParaRPr>
          </a:p>
        </p:txBody>
      </p:sp>
      <p:sp>
        <p:nvSpPr>
          <p:cNvPr id="96" name="Google Shape;96;p3"/>
          <p:cNvSpPr/>
          <p:nvPr/>
        </p:nvSpPr>
        <p:spPr>
          <a:xfrm>
            <a:off x="7269480" y="3566160"/>
            <a:ext cx="4251960" cy="1737360"/>
          </a:xfrm>
          <a:prstGeom prst="roundRect">
            <a:avLst>
              <a:gd fmla="val 4211" name="adj"/>
            </a:avLst>
          </a:prstGeom>
          <a:solidFill>
            <a:srgbClr val="FFFFFF"/>
          </a:solidFill>
          <a:ln cap="flat" cmpd="sng" w="12700">
            <a:solidFill>
              <a:srgbClr val="E1E7EE"/>
            </a:solidFill>
            <a:prstDash val="solid"/>
            <a:round/>
            <a:headEnd len="sm" w="sm" type="none"/>
            <a:tailEnd len="sm" w="sm" type="none"/>
          </a:ln>
          <a:effectLst>
            <a:outerShdw blurRad="76200" rotWithShape="0" algn="bl" dir="5400000" dist="25400">
              <a:srgbClr val="1F2937">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p:nvPr/>
        </p:nvSpPr>
        <p:spPr>
          <a:xfrm>
            <a:off x="7488936" y="3803904"/>
            <a:ext cx="502920" cy="502920"/>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hart_white.png" id="98" name="Google Shape;98;p3"/>
          <p:cNvPicPr preferRelativeResize="0"/>
          <p:nvPr/>
        </p:nvPicPr>
        <p:blipFill rotWithShape="1">
          <a:blip r:embed="rId7">
            <a:alphaModFix/>
          </a:blip>
          <a:srcRect b="0" l="0" r="0" t="0"/>
          <a:stretch/>
        </p:blipFill>
        <p:spPr>
          <a:xfrm>
            <a:off x="7549286" y="3864254"/>
            <a:ext cx="382219" cy="382219"/>
          </a:xfrm>
          <a:prstGeom prst="rect">
            <a:avLst/>
          </a:prstGeom>
          <a:noFill/>
          <a:ln>
            <a:noFill/>
          </a:ln>
        </p:spPr>
      </p:pic>
      <p:sp>
        <p:nvSpPr>
          <p:cNvPr id="99" name="Google Shape;99;p3"/>
          <p:cNvSpPr/>
          <p:nvPr/>
        </p:nvSpPr>
        <p:spPr>
          <a:xfrm>
            <a:off x="8129016" y="3785616"/>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050"/>
              <a:buFont typeface="Calibri"/>
              <a:buNone/>
            </a:pPr>
            <a:r>
              <a:rPr b="1" i="0" lang="en-US" sz="1050" u="none" cap="none" strike="noStrike">
                <a:solidFill>
                  <a:srgbClr val="FF7A00"/>
                </a:solidFill>
                <a:latin typeface="Calibri"/>
                <a:ea typeface="Calibri"/>
                <a:cs typeface="Calibri"/>
                <a:sym typeface="Calibri"/>
              </a:rPr>
              <a:t>PRACTICAL EXAMPLE</a:t>
            </a:r>
            <a:endParaRPr b="0" i="0" sz="1050" u="none" cap="none" strike="noStrike">
              <a:solidFill>
                <a:schemeClr val="dk1"/>
              </a:solidFill>
              <a:latin typeface="Calibri"/>
              <a:ea typeface="Calibri"/>
              <a:cs typeface="Calibri"/>
              <a:sym typeface="Calibri"/>
            </a:endParaRPr>
          </a:p>
        </p:txBody>
      </p:sp>
      <p:sp>
        <p:nvSpPr>
          <p:cNvPr id="100" name="Google Shape;100;p3"/>
          <p:cNvSpPr/>
          <p:nvPr/>
        </p:nvSpPr>
        <p:spPr>
          <a:xfrm>
            <a:off x="8129016" y="4023360"/>
            <a:ext cx="3200400"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2263A"/>
              </a:buClr>
              <a:buSzPts val="1350"/>
              <a:buFont typeface="Calibri"/>
              <a:buNone/>
            </a:pPr>
            <a:r>
              <a:rPr b="0" i="0" lang="en-US" sz="1350" u="none" cap="none" strike="noStrike">
                <a:solidFill>
                  <a:srgbClr val="12263A"/>
                </a:solidFill>
                <a:latin typeface="Calibri"/>
                <a:ea typeface="Calibri"/>
                <a:cs typeface="Calibri"/>
                <a:sym typeface="Calibri"/>
              </a:rPr>
              <a:t>Tracking bug counts alongside delivery speed reveals whether a team's health is improving or declining.</a:t>
            </a:r>
            <a:endParaRPr b="0" i="0" sz="1350" u="none" cap="none" strike="noStrike">
              <a:solidFill>
                <a:schemeClr val="dk1"/>
              </a:solidFill>
              <a:latin typeface="Calibri"/>
              <a:ea typeface="Calibri"/>
              <a:cs typeface="Calibri"/>
              <a:sym typeface="Calibri"/>
            </a:endParaRPr>
          </a:p>
        </p:txBody>
      </p:sp>
      <p:sp>
        <p:nvSpPr>
          <p:cNvPr id="101" name="Google Shape;101;p3"/>
          <p:cNvSpPr/>
          <p:nvPr/>
        </p:nvSpPr>
        <p:spPr>
          <a:xfrm>
            <a:off x="11505895" y="6291072"/>
            <a:ext cx="384048" cy="384048"/>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a:off x="11505895" y="629107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107" name="Shape 107"/>
        <p:cNvGrpSpPr/>
        <p:nvPr/>
      </p:nvGrpSpPr>
      <p:grpSpPr>
        <a:xfrm>
          <a:off x="0" y="0"/>
          <a:ext cx="0" cy="0"/>
          <a:chOff x="0" y="0"/>
          <a:chExt cx="0" cy="0"/>
        </a:xfrm>
      </p:grpSpPr>
      <p:sp>
        <p:nvSpPr>
          <p:cNvPr id="108" name="Google Shape;108;p4"/>
          <p:cNvSpPr/>
          <p:nvPr/>
        </p:nvSpPr>
        <p:spPr>
          <a:xfrm>
            <a:off x="640080" y="384048"/>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300"/>
              <a:buFont typeface="Calibri"/>
              <a:buNone/>
            </a:pPr>
            <a:r>
              <a:rPr b="1" i="0" lang="en-US" sz="1300" u="none" cap="none" strike="noStrike">
                <a:solidFill>
                  <a:srgbClr val="FF7A00"/>
                </a:solidFill>
                <a:latin typeface="Calibri"/>
                <a:ea typeface="Calibri"/>
                <a:cs typeface="Calibri"/>
                <a:sym typeface="Calibri"/>
              </a:rPr>
              <a:t>01 · FOUNDATIONS</a:t>
            </a:r>
            <a:endParaRPr b="0" i="0" sz="1300" u="none" cap="none" strike="noStrike">
              <a:solidFill>
                <a:schemeClr val="dk1"/>
              </a:solidFill>
              <a:latin typeface="Calibri"/>
              <a:ea typeface="Calibri"/>
              <a:cs typeface="Calibri"/>
              <a:sym typeface="Calibri"/>
            </a:endParaRPr>
          </a:p>
        </p:txBody>
      </p:sp>
      <p:sp>
        <p:nvSpPr>
          <p:cNvPr id="109" name="Google Shape;109;p4"/>
          <p:cNvSpPr/>
          <p:nvPr/>
        </p:nvSpPr>
        <p:spPr>
          <a:xfrm>
            <a:off x="640080" y="676656"/>
            <a:ext cx="108813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Categories of Software Metrics</a:t>
            </a:r>
            <a:endParaRPr b="0" i="0" sz="3200" u="none" cap="none" strike="noStrike">
              <a:solidFill>
                <a:schemeClr val="dk1"/>
              </a:solidFill>
              <a:latin typeface="Calibri"/>
              <a:ea typeface="Calibri"/>
              <a:cs typeface="Calibri"/>
              <a:sym typeface="Calibri"/>
            </a:endParaRPr>
          </a:p>
        </p:txBody>
      </p:sp>
      <p:sp>
        <p:nvSpPr>
          <p:cNvPr id="110" name="Google Shape;110;p4"/>
          <p:cNvSpPr/>
          <p:nvPr/>
        </p:nvSpPr>
        <p:spPr>
          <a:xfrm>
            <a:off x="548640" y="638251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900"/>
              <a:buFont typeface="Calibri"/>
              <a:buNone/>
            </a:pPr>
            <a:r>
              <a:rPr b="0" i="0" lang="en-US" sz="900" u="none" cap="none" strike="noStrike">
                <a:solidFill>
                  <a:srgbClr val="5B6B7C"/>
                </a:solidFill>
                <a:latin typeface="Calibri"/>
                <a:ea typeface="Calibri"/>
                <a:cs typeface="Calibri"/>
                <a:sym typeface="Calibri"/>
              </a:rPr>
              <a:t>SOFTWARE METRICS &amp; MEASUREMENT</a:t>
            </a:r>
            <a:endParaRPr b="0" i="0" sz="900" u="none" cap="none" strike="noStrike">
              <a:solidFill>
                <a:schemeClr val="dk1"/>
              </a:solidFill>
              <a:latin typeface="Calibri"/>
              <a:ea typeface="Calibri"/>
              <a:cs typeface="Calibri"/>
              <a:sym typeface="Calibri"/>
            </a:endParaRPr>
          </a:p>
        </p:txBody>
      </p:sp>
      <p:sp>
        <p:nvSpPr>
          <p:cNvPr id="111" name="Google Shape;111;p4"/>
          <p:cNvSpPr/>
          <p:nvPr/>
        </p:nvSpPr>
        <p:spPr>
          <a:xfrm>
            <a:off x="1005840" y="1737360"/>
            <a:ext cx="2834640" cy="1600200"/>
          </a:xfrm>
          <a:prstGeom prst="roundRect">
            <a:avLst>
              <a:gd fmla="val 5714" name="adj"/>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p:nvPr/>
        </p:nvSpPr>
        <p:spPr>
          <a:xfrm>
            <a:off x="2112264" y="1993392"/>
            <a:ext cx="621792" cy="621792"/>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mobile_white.png" id="113" name="Google Shape;113;p4"/>
          <p:cNvPicPr preferRelativeResize="0"/>
          <p:nvPr/>
        </p:nvPicPr>
        <p:blipFill rotWithShape="1">
          <a:blip r:embed="rId3">
            <a:alphaModFix/>
          </a:blip>
          <a:srcRect b="0" l="0" r="0" t="0"/>
          <a:stretch/>
        </p:blipFill>
        <p:spPr>
          <a:xfrm>
            <a:off x="2186879" y="2068007"/>
            <a:ext cx="472562" cy="472562"/>
          </a:xfrm>
          <a:prstGeom prst="rect">
            <a:avLst/>
          </a:prstGeom>
          <a:noFill/>
          <a:ln>
            <a:noFill/>
          </a:ln>
        </p:spPr>
      </p:pic>
      <p:sp>
        <p:nvSpPr>
          <p:cNvPr id="114" name="Google Shape;114;p4"/>
          <p:cNvSpPr/>
          <p:nvPr/>
        </p:nvSpPr>
        <p:spPr>
          <a:xfrm>
            <a:off x="1005840" y="2724912"/>
            <a:ext cx="283464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Product Metrics</a:t>
            </a:r>
            <a:endParaRPr b="0" i="0" sz="1600" u="none" cap="none" strike="noStrike">
              <a:solidFill>
                <a:schemeClr val="dk1"/>
              </a:solidFill>
              <a:latin typeface="Calibri"/>
              <a:ea typeface="Calibri"/>
              <a:cs typeface="Calibri"/>
              <a:sym typeface="Calibri"/>
            </a:endParaRPr>
          </a:p>
        </p:txBody>
      </p:sp>
      <p:sp>
        <p:nvSpPr>
          <p:cNvPr id="115" name="Google Shape;115;p4"/>
          <p:cNvSpPr/>
          <p:nvPr/>
        </p:nvSpPr>
        <p:spPr>
          <a:xfrm>
            <a:off x="1143000" y="3035808"/>
            <a:ext cx="2560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Characteristics of the software itself</a:t>
            </a:r>
            <a:endParaRPr b="0" i="0" sz="1050" u="none" cap="none" strike="noStrike">
              <a:solidFill>
                <a:schemeClr val="dk1"/>
              </a:solidFill>
              <a:latin typeface="Calibri"/>
              <a:ea typeface="Calibri"/>
              <a:cs typeface="Calibri"/>
              <a:sym typeface="Calibri"/>
            </a:endParaRPr>
          </a:p>
        </p:txBody>
      </p:sp>
      <p:sp>
        <p:nvSpPr>
          <p:cNvPr id="116" name="Google Shape;116;p4"/>
          <p:cNvSpPr/>
          <p:nvPr/>
        </p:nvSpPr>
        <p:spPr>
          <a:xfrm>
            <a:off x="5120640" y="1737360"/>
            <a:ext cx="2834640" cy="1600200"/>
          </a:xfrm>
          <a:prstGeom prst="roundRect">
            <a:avLst>
              <a:gd fmla="val 5714" name="adj"/>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6227064" y="1993392"/>
            <a:ext cx="621792" cy="621792"/>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industry_white.png" id="118" name="Google Shape;118;p4"/>
          <p:cNvPicPr preferRelativeResize="0"/>
          <p:nvPr/>
        </p:nvPicPr>
        <p:blipFill rotWithShape="1">
          <a:blip r:embed="rId4">
            <a:alphaModFix/>
          </a:blip>
          <a:srcRect b="0" l="0" r="0" t="0"/>
          <a:stretch/>
        </p:blipFill>
        <p:spPr>
          <a:xfrm>
            <a:off x="6301679" y="2068007"/>
            <a:ext cx="472562" cy="472562"/>
          </a:xfrm>
          <a:prstGeom prst="rect">
            <a:avLst/>
          </a:prstGeom>
          <a:noFill/>
          <a:ln>
            <a:noFill/>
          </a:ln>
        </p:spPr>
      </p:pic>
      <p:sp>
        <p:nvSpPr>
          <p:cNvPr id="119" name="Google Shape;119;p4"/>
          <p:cNvSpPr/>
          <p:nvPr/>
        </p:nvSpPr>
        <p:spPr>
          <a:xfrm>
            <a:off x="5120640" y="2724912"/>
            <a:ext cx="283464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Process Metrics</a:t>
            </a:r>
            <a:endParaRPr b="0" i="0" sz="1600" u="none" cap="none" strike="noStrike">
              <a:solidFill>
                <a:schemeClr val="dk1"/>
              </a:solidFill>
              <a:latin typeface="Calibri"/>
              <a:ea typeface="Calibri"/>
              <a:cs typeface="Calibri"/>
              <a:sym typeface="Calibri"/>
            </a:endParaRPr>
          </a:p>
        </p:txBody>
      </p:sp>
      <p:sp>
        <p:nvSpPr>
          <p:cNvPr id="120" name="Google Shape;120;p4"/>
          <p:cNvSpPr/>
          <p:nvPr/>
        </p:nvSpPr>
        <p:spPr>
          <a:xfrm>
            <a:off x="5257800" y="3035808"/>
            <a:ext cx="2560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Efficiency of how it was built</a:t>
            </a:r>
            <a:endParaRPr b="0" i="0" sz="1050" u="none" cap="none" strike="noStrike">
              <a:solidFill>
                <a:schemeClr val="dk1"/>
              </a:solidFill>
              <a:latin typeface="Calibri"/>
              <a:ea typeface="Calibri"/>
              <a:cs typeface="Calibri"/>
              <a:sym typeface="Calibri"/>
            </a:endParaRPr>
          </a:p>
        </p:txBody>
      </p:sp>
      <p:cxnSp>
        <p:nvCxnSpPr>
          <p:cNvPr id="121" name="Google Shape;121;p4"/>
          <p:cNvCxnSpPr/>
          <p:nvPr/>
        </p:nvCxnSpPr>
        <p:spPr>
          <a:xfrm>
            <a:off x="2423160" y="3337560"/>
            <a:ext cx="0" cy="594360"/>
          </a:xfrm>
          <a:prstGeom prst="straightConnector1">
            <a:avLst/>
          </a:prstGeom>
          <a:noFill/>
          <a:ln cap="flat" cmpd="sng" w="25400">
            <a:solidFill>
              <a:srgbClr val="3E5C76"/>
            </a:solidFill>
            <a:prstDash val="solid"/>
            <a:round/>
            <a:headEnd len="sm" w="sm" type="none"/>
            <a:tailEnd len="sm" w="sm" type="none"/>
          </a:ln>
        </p:spPr>
      </p:cxnSp>
      <p:cxnSp>
        <p:nvCxnSpPr>
          <p:cNvPr id="122" name="Google Shape;122;p4"/>
          <p:cNvCxnSpPr/>
          <p:nvPr/>
        </p:nvCxnSpPr>
        <p:spPr>
          <a:xfrm>
            <a:off x="6537960" y="3337560"/>
            <a:ext cx="0" cy="594360"/>
          </a:xfrm>
          <a:prstGeom prst="straightConnector1">
            <a:avLst/>
          </a:prstGeom>
          <a:noFill/>
          <a:ln cap="flat" cmpd="sng" w="25400">
            <a:solidFill>
              <a:srgbClr val="3E5C76"/>
            </a:solidFill>
            <a:prstDash val="solid"/>
            <a:round/>
            <a:headEnd len="sm" w="sm" type="none"/>
            <a:tailEnd len="sm" w="sm" type="none"/>
          </a:ln>
        </p:spPr>
      </p:cxnSp>
      <p:cxnSp>
        <p:nvCxnSpPr>
          <p:cNvPr id="123" name="Google Shape;123;p4"/>
          <p:cNvCxnSpPr/>
          <p:nvPr/>
        </p:nvCxnSpPr>
        <p:spPr>
          <a:xfrm>
            <a:off x="2423160" y="3931920"/>
            <a:ext cx="4114800" cy="0"/>
          </a:xfrm>
          <a:prstGeom prst="straightConnector1">
            <a:avLst/>
          </a:prstGeom>
          <a:noFill/>
          <a:ln cap="flat" cmpd="sng" w="25400">
            <a:solidFill>
              <a:srgbClr val="3E5C76"/>
            </a:solidFill>
            <a:prstDash val="solid"/>
            <a:round/>
            <a:headEnd len="sm" w="sm" type="none"/>
            <a:tailEnd len="sm" w="sm" type="none"/>
          </a:ln>
        </p:spPr>
      </p:cxnSp>
      <p:sp>
        <p:nvSpPr>
          <p:cNvPr id="124" name="Google Shape;124;p4"/>
          <p:cNvSpPr/>
          <p:nvPr/>
        </p:nvSpPr>
        <p:spPr>
          <a:xfrm rot="10800000">
            <a:off x="4370832" y="3913632"/>
            <a:ext cx="219456" cy="182880"/>
          </a:xfrm>
          <a:prstGeom prst="triangle">
            <a:avLst>
              <a:gd fmla="val 50000" name="adj"/>
            </a:avLst>
          </a:prstGeom>
          <a:solidFill>
            <a:srgbClr val="3E5C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3063240" y="4005072"/>
            <a:ext cx="2834640" cy="1600200"/>
          </a:xfrm>
          <a:prstGeom prst="roundRect">
            <a:avLst>
              <a:gd fmla="val 5714" name="adj"/>
            </a:avLst>
          </a:prstGeom>
          <a:solidFill>
            <a:srgbClr val="3E5C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p:nvPr/>
        </p:nvSpPr>
        <p:spPr>
          <a:xfrm>
            <a:off x="4169664" y="4261104"/>
            <a:ext cx="621792" cy="621792"/>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hardhat_white.png" id="127" name="Google Shape;127;p4"/>
          <p:cNvPicPr preferRelativeResize="0"/>
          <p:nvPr/>
        </p:nvPicPr>
        <p:blipFill rotWithShape="1">
          <a:blip r:embed="rId5">
            <a:alphaModFix/>
          </a:blip>
          <a:srcRect b="0" l="0" r="0" t="0"/>
          <a:stretch/>
        </p:blipFill>
        <p:spPr>
          <a:xfrm>
            <a:off x="4244279" y="4335719"/>
            <a:ext cx="472562" cy="472562"/>
          </a:xfrm>
          <a:prstGeom prst="rect">
            <a:avLst/>
          </a:prstGeom>
          <a:noFill/>
          <a:ln>
            <a:noFill/>
          </a:ln>
        </p:spPr>
      </p:pic>
      <p:sp>
        <p:nvSpPr>
          <p:cNvPr id="128" name="Google Shape;128;p4"/>
          <p:cNvSpPr/>
          <p:nvPr/>
        </p:nvSpPr>
        <p:spPr>
          <a:xfrm>
            <a:off x="3063240" y="4992624"/>
            <a:ext cx="283464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Project Metrics</a:t>
            </a:r>
            <a:endParaRPr b="0" i="0" sz="1600" u="none" cap="none" strike="noStrike">
              <a:solidFill>
                <a:schemeClr val="dk1"/>
              </a:solidFill>
              <a:latin typeface="Calibri"/>
              <a:ea typeface="Calibri"/>
              <a:cs typeface="Calibri"/>
              <a:sym typeface="Calibri"/>
            </a:endParaRPr>
          </a:p>
        </p:txBody>
      </p:sp>
      <p:sp>
        <p:nvSpPr>
          <p:cNvPr id="129" name="Google Shape;129;p4"/>
          <p:cNvSpPr/>
          <p:nvPr/>
        </p:nvSpPr>
        <p:spPr>
          <a:xfrm>
            <a:off x="3200400" y="5303520"/>
            <a:ext cx="2560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Cost, schedule, and team management</a:t>
            </a:r>
            <a:endParaRPr b="0" i="0" sz="1050" u="none" cap="none" strike="noStrike">
              <a:solidFill>
                <a:schemeClr val="dk1"/>
              </a:solidFill>
              <a:latin typeface="Calibri"/>
              <a:ea typeface="Calibri"/>
              <a:cs typeface="Calibri"/>
              <a:sym typeface="Calibri"/>
            </a:endParaRPr>
          </a:p>
        </p:txBody>
      </p:sp>
      <p:sp>
        <p:nvSpPr>
          <p:cNvPr id="130" name="Google Shape;130;p4"/>
          <p:cNvSpPr/>
          <p:nvPr/>
        </p:nvSpPr>
        <p:spPr>
          <a:xfrm>
            <a:off x="9052560" y="1737360"/>
            <a:ext cx="2468880" cy="3886200"/>
          </a:xfrm>
          <a:prstGeom prst="roundRect">
            <a:avLst>
              <a:gd fmla="val 2963" name="adj"/>
            </a:avLst>
          </a:prstGeom>
          <a:solidFill>
            <a:srgbClr val="FFFFFF"/>
          </a:solidFill>
          <a:ln cap="flat" cmpd="sng" w="12700">
            <a:solidFill>
              <a:srgbClr val="E1E7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
          <p:cNvSpPr/>
          <p:nvPr/>
        </p:nvSpPr>
        <p:spPr>
          <a:xfrm>
            <a:off x="9281160" y="1956816"/>
            <a:ext cx="2057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5C76"/>
              </a:buClr>
              <a:buSzPts val="1050"/>
              <a:buFont typeface="Calibri"/>
              <a:buNone/>
            </a:pPr>
            <a:r>
              <a:rPr b="1" i="0" lang="en-US" sz="1050" u="none" cap="none" strike="noStrike">
                <a:solidFill>
                  <a:srgbClr val="3E5C76"/>
                </a:solidFill>
                <a:latin typeface="Calibri"/>
                <a:ea typeface="Calibri"/>
                <a:cs typeface="Calibri"/>
                <a:sym typeface="Calibri"/>
              </a:rPr>
              <a:t>READING THE DIAGRAM</a:t>
            </a:r>
            <a:endParaRPr b="0" i="0" sz="1050" u="none" cap="none" strike="noStrike">
              <a:solidFill>
                <a:schemeClr val="dk1"/>
              </a:solidFill>
              <a:latin typeface="Calibri"/>
              <a:ea typeface="Calibri"/>
              <a:cs typeface="Calibri"/>
              <a:sym typeface="Calibri"/>
            </a:endParaRPr>
          </a:p>
        </p:txBody>
      </p:sp>
      <p:sp>
        <p:nvSpPr>
          <p:cNvPr id="132" name="Google Shape;132;p4"/>
          <p:cNvSpPr/>
          <p:nvPr/>
        </p:nvSpPr>
        <p:spPr>
          <a:xfrm>
            <a:off x="9281160" y="2395728"/>
            <a:ext cx="2057400" cy="30175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2263A"/>
              </a:buClr>
              <a:buSzPts val="1250"/>
              <a:buFont typeface="Calibri"/>
              <a:buNone/>
            </a:pPr>
            <a:r>
              <a:rPr b="0" i="0" lang="en-US" sz="1250" u="none" cap="none" strike="noStrike">
                <a:solidFill>
                  <a:srgbClr val="12263A"/>
                </a:solidFill>
                <a:latin typeface="Calibri"/>
                <a:ea typeface="Calibri"/>
                <a:cs typeface="Calibri"/>
                <a:sym typeface="Calibri"/>
              </a:rPr>
              <a:t>Product and process data roll up into project-level metrics — the view a manager uses to judge overall progress and risk.</a:t>
            </a:r>
            <a:endParaRPr b="0" i="0" sz="1250" u="none" cap="none" strike="noStrike">
              <a:solidFill>
                <a:schemeClr val="dk1"/>
              </a:solidFill>
              <a:latin typeface="Calibri"/>
              <a:ea typeface="Calibri"/>
              <a:cs typeface="Calibri"/>
              <a:sym typeface="Calibri"/>
            </a:endParaRPr>
          </a:p>
        </p:txBody>
      </p:sp>
      <p:sp>
        <p:nvSpPr>
          <p:cNvPr id="133" name="Google Shape;133;p4"/>
          <p:cNvSpPr/>
          <p:nvPr/>
        </p:nvSpPr>
        <p:spPr>
          <a:xfrm>
            <a:off x="11505895" y="6291072"/>
            <a:ext cx="384048" cy="384048"/>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a:off x="11505895" y="629107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139" name="Shape 139"/>
        <p:cNvGrpSpPr/>
        <p:nvPr/>
      </p:nvGrpSpPr>
      <p:grpSpPr>
        <a:xfrm>
          <a:off x="0" y="0"/>
          <a:ext cx="0" cy="0"/>
          <a:chOff x="0" y="0"/>
          <a:chExt cx="0" cy="0"/>
        </a:xfrm>
      </p:grpSpPr>
      <p:sp>
        <p:nvSpPr>
          <p:cNvPr id="140" name="Google Shape;140;p5"/>
          <p:cNvSpPr/>
          <p:nvPr/>
        </p:nvSpPr>
        <p:spPr>
          <a:xfrm>
            <a:off x="640080" y="384048"/>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300"/>
              <a:buFont typeface="Calibri"/>
              <a:buNone/>
            </a:pPr>
            <a:r>
              <a:rPr b="1" i="0" lang="en-US" sz="1300" u="none" cap="none" strike="noStrike">
                <a:solidFill>
                  <a:srgbClr val="FF7A00"/>
                </a:solidFill>
                <a:latin typeface="Calibri"/>
                <a:ea typeface="Calibri"/>
                <a:cs typeface="Calibri"/>
                <a:sym typeface="Calibri"/>
              </a:rPr>
              <a:t>02 · CATEGORIES</a:t>
            </a:r>
            <a:endParaRPr b="0" i="0" sz="1300" u="none" cap="none" strike="noStrike">
              <a:solidFill>
                <a:schemeClr val="dk1"/>
              </a:solidFill>
              <a:latin typeface="Calibri"/>
              <a:ea typeface="Calibri"/>
              <a:cs typeface="Calibri"/>
              <a:sym typeface="Calibri"/>
            </a:endParaRPr>
          </a:p>
        </p:txBody>
      </p:sp>
      <p:sp>
        <p:nvSpPr>
          <p:cNvPr id="141" name="Google Shape;141;p5"/>
          <p:cNvSpPr/>
          <p:nvPr/>
        </p:nvSpPr>
        <p:spPr>
          <a:xfrm>
            <a:off x="640080" y="676656"/>
            <a:ext cx="108813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Product Metrics</a:t>
            </a:r>
            <a:endParaRPr b="0" i="0" sz="3200" u="none" cap="none" strike="noStrike">
              <a:solidFill>
                <a:schemeClr val="dk1"/>
              </a:solidFill>
              <a:latin typeface="Calibri"/>
              <a:ea typeface="Calibri"/>
              <a:cs typeface="Calibri"/>
              <a:sym typeface="Calibri"/>
            </a:endParaRPr>
          </a:p>
        </p:txBody>
      </p:sp>
      <p:sp>
        <p:nvSpPr>
          <p:cNvPr id="142" name="Google Shape;142;p5"/>
          <p:cNvSpPr/>
          <p:nvPr/>
        </p:nvSpPr>
        <p:spPr>
          <a:xfrm>
            <a:off x="548640" y="638251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900"/>
              <a:buFont typeface="Calibri"/>
              <a:buNone/>
            </a:pPr>
            <a:r>
              <a:rPr b="0" i="0" lang="en-US" sz="900" u="none" cap="none" strike="noStrike">
                <a:solidFill>
                  <a:srgbClr val="5B6B7C"/>
                </a:solidFill>
                <a:latin typeface="Calibri"/>
                <a:ea typeface="Calibri"/>
                <a:cs typeface="Calibri"/>
                <a:sym typeface="Calibri"/>
              </a:rPr>
              <a:t>SOFTWARE METRICS &amp; MEASUREMENT</a:t>
            </a:r>
            <a:endParaRPr b="0" i="0" sz="900" u="none" cap="none" strike="noStrike">
              <a:solidFill>
                <a:schemeClr val="dk1"/>
              </a:solidFill>
              <a:latin typeface="Calibri"/>
              <a:ea typeface="Calibri"/>
              <a:cs typeface="Calibri"/>
              <a:sym typeface="Calibri"/>
            </a:endParaRPr>
          </a:p>
        </p:txBody>
      </p:sp>
      <p:sp>
        <p:nvSpPr>
          <p:cNvPr id="143" name="Google Shape;143;p5"/>
          <p:cNvSpPr/>
          <p:nvPr/>
        </p:nvSpPr>
        <p:spPr>
          <a:xfrm>
            <a:off x="640080" y="146304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shield_white.png" id="144" name="Google Shape;144;p5"/>
          <p:cNvPicPr preferRelativeResize="0"/>
          <p:nvPr/>
        </p:nvPicPr>
        <p:blipFill rotWithShape="1">
          <a:blip r:embed="rId3">
            <a:alphaModFix/>
          </a:blip>
          <a:srcRect b="0" l="0" r="0" t="0"/>
          <a:stretch/>
        </p:blipFill>
        <p:spPr>
          <a:xfrm>
            <a:off x="694944" y="1517904"/>
            <a:ext cx="347472" cy="347472"/>
          </a:xfrm>
          <a:prstGeom prst="rect">
            <a:avLst/>
          </a:prstGeom>
          <a:noFill/>
          <a:ln>
            <a:noFill/>
          </a:ln>
        </p:spPr>
      </p:pic>
      <p:sp>
        <p:nvSpPr>
          <p:cNvPr id="145" name="Google Shape;145;p5"/>
          <p:cNvSpPr/>
          <p:nvPr/>
        </p:nvSpPr>
        <p:spPr>
          <a:xfrm>
            <a:off x="1298448" y="142646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Quality</a:t>
            </a:r>
            <a:endParaRPr b="0" i="0" sz="1500" u="none" cap="none" strike="noStrike">
              <a:solidFill>
                <a:schemeClr val="dk1"/>
              </a:solidFill>
              <a:latin typeface="Calibri"/>
              <a:ea typeface="Calibri"/>
              <a:cs typeface="Calibri"/>
              <a:sym typeface="Calibri"/>
            </a:endParaRPr>
          </a:p>
        </p:txBody>
      </p:sp>
      <p:sp>
        <p:nvSpPr>
          <p:cNvPr id="146" name="Google Shape;146;p5"/>
          <p:cNvSpPr/>
          <p:nvPr/>
        </p:nvSpPr>
        <p:spPr>
          <a:xfrm>
            <a:off x="1298448" y="170078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Defects found relative to the size of the product.</a:t>
            </a:r>
            <a:endParaRPr b="0" i="0" sz="1150" u="none" cap="none" strike="noStrike">
              <a:solidFill>
                <a:schemeClr val="dk1"/>
              </a:solidFill>
              <a:latin typeface="Calibri"/>
              <a:ea typeface="Calibri"/>
              <a:cs typeface="Calibri"/>
              <a:sym typeface="Calibri"/>
            </a:endParaRPr>
          </a:p>
        </p:txBody>
      </p:sp>
      <p:sp>
        <p:nvSpPr>
          <p:cNvPr id="147" name="Google Shape;147;p5"/>
          <p:cNvSpPr/>
          <p:nvPr/>
        </p:nvSpPr>
        <p:spPr>
          <a:xfrm>
            <a:off x="640080" y="265176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heartbeat_white.png" id="148" name="Google Shape;148;p5"/>
          <p:cNvPicPr preferRelativeResize="0"/>
          <p:nvPr/>
        </p:nvPicPr>
        <p:blipFill rotWithShape="1">
          <a:blip r:embed="rId4">
            <a:alphaModFix/>
          </a:blip>
          <a:srcRect b="0" l="0" r="0" t="0"/>
          <a:stretch/>
        </p:blipFill>
        <p:spPr>
          <a:xfrm>
            <a:off x="694944" y="2706624"/>
            <a:ext cx="347472" cy="347472"/>
          </a:xfrm>
          <a:prstGeom prst="rect">
            <a:avLst/>
          </a:prstGeom>
          <a:noFill/>
          <a:ln>
            <a:noFill/>
          </a:ln>
        </p:spPr>
      </p:pic>
      <p:sp>
        <p:nvSpPr>
          <p:cNvPr id="149" name="Google Shape;149;p5"/>
          <p:cNvSpPr/>
          <p:nvPr/>
        </p:nvSpPr>
        <p:spPr>
          <a:xfrm>
            <a:off x="1298448" y="261518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Reliability</a:t>
            </a:r>
            <a:endParaRPr b="0" i="0" sz="1500" u="none" cap="none" strike="noStrike">
              <a:solidFill>
                <a:schemeClr val="dk1"/>
              </a:solidFill>
              <a:latin typeface="Calibri"/>
              <a:ea typeface="Calibri"/>
              <a:cs typeface="Calibri"/>
              <a:sym typeface="Calibri"/>
            </a:endParaRPr>
          </a:p>
        </p:txBody>
      </p:sp>
      <p:sp>
        <p:nvSpPr>
          <p:cNvPr id="150" name="Google Shape;150;p5"/>
          <p:cNvSpPr/>
          <p:nvPr/>
        </p:nvSpPr>
        <p:spPr>
          <a:xfrm>
            <a:off x="1298448" y="288950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How consistently the software runs without failure.</a:t>
            </a:r>
            <a:endParaRPr b="0" i="0" sz="1150" u="none" cap="none" strike="noStrike">
              <a:solidFill>
                <a:schemeClr val="dk1"/>
              </a:solidFill>
              <a:latin typeface="Calibri"/>
              <a:ea typeface="Calibri"/>
              <a:cs typeface="Calibri"/>
              <a:sym typeface="Calibri"/>
            </a:endParaRPr>
          </a:p>
        </p:txBody>
      </p:sp>
      <p:sp>
        <p:nvSpPr>
          <p:cNvPr id="151" name="Google Shape;151;p5"/>
          <p:cNvSpPr/>
          <p:nvPr/>
        </p:nvSpPr>
        <p:spPr>
          <a:xfrm>
            <a:off x="640080" y="384048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gauge_white.png" id="152" name="Google Shape;152;p5"/>
          <p:cNvPicPr preferRelativeResize="0"/>
          <p:nvPr/>
        </p:nvPicPr>
        <p:blipFill rotWithShape="1">
          <a:blip r:embed="rId5">
            <a:alphaModFix/>
          </a:blip>
          <a:srcRect b="0" l="0" r="0" t="0"/>
          <a:stretch/>
        </p:blipFill>
        <p:spPr>
          <a:xfrm>
            <a:off x="694944" y="3895344"/>
            <a:ext cx="347472" cy="347472"/>
          </a:xfrm>
          <a:prstGeom prst="rect">
            <a:avLst/>
          </a:prstGeom>
          <a:noFill/>
          <a:ln>
            <a:noFill/>
          </a:ln>
        </p:spPr>
      </p:pic>
      <p:sp>
        <p:nvSpPr>
          <p:cNvPr id="153" name="Google Shape;153;p5"/>
          <p:cNvSpPr/>
          <p:nvPr/>
        </p:nvSpPr>
        <p:spPr>
          <a:xfrm>
            <a:off x="1298448" y="380390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Performance</a:t>
            </a:r>
            <a:endParaRPr b="0" i="0" sz="1500" u="none" cap="none" strike="noStrike">
              <a:solidFill>
                <a:schemeClr val="dk1"/>
              </a:solidFill>
              <a:latin typeface="Calibri"/>
              <a:ea typeface="Calibri"/>
              <a:cs typeface="Calibri"/>
              <a:sym typeface="Calibri"/>
            </a:endParaRPr>
          </a:p>
        </p:txBody>
      </p:sp>
      <p:sp>
        <p:nvSpPr>
          <p:cNvPr id="154" name="Google Shape;154;p5"/>
          <p:cNvSpPr/>
          <p:nvPr/>
        </p:nvSpPr>
        <p:spPr>
          <a:xfrm>
            <a:off x="1298448" y="407822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Speed and responsiveness under real workloads.</a:t>
            </a:r>
            <a:endParaRPr b="0" i="0" sz="1150" u="none" cap="none" strike="noStrike">
              <a:solidFill>
                <a:schemeClr val="dk1"/>
              </a:solidFill>
              <a:latin typeface="Calibri"/>
              <a:ea typeface="Calibri"/>
              <a:cs typeface="Calibri"/>
              <a:sym typeface="Calibri"/>
            </a:endParaRPr>
          </a:p>
        </p:txBody>
      </p:sp>
      <p:sp>
        <p:nvSpPr>
          <p:cNvPr id="155" name="Google Shape;155;p5"/>
          <p:cNvSpPr/>
          <p:nvPr/>
        </p:nvSpPr>
        <p:spPr>
          <a:xfrm>
            <a:off x="640080" y="502920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ogs_white.png" id="156" name="Google Shape;156;p5"/>
          <p:cNvPicPr preferRelativeResize="0"/>
          <p:nvPr/>
        </p:nvPicPr>
        <p:blipFill rotWithShape="1">
          <a:blip r:embed="rId6">
            <a:alphaModFix/>
          </a:blip>
          <a:srcRect b="0" l="0" r="0" t="0"/>
          <a:stretch/>
        </p:blipFill>
        <p:spPr>
          <a:xfrm>
            <a:off x="694944" y="5084064"/>
            <a:ext cx="347472" cy="347472"/>
          </a:xfrm>
          <a:prstGeom prst="rect">
            <a:avLst/>
          </a:prstGeom>
          <a:noFill/>
          <a:ln>
            <a:noFill/>
          </a:ln>
        </p:spPr>
      </p:pic>
      <p:sp>
        <p:nvSpPr>
          <p:cNvPr id="157" name="Google Shape;157;p5"/>
          <p:cNvSpPr/>
          <p:nvPr/>
        </p:nvSpPr>
        <p:spPr>
          <a:xfrm>
            <a:off x="1298448" y="499262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Maintainability</a:t>
            </a:r>
            <a:endParaRPr b="0" i="0" sz="1500" u="none" cap="none" strike="noStrike">
              <a:solidFill>
                <a:schemeClr val="dk1"/>
              </a:solidFill>
              <a:latin typeface="Calibri"/>
              <a:ea typeface="Calibri"/>
              <a:cs typeface="Calibri"/>
              <a:sym typeface="Calibri"/>
            </a:endParaRPr>
          </a:p>
        </p:txBody>
      </p:sp>
      <p:sp>
        <p:nvSpPr>
          <p:cNvPr id="158" name="Google Shape;158;p5"/>
          <p:cNvSpPr/>
          <p:nvPr/>
        </p:nvSpPr>
        <p:spPr>
          <a:xfrm>
            <a:off x="1298448" y="526694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How easily the code can be changed later.</a:t>
            </a:r>
            <a:endParaRPr b="0" i="0" sz="1150" u="none" cap="none" strike="noStrike">
              <a:solidFill>
                <a:schemeClr val="dk1"/>
              </a:solidFill>
              <a:latin typeface="Calibri"/>
              <a:ea typeface="Calibri"/>
              <a:cs typeface="Calibri"/>
              <a:sym typeface="Calibri"/>
            </a:endParaRPr>
          </a:p>
        </p:txBody>
      </p:sp>
      <p:sp>
        <p:nvSpPr>
          <p:cNvPr id="159" name="Google Shape;159;p5"/>
          <p:cNvSpPr/>
          <p:nvPr/>
        </p:nvSpPr>
        <p:spPr>
          <a:xfrm>
            <a:off x="7269480" y="1463040"/>
            <a:ext cx="4251960" cy="1737360"/>
          </a:xfrm>
          <a:prstGeom prst="roundRect">
            <a:avLst>
              <a:gd fmla="val 4211" name="adj"/>
            </a:avLst>
          </a:prstGeom>
          <a:solidFill>
            <a:srgbClr val="FFFFFF"/>
          </a:solidFill>
          <a:ln cap="flat" cmpd="sng" w="12700">
            <a:solidFill>
              <a:srgbClr val="E1E7EE"/>
            </a:solidFill>
            <a:prstDash val="solid"/>
            <a:round/>
            <a:headEnd len="sm" w="sm" type="none"/>
            <a:tailEnd len="sm" w="sm" type="none"/>
          </a:ln>
          <a:effectLst>
            <a:outerShdw blurRad="76200" rotWithShape="0" algn="bl" dir="5400000" dist="25400">
              <a:srgbClr val="1F2937">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p:nvPr/>
        </p:nvSpPr>
        <p:spPr>
          <a:xfrm>
            <a:off x="7488936" y="1700784"/>
            <a:ext cx="502920" cy="502920"/>
          </a:xfrm>
          <a:prstGeom prst="ellipse">
            <a:avLst/>
          </a:prstGeom>
          <a:solidFill>
            <a:srgbClr val="3E5C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mobile_white.png" id="161" name="Google Shape;161;p5"/>
          <p:cNvPicPr preferRelativeResize="0"/>
          <p:nvPr/>
        </p:nvPicPr>
        <p:blipFill rotWithShape="1">
          <a:blip r:embed="rId7">
            <a:alphaModFix/>
          </a:blip>
          <a:srcRect b="0" l="0" r="0" t="0"/>
          <a:stretch/>
        </p:blipFill>
        <p:spPr>
          <a:xfrm>
            <a:off x="7549286" y="1761134"/>
            <a:ext cx="382219" cy="382219"/>
          </a:xfrm>
          <a:prstGeom prst="rect">
            <a:avLst/>
          </a:prstGeom>
          <a:noFill/>
          <a:ln>
            <a:noFill/>
          </a:ln>
        </p:spPr>
      </p:pic>
      <p:sp>
        <p:nvSpPr>
          <p:cNvPr id="162" name="Google Shape;162;p5"/>
          <p:cNvSpPr/>
          <p:nvPr/>
        </p:nvSpPr>
        <p:spPr>
          <a:xfrm>
            <a:off x="8129016" y="1682496"/>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5C76"/>
              </a:buClr>
              <a:buSzPts val="1050"/>
              <a:buFont typeface="Calibri"/>
              <a:buNone/>
            </a:pPr>
            <a:r>
              <a:rPr b="1" i="0" lang="en-US" sz="1050" u="none" cap="none" strike="noStrike">
                <a:solidFill>
                  <a:srgbClr val="3E5C76"/>
                </a:solidFill>
                <a:latin typeface="Calibri"/>
                <a:ea typeface="Calibri"/>
                <a:cs typeface="Calibri"/>
                <a:sym typeface="Calibri"/>
              </a:rPr>
              <a:t>ANALOGY</a:t>
            </a:r>
            <a:endParaRPr b="0" i="0" sz="1050" u="none" cap="none" strike="noStrike">
              <a:solidFill>
                <a:schemeClr val="dk1"/>
              </a:solidFill>
              <a:latin typeface="Calibri"/>
              <a:ea typeface="Calibri"/>
              <a:cs typeface="Calibri"/>
              <a:sym typeface="Calibri"/>
            </a:endParaRPr>
          </a:p>
        </p:txBody>
      </p:sp>
      <p:sp>
        <p:nvSpPr>
          <p:cNvPr id="163" name="Google Shape;163;p5"/>
          <p:cNvSpPr/>
          <p:nvPr/>
        </p:nvSpPr>
        <p:spPr>
          <a:xfrm>
            <a:off x="8129016" y="1920240"/>
            <a:ext cx="3200400"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2263A"/>
              </a:buClr>
              <a:buSzPts val="1350"/>
              <a:buFont typeface="Calibri"/>
              <a:buNone/>
            </a:pPr>
            <a:r>
              <a:rPr b="0" i="1" lang="en-US" sz="1350" u="none" cap="none" strike="noStrike">
                <a:solidFill>
                  <a:srgbClr val="12263A"/>
                </a:solidFill>
                <a:latin typeface="Calibri"/>
                <a:ea typeface="Calibri"/>
                <a:cs typeface="Calibri"/>
                <a:sym typeface="Calibri"/>
              </a:rPr>
              <a:t>Evaluating a finished smartphone.</a:t>
            </a:r>
            <a:endParaRPr b="0" i="0" sz="1350" u="none" cap="none" strike="noStrike">
              <a:solidFill>
                <a:schemeClr val="dk1"/>
              </a:solidFill>
              <a:latin typeface="Calibri"/>
              <a:ea typeface="Calibri"/>
              <a:cs typeface="Calibri"/>
              <a:sym typeface="Calibri"/>
            </a:endParaRPr>
          </a:p>
        </p:txBody>
      </p:sp>
      <p:sp>
        <p:nvSpPr>
          <p:cNvPr id="164" name="Google Shape;164;p5"/>
          <p:cNvSpPr/>
          <p:nvPr/>
        </p:nvSpPr>
        <p:spPr>
          <a:xfrm>
            <a:off x="7269480" y="3566160"/>
            <a:ext cx="4251960" cy="1737360"/>
          </a:xfrm>
          <a:prstGeom prst="roundRect">
            <a:avLst>
              <a:gd fmla="val 4211" name="adj"/>
            </a:avLst>
          </a:prstGeom>
          <a:solidFill>
            <a:srgbClr val="FFFFFF"/>
          </a:solidFill>
          <a:ln cap="flat" cmpd="sng" w="12700">
            <a:solidFill>
              <a:srgbClr val="E1E7EE"/>
            </a:solidFill>
            <a:prstDash val="solid"/>
            <a:round/>
            <a:headEnd len="sm" w="sm" type="none"/>
            <a:tailEnd len="sm" w="sm" type="none"/>
          </a:ln>
          <a:effectLst>
            <a:outerShdw blurRad="76200" rotWithShape="0" algn="bl" dir="5400000" dist="25400">
              <a:srgbClr val="1F2937">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
          <p:cNvSpPr/>
          <p:nvPr/>
        </p:nvSpPr>
        <p:spPr>
          <a:xfrm>
            <a:off x="7488936" y="3803904"/>
            <a:ext cx="502920" cy="502920"/>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hart_white.png" id="166" name="Google Shape;166;p5"/>
          <p:cNvPicPr preferRelativeResize="0"/>
          <p:nvPr/>
        </p:nvPicPr>
        <p:blipFill rotWithShape="1">
          <a:blip r:embed="rId8">
            <a:alphaModFix/>
          </a:blip>
          <a:srcRect b="0" l="0" r="0" t="0"/>
          <a:stretch/>
        </p:blipFill>
        <p:spPr>
          <a:xfrm>
            <a:off x="7549286" y="3864254"/>
            <a:ext cx="382219" cy="382219"/>
          </a:xfrm>
          <a:prstGeom prst="rect">
            <a:avLst/>
          </a:prstGeom>
          <a:noFill/>
          <a:ln>
            <a:noFill/>
          </a:ln>
        </p:spPr>
      </p:pic>
      <p:sp>
        <p:nvSpPr>
          <p:cNvPr id="167" name="Google Shape;167;p5"/>
          <p:cNvSpPr/>
          <p:nvPr/>
        </p:nvSpPr>
        <p:spPr>
          <a:xfrm>
            <a:off x="8129016" y="3785616"/>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050"/>
              <a:buFont typeface="Calibri"/>
              <a:buNone/>
            </a:pPr>
            <a:r>
              <a:rPr b="1" i="0" lang="en-US" sz="1050" u="none" cap="none" strike="noStrike">
                <a:solidFill>
                  <a:srgbClr val="FF7A00"/>
                </a:solidFill>
                <a:latin typeface="Calibri"/>
                <a:ea typeface="Calibri"/>
                <a:cs typeface="Calibri"/>
                <a:sym typeface="Calibri"/>
              </a:rPr>
              <a:t>PRACTICAL EXAMPLE</a:t>
            </a:r>
            <a:endParaRPr b="0" i="0" sz="1050" u="none" cap="none" strike="noStrike">
              <a:solidFill>
                <a:schemeClr val="dk1"/>
              </a:solidFill>
              <a:latin typeface="Calibri"/>
              <a:ea typeface="Calibri"/>
              <a:cs typeface="Calibri"/>
              <a:sym typeface="Calibri"/>
            </a:endParaRPr>
          </a:p>
        </p:txBody>
      </p:sp>
      <p:sp>
        <p:nvSpPr>
          <p:cNvPr id="168" name="Google Shape;168;p5"/>
          <p:cNvSpPr/>
          <p:nvPr/>
        </p:nvSpPr>
        <p:spPr>
          <a:xfrm>
            <a:off x="8129016" y="4023360"/>
            <a:ext cx="3200400"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2263A"/>
              </a:buClr>
              <a:buSzPts val="1350"/>
              <a:buFont typeface="Calibri"/>
              <a:buNone/>
            </a:pPr>
            <a:r>
              <a:rPr b="0" i="0" lang="en-US" sz="1350" u="none" cap="none" strike="noStrike">
                <a:solidFill>
                  <a:srgbClr val="12263A"/>
                </a:solidFill>
                <a:latin typeface="Calibri"/>
                <a:ea typeface="Calibri"/>
                <a:cs typeface="Calibri"/>
                <a:sym typeface="Calibri"/>
              </a:rPr>
              <a:t>Application response time and service uptime are two product metrics users feel directly.</a:t>
            </a:r>
            <a:endParaRPr b="0" i="0" sz="1350" u="none" cap="none" strike="noStrike">
              <a:solidFill>
                <a:schemeClr val="dk1"/>
              </a:solidFill>
              <a:latin typeface="Calibri"/>
              <a:ea typeface="Calibri"/>
              <a:cs typeface="Calibri"/>
              <a:sym typeface="Calibri"/>
            </a:endParaRPr>
          </a:p>
        </p:txBody>
      </p:sp>
      <p:sp>
        <p:nvSpPr>
          <p:cNvPr id="169" name="Google Shape;169;p5"/>
          <p:cNvSpPr/>
          <p:nvPr/>
        </p:nvSpPr>
        <p:spPr>
          <a:xfrm>
            <a:off x="11505895" y="6291072"/>
            <a:ext cx="384048" cy="384048"/>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5"/>
          <p:cNvSpPr/>
          <p:nvPr/>
        </p:nvSpPr>
        <p:spPr>
          <a:xfrm>
            <a:off x="11505895" y="629107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175" name="Shape 175"/>
        <p:cNvGrpSpPr/>
        <p:nvPr/>
      </p:nvGrpSpPr>
      <p:grpSpPr>
        <a:xfrm>
          <a:off x="0" y="0"/>
          <a:ext cx="0" cy="0"/>
          <a:chOff x="0" y="0"/>
          <a:chExt cx="0" cy="0"/>
        </a:xfrm>
      </p:grpSpPr>
      <p:sp>
        <p:nvSpPr>
          <p:cNvPr id="176" name="Google Shape;176;p6"/>
          <p:cNvSpPr/>
          <p:nvPr/>
        </p:nvSpPr>
        <p:spPr>
          <a:xfrm>
            <a:off x="640080" y="384048"/>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300"/>
              <a:buFont typeface="Calibri"/>
              <a:buNone/>
            </a:pPr>
            <a:r>
              <a:rPr b="1" i="0" lang="en-US" sz="1300" u="none" cap="none" strike="noStrike">
                <a:solidFill>
                  <a:srgbClr val="FF7A00"/>
                </a:solidFill>
                <a:latin typeface="Calibri"/>
                <a:ea typeface="Calibri"/>
                <a:cs typeface="Calibri"/>
                <a:sym typeface="Calibri"/>
              </a:rPr>
              <a:t>02 · CATEGORIES</a:t>
            </a:r>
            <a:endParaRPr b="0" i="0" sz="1300" u="none" cap="none" strike="noStrike">
              <a:solidFill>
                <a:schemeClr val="dk1"/>
              </a:solidFill>
              <a:latin typeface="Calibri"/>
              <a:ea typeface="Calibri"/>
              <a:cs typeface="Calibri"/>
              <a:sym typeface="Calibri"/>
            </a:endParaRPr>
          </a:p>
        </p:txBody>
      </p:sp>
      <p:sp>
        <p:nvSpPr>
          <p:cNvPr id="177" name="Google Shape;177;p6"/>
          <p:cNvSpPr/>
          <p:nvPr/>
        </p:nvSpPr>
        <p:spPr>
          <a:xfrm>
            <a:off x="640080" y="676656"/>
            <a:ext cx="108813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Process Metrics</a:t>
            </a:r>
            <a:endParaRPr b="0" i="0" sz="3200" u="none" cap="none" strike="noStrike">
              <a:solidFill>
                <a:schemeClr val="dk1"/>
              </a:solidFill>
              <a:latin typeface="Calibri"/>
              <a:ea typeface="Calibri"/>
              <a:cs typeface="Calibri"/>
              <a:sym typeface="Calibri"/>
            </a:endParaRPr>
          </a:p>
        </p:txBody>
      </p:sp>
      <p:sp>
        <p:nvSpPr>
          <p:cNvPr id="178" name="Google Shape;178;p6"/>
          <p:cNvSpPr/>
          <p:nvPr/>
        </p:nvSpPr>
        <p:spPr>
          <a:xfrm>
            <a:off x="548640" y="638251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900"/>
              <a:buFont typeface="Calibri"/>
              <a:buNone/>
            </a:pPr>
            <a:r>
              <a:rPr b="0" i="0" lang="en-US" sz="900" u="none" cap="none" strike="noStrike">
                <a:solidFill>
                  <a:srgbClr val="5B6B7C"/>
                </a:solidFill>
                <a:latin typeface="Calibri"/>
                <a:ea typeface="Calibri"/>
                <a:cs typeface="Calibri"/>
                <a:sym typeface="Calibri"/>
              </a:rPr>
              <a:t>SOFTWARE METRICS &amp; MEASUREMENT</a:t>
            </a:r>
            <a:endParaRPr b="0" i="0" sz="900" u="none" cap="none" strike="noStrike">
              <a:solidFill>
                <a:schemeClr val="dk1"/>
              </a:solidFill>
              <a:latin typeface="Calibri"/>
              <a:ea typeface="Calibri"/>
              <a:cs typeface="Calibri"/>
              <a:sym typeface="Calibri"/>
            </a:endParaRPr>
          </a:p>
        </p:txBody>
      </p:sp>
      <p:sp>
        <p:nvSpPr>
          <p:cNvPr id="179" name="Google Shape;179;p6"/>
          <p:cNvSpPr/>
          <p:nvPr/>
        </p:nvSpPr>
        <p:spPr>
          <a:xfrm>
            <a:off x="640080" y="146304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ogs_white.png" id="180" name="Google Shape;180;p6"/>
          <p:cNvPicPr preferRelativeResize="0"/>
          <p:nvPr/>
        </p:nvPicPr>
        <p:blipFill rotWithShape="1">
          <a:blip r:embed="rId3">
            <a:alphaModFix/>
          </a:blip>
          <a:srcRect b="0" l="0" r="0" t="0"/>
          <a:stretch/>
        </p:blipFill>
        <p:spPr>
          <a:xfrm>
            <a:off x="694944" y="1517904"/>
            <a:ext cx="347472" cy="347472"/>
          </a:xfrm>
          <a:prstGeom prst="rect">
            <a:avLst/>
          </a:prstGeom>
          <a:noFill/>
          <a:ln>
            <a:noFill/>
          </a:ln>
        </p:spPr>
      </p:pic>
      <p:sp>
        <p:nvSpPr>
          <p:cNvPr id="181" name="Google Shape;181;p6"/>
          <p:cNvSpPr/>
          <p:nvPr/>
        </p:nvSpPr>
        <p:spPr>
          <a:xfrm>
            <a:off x="1298448" y="142646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Development Efficiency</a:t>
            </a:r>
            <a:endParaRPr b="0" i="0" sz="1500" u="none" cap="none" strike="noStrike">
              <a:solidFill>
                <a:schemeClr val="dk1"/>
              </a:solidFill>
              <a:latin typeface="Calibri"/>
              <a:ea typeface="Calibri"/>
              <a:cs typeface="Calibri"/>
              <a:sym typeface="Calibri"/>
            </a:endParaRPr>
          </a:p>
        </p:txBody>
      </p:sp>
      <p:sp>
        <p:nvSpPr>
          <p:cNvPr id="182" name="Google Shape;182;p6"/>
          <p:cNvSpPr/>
          <p:nvPr/>
        </p:nvSpPr>
        <p:spPr>
          <a:xfrm>
            <a:off x="1298448" y="170078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Output produced per unit of engineering effort.</a:t>
            </a:r>
            <a:endParaRPr b="0" i="0" sz="1150" u="none" cap="none" strike="noStrike">
              <a:solidFill>
                <a:schemeClr val="dk1"/>
              </a:solidFill>
              <a:latin typeface="Calibri"/>
              <a:ea typeface="Calibri"/>
              <a:cs typeface="Calibri"/>
              <a:sym typeface="Calibri"/>
            </a:endParaRPr>
          </a:p>
        </p:txBody>
      </p:sp>
      <p:sp>
        <p:nvSpPr>
          <p:cNvPr id="183" name="Google Shape;183;p6"/>
          <p:cNvSpPr/>
          <p:nvPr/>
        </p:nvSpPr>
        <p:spPr>
          <a:xfrm>
            <a:off x="640080" y="265176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shield_white.png" id="184" name="Google Shape;184;p6"/>
          <p:cNvPicPr preferRelativeResize="0"/>
          <p:nvPr/>
        </p:nvPicPr>
        <p:blipFill rotWithShape="1">
          <a:blip r:embed="rId4">
            <a:alphaModFix/>
          </a:blip>
          <a:srcRect b="0" l="0" r="0" t="0"/>
          <a:stretch/>
        </p:blipFill>
        <p:spPr>
          <a:xfrm>
            <a:off x="694944" y="2706624"/>
            <a:ext cx="347472" cy="347472"/>
          </a:xfrm>
          <a:prstGeom prst="rect">
            <a:avLst/>
          </a:prstGeom>
          <a:noFill/>
          <a:ln>
            <a:noFill/>
          </a:ln>
        </p:spPr>
      </p:pic>
      <p:sp>
        <p:nvSpPr>
          <p:cNvPr id="185" name="Google Shape;185;p6"/>
          <p:cNvSpPr/>
          <p:nvPr/>
        </p:nvSpPr>
        <p:spPr>
          <a:xfrm>
            <a:off x="1298448" y="261518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Defect Rates</a:t>
            </a:r>
            <a:endParaRPr b="0" i="0" sz="1500" u="none" cap="none" strike="noStrike">
              <a:solidFill>
                <a:schemeClr val="dk1"/>
              </a:solidFill>
              <a:latin typeface="Calibri"/>
              <a:ea typeface="Calibri"/>
              <a:cs typeface="Calibri"/>
              <a:sym typeface="Calibri"/>
            </a:endParaRPr>
          </a:p>
        </p:txBody>
      </p:sp>
      <p:sp>
        <p:nvSpPr>
          <p:cNvPr id="186" name="Google Shape;186;p6"/>
          <p:cNvSpPr/>
          <p:nvPr/>
        </p:nvSpPr>
        <p:spPr>
          <a:xfrm>
            <a:off x="1298448" y="288950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How often the process introduces new bugs.</a:t>
            </a:r>
            <a:endParaRPr b="0" i="0" sz="1150" u="none" cap="none" strike="noStrike">
              <a:solidFill>
                <a:schemeClr val="dk1"/>
              </a:solidFill>
              <a:latin typeface="Calibri"/>
              <a:ea typeface="Calibri"/>
              <a:cs typeface="Calibri"/>
              <a:sym typeface="Calibri"/>
            </a:endParaRPr>
          </a:p>
        </p:txBody>
      </p:sp>
      <p:sp>
        <p:nvSpPr>
          <p:cNvPr id="187" name="Google Shape;187;p6"/>
          <p:cNvSpPr/>
          <p:nvPr/>
        </p:nvSpPr>
        <p:spPr>
          <a:xfrm>
            <a:off x="640080" y="384048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hart_white.png" id="188" name="Google Shape;188;p6"/>
          <p:cNvPicPr preferRelativeResize="0"/>
          <p:nvPr/>
        </p:nvPicPr>
        <p:blipFill rotWithShape="1">
          <a:blip r:embed="rId5">
            <a:alphaModFix/>
          </a:blip>
          <a:srcRect b="0" l="0" r="0" t="0"/>
          <a:stretch/>
        </p:blipFill>
        <p:spPr>
          <a:xfrm>
            <a:off x="694944" y="3895344"/>
            <a:ext cx="347472" cy="347472"/>
          </a:xfrm>
          <a:prstGeom prst="rect">
            <a:avLst/>
          </a:prstGeom>
          <a:noFill/>
          <a:ln>
            <a:noFill/>
          </a:ln>
        </p:spPr>
      </p:pic>
      <p:sp>
        <p:nvSpPr>
          <p:cNvPr id="189" name="Google Shape;189;p6"/>
          <p:cNvSpPr/>
          <p:nvPr/>
        </p:nvSpPr>
        <p:spPr>
          <a:xfrm>
            <a:off x="1298448" y="380390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Cycle Time</a:t>
            </a:r>
            <a:endParaRPr b="0" i="0" sz="1500" u="none" cap="none" strike="noStrike">
              <a:solidFill>
                <a:schemeClr val="dk1"/>
              </a:solidFill>
              <a:latin typeface="Calibri"/>
              <a:ea typeface="Calibri"/>
              <a:cs typeface="Calibri"/>
              <a:sym typeface="Calibri"/>
            </a:endParaRPr>
          </a:p>
        </p:txBody>
      </p:sp>
      <p:sp>
        <p:nvSpPr>
          <p:cNvPr id="190" name="Google Shape;190;p6"/>
          <p:cNvSpPr/>
          <p:nvPr/>
        </p:nvSpPr>
        <p:spPr>
          <a:xfrm>
            <a:off x="1298448" y="407822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Time from starting work to shipping it.</a:t>
            </a:r>
            <a:endParaRPr b="0" i="0" sz="1150" u="none" cap="none" strike="noStrike">
              <a:solidFill>
                <a:schemeClr val="dk1"/>
              </a:solidFill>
              <a:latin typeface="Calibri"/>
              <a:ea typeface="Calibri"/>
              <a:cs typeface="Calibri"/>
              <a:sym typeface="Calibri"/>
            </a:endParaRPr>
          </a:p>
        </p:txBody>
      </p:sp>
      <p:sp>
        <p:nvSpPr>
          <p:cNvPr id="191" name="Google Shape;191;p6"/>
          <p:cNvSpPr/>
          <p:nvPr/>
        </p:nvSpPr>
        <p:spPr>
          <a:xfrm>
            <a:off x="640080" y="502920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bullseye_white.png" id="192" name="Google Shape;192;p6"/>
          <p:cNvPicPr preferRelativeResize="0"/>
          <p:nvPr/>
        </p:nvPicPr>
        <p:blipFill rotWithShape="1">
          <a:blip r:embed="rId6">
            <a:alphaModFix/>
          </a:blip>
          <a:srcRect b="0" l="0" r="0" t="0"/>
          <a:stretch/>
        </p:blipFill>
        <p:spPr>
          <a:xfrm>
            <a:off x="694944" y="5084064"/>
            <a:ext cx="347472" cy="347472"/>
          </a:xfrm>
          <a:prstGeom prst="rect">
            <a:avLst/>
          </a:prstGeom>
          <a:noFill/>
          <a:ln>
            <a:noFill/>
          </a:ln>
        </p:spPr>
      </p:pic>
      <p:sp>
        <p:nvSpPr>
          <p:cNvPr id="193" name="Google Shape;193;p6"/>
          <p:cNvSpPr/>
          <p:nvPr/>
        </p:nvSpPr>
        <p:spPr>
          <a:xfrm>
            <a:off x="1298448" y="499262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Process Improvement</a:t>
            </a:r>
            <a:endParaRPr b="0" i="0" sz="1500" u="none" cap="none" strike="noStrike">
              <a:solidFill>
                <a:schemeClr val="dk1"/>
              </a:solidFill>
              <a:latin typeface="Calibri"/>
              <a:ea typeface="Calibri"/>
              <a:cs typeface="Calibri"/>
              <a:sym typeface="Calibri"/>
            </a:endParaRPr>
          </a:p>
        </p:txBody>
      </p:sp>
      <p:sp>
        <p:nvSpPr>
          <p:cNvPr id="194" name="Google Shape;194;p6"/>
          <p:cNvSpPr/>
          <p:nvPr/>
        </p:nvSpPr>
        <p:spPr>
          <a:xfrm>
            <a:off x="1298448" y="526694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Whether changes to workflow actually help.</a:t>
            </a:r>
            <a:endParaRPr b="0" i="0" sz="1150" u="none" cap="none" strike="noStrike">
              <a:solidFill>
                <a:schemeClr val="dk1"/>
              </a:solidFill>
              <a:latin typeface="Calibri"/>
              <a:ea typeface="Calibri"/>
              <a:cs typeface="Calibri"/>
              <a:sym typeface="Calibri"/>
            </a:endParaRPr>
          </a:p>
        </p:txBody>
      </p:sp>
      <p:sp>
        <p:nvSpPr>
          <p:cNvPr id="195" name="Google Shape;195;p6"/>
          <p:cNvSpPr/>
          <p:nvPr/>
        </p:nvSpPr>
        <p:spPr>
          <a:xfrm>
            <a:off x="7269480" y="1463040"/>
            <a:ext cx="4251960" cy="1737360"/>
          </a:xfrm>
          <a:prstGeom prst="roundRect">
            <a:avLst>
              <a:gd fmla="val 4211" name="adj"/>
            </a:avLst>
          </a:prstGeom>
          <a:solidFill>
            <a:srgbClr val="FFFFFF"/>
          </a:solidFill>
          <a:ln cap="flat" cmpd="sng" w="12700">
            <a:solidFill>
              <a:srgbClr val="E1E7EE"/>
            </a:solidFill>
            <a:prstDash val="solid"/>
            <a:round/>
            <a:headEnd len="sm" w="sm" type="none"/>
            <a:tailEnd len="sm" w="sm" type="none"/>
          </a:ln>
          <a:effectLst>
            <a:outerShdw blurRad="76200" rotWithShape="0" algn="bl" dir="5400000" dist="25400">
              <a:srgbClr val="1F2937">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
          <p:cNvSpPr/>
          <p:nvPr/>
        </p:nvSpPr>
        <p:spPr>
          <a:xfrm>
            <a:off x="7488936" y="1700784"/>
            <a:ext cx="502920" cy="502920"/>
          </a:xfrm>
          <a:prstGeom prst="ellipse">
            <a:avLst/>
          </a:prstGeom>
          <a:solidFill>
            <a:srgbClr val="3E5C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industry_white.png" id="197" name="Google Shape;197;p6"/>
          <p:cNvPicPr preferRelativeResize="0"/>
          <p:nvPr/>
        </p:nvPicPr>
        <p:blipFill rotWithShape="1">
          <a:blip r:embed="rId7">
            <a:alphaModFix/>
          </a:blip>
          <a:srcRect b="0" l="0" r="0" t="0"/>
          <a:stretch/>
        </p:blipFill>
        <p:spPr>
          <a:xfrm>
            <a:off x="7549286" y="1761134"/>
            <a:ext cx="382219" cy="382219"/>
          </a:xfrm>
          <a:prstGeom prst="rect">
            <a:avLst/>
          </a:prstGeom>
          <a:noFill/>
          <a:ln>
            <a:noFill/>
          </a:ln>
        </p:spPr>
      </p:pic>
      <p:sp>
        <p:nvSpPr>
          <p:cNvPr id="198" name="Google Shape;198;p6"/>
          <p:cNvSpPr/>
          <p:nvPr/>
        </p:nvSpPr>
        <p:spPr>
          <a:xfrm>
            <a:off x="8129016" y="1682496"/>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5C76"/>
              </a:buClr>
              <a:buSzPts val="1050"/>
              <a:buFont typeface="Calibri"/>
              <a:buNone/>
            </a:pPr>
            <a:r>
              <a:rPr b="1" i="0" lang="en-US" sz="1050" u="none" cap="none" strike="noStrike">
                <a:solidFill>
                  <a:srgbClr val="3E5C76"/>
                </a:solidFill>
                <a:latin typeface="Calibri"/>
                <a:ea typeface="Calibri"/>
                <a:cs typeface="Calibri"/>
                <a:sym typeface="Calibri"/>
              </a:rPr>
              <a:t>ANALOGY</a:t>
            </a:r>
            <a:endParaRPr b="0" i="0" sz="1050" u="none" cap="none" strike="noStrike">
              <a:solidFill>
                <a:schemeClr val="dk1"/>
              </a:solidFill>
              <a:latin typeface="Calibri"/>
              <a:ea typeface="Calibri"/>
              <a:cs typeface="Calibri"/>
              <a:sym typeface="Calibri"/>
            </a:endParaRPr>
          </a:p>
        </p:txBody>
      </p:sp>
      <p:sp>
        <p:nvSpPr>
          <p:cNvPr id="199" name="Google Shape;199;p6"/>
          <p:cNvSpPr/>
          <p:nvPr/>
        </p:nvSpPr>
        <p:spPr>
          <a:xfrm>
            <a:off x="8129016" y="1920240"/>
            <a:ext cx="3200400"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2263A"/>
              </a:buClr>
              <a:buSzPts val="1350"/>
              <a:buFont typeface="Calibri"/>
              <a:buNone/>
            </a:pPr>
            <a:r>
              <a:rPr b="0" i="1" lang="en-US" sz="1350" u="none" cap="none" strike="noStrike">
                <a:solidFill>
                  <a:srgbClr val="12263A"/>
                </a:solidFill>
                <a:latin typeface="Calibri"/>
                <a:ea typeface="Calibri"/>
                <a:cs typeface="Calibri"/>
                <a:sym typeface="Calibri"/>
              </a:rPr>
              <a:t>Monitoring a factory production line.</a:t>
            </a:r>
            <a:endParaRPr b="0" i="0" sz="1350" u="none" cap="none" strike="noStrike">
              <a:solidFill>
                <a:schemeClr val="dk1"/>
              </a:solidFill>
              <a:latin typeface="Calibri"/>
              <a:ea typeface="Calibri"/>
              <a:cs typeface="Calibri"/>
              <a:sym typeface="Calibri"/>
            </a:endParaRPr>
          </a:p>
        </p:txBody>
      </p:sp>
      <p:sp>
        <p:nvSpPr>
          <p:cNvPr id="200" name="Google Shape;200;p6"/>
          <p:cNvSpPr/>
          <p:nvPr/>
        </p:nvSpPr>
        <p:spPr>
          <a:xfrm>
            <a:off x="7269480" y="3566160"/>
            <a:ext cx="4251960" cy="1737360"/>
          </a:xfrm>
          <a:prstGeom prst="roundRect">
            <a:avLst>
              <a:gd fmla="val 4211" name="adj"/>
            </a:avLst>
          </a:prstGeom>
          <a:solidFill>
            <a:srgbClr val="FFFFFF"/>
          </a:solidFill>
          <a:ln cap="flat" cmpd="sng" w="12700">
            <a:solidFill>
              <a:srgbClr val="E1E7EE"/>
            </a:solidFill>
            <a:prstDash val="solid"/>
            <a:round/>
            <a:headEnd len="sm" w="sm" type="none"/>
            <a:tailEnd len="sm" w="sm" type="none"/>
          </a:ln>
          <a:effectLst>
            <a:outerShdw blurRad="76200" rotWithShape="0" algn="bl" dir="5400000" dist="25400">
              <a:srgbClr val="1F2937">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6"/>
          <p:cNvSpPr/>
          <p:nvPr/>
        </p:nvSpPr>
        <p:spPr>
          <a:xfrm>
            <a:off x="7488936" y="3803904"/>
            <a:ext cx="502920" cy="502920"/>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hart_white.png" id="202" name="Google Shape;202;p6"/>
          <p:cNvPicPr preferRelativeResize="0"/>
          <p:nvPr/>
        </p:nvPicPr>
        <p:blipFill rotWithShape="1">
          <a:blip r:embed="rId5">
            <a:alphaModFix/>
          </a:blip>
          <a:srcRect b="0" l="0" r="0" t="0"/>
          <a:stretch/>
        </p:blipFill>
        <p:spPr>
          <a:xfrm>
            <a:off x="7549286" y="3864254"/>
            <a:ext cx="382219" cy="382219"/>
          </a:xfrm>
          <a:prstGeom prst="rect">
            <a:avLst/>
          </a:prstGeom>
          <a:noFill/>
          <a:ln>
            <a:noFill/>
          </a:ln>
        </p:spPr>
      </p:pic>
      <p:sp>
        <p:nvSpPr>
          <p:cNvPr id="203" name="Google Shape;203;p6"/>
          <p:cNvSpPr/>
          <p:nvPr/>
        </p:nvSpPr>
        <p:spPr>
          <a:xfrm>
            <a:off x="8129016" y="3785616"/>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050"/>
              <a:buFont typeface="Calibri"/>
              <a:buNone/>
            </a:pPr>
            <a:r>
              <a:rPr b="1" i="0" lang="en-US" sz="1050" u="none" cap="none" strike="noStrike">
                <a:solidFill>
                  <a:srgbClr val="FF7A00"/>
                </a:solidFill>
                <a:latin typeface="Calibri"/>
                <a:ea typeface="Calibri"/>
                <a:cs typeface="Calibri"/>
                <a:sym typeface="Calibri"/>
              </a:rPr>
              <a:t>PRACTICAL EXAMPLE</a:t>
            </a:r>
            <a:endParaRPr b="0" i="0" sz="1050" u="none" cap="none" strike="noStrike">
              <a:solidFill>
                <a:schemeClr val="dk1"/>
              </a:solidFill>
              <a:latin typeface="Calibri"/>
              <a:ea typeface="Calibri"/>
              <a:cs typeface="Calibri"/>
              <a:sym typeface="Calibri"/>
            </a:endParaRPr>
          </a:p>
        </p:txBody>
      </p:sp>
      <p:sp>
        <p:nvSpPr>
          <p:cNvPr id="204" name="Google Shape;204;p6"/>
          <p:cNvSpPr/>
          <p:nvPr/>
        </p:nvSpPr>
        <p:spPr>
          <a:xfrm>
            <a:off x="8129016" y="4023360"/>
            <a:ext cx="3200400"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2263A"/>
              </a:buClr>
              <a:buSzPts val="1350"/>
              <a:buFont typeface="Calibri"/>
              <a:buNone/>
            </a:pPr>
            <a:r>
              <a:rPr b="0" i="0" lang="en-US" sz="1350" u="none" cap="none" strike="noStrike">
                <a:solidFill>
                  <a:srgbClr val="12263A"/>
                </a:solidFill>
                <a:latin typeface="Calibri"/>
                <a:ea typeface="Calibri"/>
                <a:cs typeface="Calibri"/>
                <a:sym typeface="Calibri"/>
              </a:rPr>
              <a:t>Tracking average bug-resolution time shows whether the development process itself is getting faster or slower.</a:t>
            </a:r>
            <a:endParaRPr b="0" i="0" sz="1350" u="none" cap="none" strike="noStrike">
              <a:solidFill>
                <a:schemeClr val="dk1"/>
              </a:solidFill>
              <a:latin typeface="Calibri"/>
              <a:ea typeface="Calibri"/>
              <a:cs typeface="Calibri"/>
              <a:sym typeface="Calibri"/>
            </a:endParaRPr>
          </a:p>
        </p:txBody>
      </p:sp>
      <p:sp>
        <p:nvSpPr>
          <p:cNvPr id="205" name="Google Shape;205;p6"/>
          <p:cNvSpPr/>
          <p:nvPr/>
        </p:nvSpPr>
        <p:spPr>
          <a:xfrm>
            <a:off x="11505895" y="6291072"/>
            <a:ext cx="384048" cy="384048"/>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6"/>
          <p:cNvSpPr/>
          <p:nvPr/>
        </p:nvSpPr>
        <p:spPr>
          <a:xfrm>
            <a:off x="11505895" y="629107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6</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211" name="Shape 211"/>
        <p:cNvGrpSpPr/>
        <p:nvPr/>
      </p:nvGrpSpPr>
      <p:grpSpPr>
        <a:xfrm>
          <a:off x="0" y="0"/>
          <a:ext cx="0" cy="0"/>
          <a:chOff x="0" y="0"/>
          <a:chExt cx="0" cy="0"/>
        </a:xfrm>
      </p:grpSpPr>
      <p:sp>
        <p:nvSpPr>
          <p:cNvPr id="212" name="Google Shape;212;p7"/>
          <p:cNvSpPr/>
          <p:nvPr/>
        </p:nvSpPr>
        <p:spPr>
          <a:xfrm>
            <a:off x="640080" y="384048"/>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300"/>
              <a:buFont typeface="Calibri"/>
              <a:buNone/>
            </a:pPr>
            <a:r>
              <a:rPr b="1" i="0" lang="en-US" sz="1300" u="none" cap="none" strike="noStrike">
                <a:solidFill>
                  <a:srgbClr val="FF7A00"/>
                </a:solidFill>
                <a:latin typeface="Calibri"/>
                <a:ea typeface="Calibri"/>
                <a:cs typeface="Calibri"/>
                <a:sym typeface="Calibri"/>
              </a:rPr>
              <a:t>02 · CATEGORIES</a:t>
            </a:r>
            <a:endParaRPr b="0" i="0" sz="1300" u="none" cap="none" strike="noStrike">
              <a:solidFill>
                <a:schemeClr val="dk1"/>
              </a:solidFill>
              <a:latin typeface="Calibri"/>
              <a:ea typeface="Calibri"/>
              <a:cs typeface="Calibri"/>
              <a:sym typeface="Calibri"/>
            </a:endParaRPr>
          </a:p>
        </p:txBody>
      </p:sp>
      <p:sp>
        <p:nvSpPr>
          <p:cNvPr id="213" name="Google Shape;213;p7"/>
          <p:cNvSpPr/>
          <p:nvPr/>
        </p:nvSpPr>
        <p:spPr>
          <a:xfrm>
            <a:off x="640080" y="676656"/>
            <a:ext cx="108813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Project Metrics</a:t>
            </a:r>
            <a:endParaRPr b="0" i="0" sz="3200" u="none" cap="none" strike="noStrike">
              <a:solidFill>
                <a:schemeClr val="dk1"/>
              </a:solidFill>
              <a:latin typeface="Calibri"/>
              <a:ea typeface="Calibri"/>
              <a:cs typeface="Calibri"/>
              <a:sym typeface="Calibri"/>
            </a:endParaRPr>
          </a:p>
        </p:txBody>
      </p:sp>
      <p:sp>
        <p:nvSpPr>
          <p:cNvPr id="214" name="Google Shape;214;p7"/>
          <p:cNvSpPr/>
          <p:nvPr/>
        </p:nvSpPr>
        <p:spPr>
          <a:xfrm>
            <a:off x="548640" y="638251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900"/>
              <a:buFont typeface="Calibri"/>
              <a:buNone/>
            </a:pPr>
            <a:r>
              <a:rPr b="0" i="0" lang="en-US" sz="900" u="none" cap="none" strike="noStrike">
                <a:solidFill>
                  <a:srgbClr val="5B6B7C"/>
                </a:solidFill>
                <a:latin typeface="Calibri"/>
                <a:ea typeface="Calibri"/>
                <a:cs typeface="Calibri"/>
                <a:sym typeface="Calibri"/>
              </a:rPr>
              <a:t>SOFTWARE METRICS &amp; MEASUREMENT</a:t>
            </a:r>
            <a:endParaRPr b="0" i="0" sz="900" u="none" cap="none" strike="noStrike">
              <a:solidFill>
                <a:schemeClr val="dk1"/>
              </a:solidFill>
              <a:latin typeface="Calibri"/>
              <a:ea typeface="Calibri"/>
              <a:cs typeface="Calibri"/>
              <a:sym typeface="Calibri"/>
            </a:endParaRPr>
          </a:p>
        </p:txBody>
      </p:sp>
      <p:sp>
        <p:nvSpPr>
          <p:cNvPr id="215" name="Google Shape;215;p7"/>
          <p:cNvSpPr/>
          <p:nvPr/>
        </p:nvSpPr>
        <p:spPr>
          <a:xfrm>
            <a:off x="640080" y="146304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hart_white.png" id="216" name="Google Shape;216;p7"/>
          <p:cNvPicPr preferRelativeResize="0"/>
          <p:nvPr/>
        </p:nvPicPr>
        <p:blipFill rotWithShape="1">
          <a:blip r:embed="rId3">
            <a:alphaModFix/>
          </a:blip>
          <a:srcRect b="0" l="0" r="0" t="0"/>
          <a:stretch/>
        </p:blipFill>
        <p:spPr>
          <a:xfrm>
            <a:off x="694944" y="1517904"/>
            <a:ext cx="347472" cy="347472"/>
          </a:xfrm>
          <a:prstGeom prst="rect">
            <a:avLst/>
          </a:prstGeom>
          <a:noFill/>
          <a:ln>
            <a:noFill/>
          </a:ln>
        </p:spPr>
      </p:pic>
      <p:sp>
        <p:nvSpPr>
          <p:cNvPr id="217" name="Google Shape;217;p7"/>
          <p:cNvSpPr/>
          <p:nvPr/>
        </p:nvSpPr>
        <p:spPr>
          <a:xfrm>
            <a:off x="1298448" y="142646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Cost</a:t>
            </a:r>
            <a:endParaRPr b="0" i="0" sz="1500" u="none" cap="none" strike="noStrike">
              <a:solidFill>
                <a:schemeClr val="dk1"/>
              </a:solidFill>
              <a:latin typeface="Calibri"/>
              <a:ea typeface="Calibri"/>
              <a:cs typeface="Calibri"/>
              <a:sym typeface="Calibri"/>
            </a:endParaRPr>
          </a:p>
        </p:txBody>
      </p:sp>
      <p:sp>
        <p:nvSpPr>
          <p:cNvPr id="218" name="Google Shape;218;p7"/>
          <p:cNvSpPr/>
          <p:nvPr/>
        </p:nvSpPr>
        <p:spPr>
          <a:xfrm>
            <a:off x="1298448" y="170078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Actual spend measured against the budget.</a:t>
            </a:r>
            <a:endParaRPr b="0" i="0" sz="1150" u="none" cap="none" strike="noStrike">
              <a:solidFill>
                <a:schemeClr val="dk1"/>
              </a:solidFill>
              <a:latin typeface="Calibri"/>
              <a:ea typeface="Calibri"/>
              <a:cs typeface="Calibri"/>
              <a:sym typeface="Calibri"/>
            </a:endParaRPr>
          </a:p>
        </p:txBody>
      </p:sp>
      <p:sp>
        <p:nvSpPr>
          <p:cNvPr id="219" name="Google Shape;219;p7"/>
          <p:cNvSpPr/>
          <p:nvPr/>
        </p:nvSpPr>
        <p:spPr>
          <a:xfrm>
            <a:off x="640080" y="265176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gauge_white.png" id="220" name="Google Shape;220;p7"/>
          <p:cNvPicPr preferRelativeResize="0"/>
          <p:nvPr/>
        </p:nvPicPr>
        <p:blipFill rotWithShape="1">
          <a:blip r:embed="rId4">
            <a:alphaModFix/>
          </a:blip>
          <a:srcRect b="0" l="0" r="0" t="0"/>
          <a:stretch/>
        </p:blipFill>
        <p:spPr>
          <a:xfrm>
            <a:off x="694944" y="2706624"/>
            <a:ext cx="347472" cy="347472"/>
          </a:xfrm>
          <a:prstGeom prst="rect">
            <a:avLst/>
          </a:prstGeom>
          <a:noFill/>
          <a:ln>
            <a:noFill/>
          </a:ln>
        </p:spPr>
      </p:pic>
      <p:sp>
        <p:nvSpPr>
          <p:cNvPr id="221" name="Google Shape;221;p7"/>
          <p:cNvSpPr/>
          <p:nvPr/>
        </p:nvSpPr>
        <p:spPr>
          <a:xfrm>
            <a:off x="1298448" y="261518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Schedule</a:t>
            </a:r>
            <a:endParaRPr b="0" i="0" sz="1500" u="none" cap="none" strike="noStrike">
              <a:solidFill>
                <a:schemeClr val="dk1"/>
              </a:solidFill>
              <a:latin typeface="Calibri"/>
              <a:ea typeface="Calibri"/>
              <a:cs typeface="Calibri"/>
              <a:sym typeface="Calibri"/>
            </a:endParaRPr>
          </a:p>
        </p:txBody>
      </p:sp>
      <p:sp>
        <p:nvSpPr>
          <p:cNvPr id="222" name="Google Shape;222;p7"/>
          <p:cNvSpPr/>
          <p:nvPr/>
        </p:nvSpPr>
        <p:spPr>
          <a:xfrm>
            <a:off x="1298448" y="288950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Progress measured against planned milestones.</a:t>
            </a:r>
            <a:endParaRPr b="0" i="0" sz="1150" u="none" cap="none" strike="noStrike">
              <a:solidFill>
                <a:schemeClr val="dk1"/>
              </a:solidFill>
              <a:latin typeface="Calibri"/>
              <a:ea typeface="Calibri"/>
              <a:cs typeface="Calibri"/>
              <a:sym typeface="Calibri"/>
            </a:endParaRPr>
          </a:p>
        </p:txBody>
      </p:sp>
      <p:sp>
        <p:nvSpPr>
          <p:cNvPr id="223" name="Google Shape;223;p7"/>
          <p:cNvSpPr/>
          <p:nvPr/>
        </p:nvSpPr>
        <p:spPr>
          <a:xfrm>
            <a:off x="640080" y="384048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users_white.png" id="224" name="Google Shape;224;p7"/>
          <p:cNvPicPr preferRelativeResize="0"/>
          <p:nvPr/>
        </p:nvPicPr>
        <p:blipFill rotWithShape="1">
          <a:blip r:embed="rId5">
            <a:alphaModFix/>
          </a:blip>
          <a:srcRect b="0" l="0" r="0" t="0"/>
          <a:stretch/>
        </p:blipFill>
        <p:spPr>
          <a:xfrm>
            <a:off x="694944" y="3895344"/>
            <a:ext cx="347472" cy="347472"/>
          </a:xfrm>
          <a:prstGeom prst="rect">
            <a:avLst/>
          </a:prstGeom>
          <a:noFill/>
          <a:ln>
            <a:noFill/>
          </a:ln>
        </p:spPr>
      </p:pic>
      <p:sp>
        <p:nvSpPr>
          <p:cNvPr id="225" name="Google Shape;225;p7"/>
          <p:cNvSpPr/>
          <p:nvPr/>
        </p:nvSpPr>
        <p:spPr>
          <a:xfrm>
            <a:off x="1298448" y="380390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Team Productivity</a:t>
            </a:r>
            <a:endParaRPr b="0" i="0" sz="1500" u="none" cap="none" strike="noStrike">
              <a:solidFill>
                <a:schemeClr val="dk1"/>
              </a:solidFill>
              <a:latin typeface="Calibri"/>
              <a:ea typeface="Calibri"/>
              <a:cs typeface="Calibri"/>
              <a:sym typeface="Calibri"/>
            </a:endParaRPr>
          </a:p>
        </p:txBody>
      </p:sp>
      <p:sp>
        <p:nvSpPr>
          <p:cNvPr id="226" name="Google Shape;226;p7"/>
          <p:cNvSpPr/>
          <p:nvPr/>
        </p:nvSpPr>
        <p:spPr>
          <a:xfrm>
            <a:off x="1298448" y="407822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Output delivered per person over time.</a:t>
            </a:r>
            <a:endParaRPr b="0" i="0" sz="1150" u="none" cap="none" strike="noStrike">
              <a:solidFill>
                <a:schemeClr val="dk1"/>
              </a:solidFill>
              <a:latin typeface="Calibri"/>
              <a:ea typeface="Calibri"/>
              <a:cs typeface="Calibri"/>
              <a:sym typeface="Calibri"/>
            </a:endParaRPr>
          </a:p>
        </p:txBody>
      </p:sp>
      <p:sp>
        <p:nvSpPr>
          <p:cNvPr id="227" name="Google Shape;227;p7"/>
          <p:cNvSpPr/>
          <p:nvPr/>
        </p:nvSpPr>
        <p:spPr>
          <a:xfrm>
            <a:off x="640080" y="502920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balance_white.png" id="228" name="Google Shape;228;p7"/>
          <p:cNvPicPr preferRelativeResize="0"/>
          <p:nvPr/>
        </p:nvPicPr>
        <p:blipFill rotWithShape="1">
          <a:blip r:embed="rId6">
            <a:alphaModFix/>
          </a:blip>
          <a:srcRect b="0" l="0" r="0" t="0"/>
          <a:stretch/>
        </p:blipFill>
        <p:spPr>
          <a:xfrm>
            <a:off x="694944" y="5084064"/>
            <a:ext cx="347472" cy="347472"/>
          </a:xfrm>
          <a:prstGeom prst="rect">
            <a:avLst/>
          </a:prstGeom>
          <a:noFill/>
          <a:ln>
            <a:noFill/>
          </a:ln>
        </p:spPr>
      </p:pic>
      <p:sp>
        <p:nvSpPr>
          <p:cNvPr id="229" name="Google Shape;229;p7"/>
          <p:cNvSpPr/>
          <p:nvPr/>
        </p:nvSpPr>
        <p:spPr>
          <a:xfrm>
            <a:off x="1298448" y="499262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Resource Utilization</a:t>
            </a:r>
            <a:endParaRPr b="0" i="0" sz="1500" u="none" cap="none" strike="noStrike">
              <a:solidFill>
                <a:schemeClr val="dk1"/>
              </a:solidFill>
              <a:latin typeface="Calibri"/>
              <a:ea typeface="Calibri"/>
              <a:cs typeface="Calibri"/>
              <a:sym typeface="Calibri"/>
            </a:endParaRPr>
          </a:p>
        </p:txBody>
      </p:sp>
      <p:sp>
        <p:nvSpPr>
          <p:cNvPr id="230" name="Google Shape;230;p7"/>
          <p:cNvSpPr/>
          <p:nvPr/>
        </p:nvSpPr>
        <p:spPr>
          <a:xfrm>
            <a:off x="1298448" y="526694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How efficiently people and tools are used.</a:t>
            </a:r>
            <a:endParaRPr b="0" i="0" sz="1150" u="none" cap="none" strike="noStrike">
              <a:solidFill>
                <a:schemeClr val="dk1"/>
              </a:solidFill>
              <a:latin typeface="Calibri"/>
              <a:ea typeface="Calibri"/>
              <a:cs typeface="Calibri"/>
              <a:sym typeface="Calibri"/>
            </a:endParaRPr>
          </a:p>
        </p:txBody>
      </p:sp>
      <p:sp>
        <p:nvSpPr>
          <p:cNvPr id="231" name="Google Shape;231;p7"/>
          <p:cNvSpPr/>
          <p:nvPr/>
        </p:nvSpPr>
        <p:spPr>
          <a:xfrm>
            <a:off x="7269480" y="1463040"/>
            <a:ext cx="4251960" cy="1737360"/>
          </a:xfrm>
          <a:prstGeom prst="roundRect">
            <a:avLst>
              <a:gd fmla="val 4211" name="adj"/>
            </a:avLst>
          </a:prstGeom>
          <a:solidFill>
            <a:srgbClr val="FFFFFF"/>
          </a:solidFill>
          <a:ln cap="flat" cmpd="sng" w="12700">
            <a:solidFill>
              <a:srgbClr val="E1E7EE"/>
            </a:solidFill>
            <a:prstDash val="solid"/>
            <a:round/>
            <a:headEnd len="sm" w="sm" type="none"/>
            <a:tailEnd len="sm" w="sm" type="none"/>
          </a:ln>
          <a:effectLst>
            <a:outerShdw blurRad="76200" rotWithShape="0" algn="bl" dir="5400000" dist="25400">
              <a:srgbClr val="1F2937">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7"/>
          <p:cNvSpPr/>
          <p:nvPr/>
        </p:nvSpPr>
        <p:spPr>
          <a:xfrm>
            <a:off x="7488936" y="1700784"/>
            <a:ext cx="502920" cy="502920"/>
          </a:xfrm>
          <a:prstGeom prst="ellipse">
            <a:avLst/>
          </a:prstGeom>
          <a:solidFill>
            <a:srgbClr val="3E5C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hardhat_white.png" id="233" name="Google Shape;233;p7"/>
          <p:cNvPicPr preferRelativeResize="0"/>
          <p:nvPr/>
        </p:nvPicPr>
        <p:blipFill rotWithShape="1">
          <a:blip r:embed="rId7">
            <a:alphaModFix/>
          </a:blip>
          <a:srcRect b="0" l="0" r="0" t="0"/>
          <a:stretch/>
        </p:blipFill>
        <p:spPr>
          <a:xfrm>
            <a:off x="7549286" y="1761134"/>
            <a:ext cx="382219" cy="382219"/>
          </a:xfrm>
          <a:prstGeom prst="rect">
            <a:avLst/>
          </a:prstGeom>
          <a:noFill/>
          <a:ln>
            <a:noFill/>
          </a:ln>
        </p:spPr>
      </p:pic>
      <p:sp>
        <p:nvSpPr>
          <p:cNvPr id="234" name="Google Shape;234;p7"/>
          <p:cNvSpPr/>
          <p:nvPr/>
        </p:nvSpPr>
        <p:spPr>
          <a:xfrm>
            <a:off x="8129016" y="1682496"/>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5C76"/>
              </a:buClr>
              <a:buSzPts val="1050"/>
              <a:buFont typeface="Calibri"/>
              <a:buNone/>
            </a:pPr>
            <a:r>
              <a:rPr b="1" i="0" lang="en-US" sz="1050" u="none" cap="none" strike="noStrike">
                <a:solidFill>
                  <a:srgbClr val="3E5C76"/>
                </a:solidFill>
                <a:latin typeface="Calibri"/>
                <a:ea typeface="Calibri"/>
                <a:cs typeface="Calibri"/>
                <a:sym typeface="Calibri"/>
              </a:rPr>
              <a:t>ANALOGY</a:t>
            </a:r>
            <a:endParaRPr b="0" i="0" sz="1050" u="none" cap="none" strike="noStrike">
              <a:solidFill>
                <a:schemeClr val="dk1"/>
              </a:solidFill>
              <a:latin typeface="Calibri"/>
              <a:ea typeface="Calibri"/>
              <a:cs typeface="Calibri"/>
              <a:sym typeface="Calibri"/>
            </a:endParaRPr>
          </a:p>
        </p:txBody>
      </p:sp>
      <p:sp>
        <p:nvSpPr>
          <p:cNvPr id="235" name="Google Shape;235;p7"/>
          <p:cNvSpPr/>
          <p:nvPr/>
        </p:nvSpPr>
        <p:spPr>
          <a:xfrm>
            <a:off x="8129016" y="1920240"/>
            <a:ext cx="3200400"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2263A"/>
              </a:buClr>
              <a:buSzPts val="1350"/>
              <a:buFont typeface="Calibri"/>
              <a:buNone/>
            </a:pPr>
            <a:r>
              <a:rPr b="0" i="1" lang="en-US" sz="1350" u="none" cap="none" strike="noStrike">
                <a:solidFill>
                  <a:srgbClr val="12263A"/>
                </a:solidFill>
                <a:latin typeface="Calibri"/>
                <a:ea typeface="Calibri"/>
                <a:cs typeface="Calibri"/>
                <a:sym typeface="Calibri"/>
              </a:rPr>
              <a:t>Managing a construction project.</a:t>
            </a:r>
            <a:endParaRPr b="0" i="0" sz="1350" u="none" cap="none" strike="noStrike">
              <a:solidFill>
                <a:schemeClr val="dk1"/>
              </a:solidFill>
              <a:latin typeface="Calibri"/>
              <a:ea typeface="Calibri"/>
              <a:cs typeface="Calibri"/>
              <a:sym typeface="Calibri"/>
            </a:endParaRPr>
          </a:p>
        </p:txBody>
      </p:sp>
      <p:sp>
        <p:nvSpPr>
          <p:cNvPr id="236" name="Google Shape;236;p7"/>
          <p:cNvSpPr/>
          <p:nvPr/>
        </p:nvSpPr>
        <p:spPr>
          <a:xfrm>
            <a:off x="7269480" y="3566160"/>
            <a:ext cx="4251960" cy="1737360"/>
          </a:xfrm>
          <a:prstGeom prst="roundRect">
            <a:avLst>
              <a:gd fmla="val 4211" name="adj"/>
            </a:avLst>
          </a:prstGeom>
          <a:solidFill>
            <a:srgbClr val="FFFFFF"/>
          </a:solidFill>
          <a:ln cap="flat" cmpd="sng" w="12700">
            <a:solidFill>
              <a:srgbClr val="E1E7EE"/>
            </a:solidFill>
            <a:prstDash val="solid"/>
            <a:round/>
            <a:headEnd len="sm" w="sm" type="none"/>
            <a:tailEnd len="sm" w="sm" type="none"/>
          </a:ln>
          <a:effectLst>
            <a:outerShdw blurRad="76200" rotWithShape="0" algn="bl" dir="5400000" dist="25400">
              <a:srgbClr val="1F2937">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7"/>
          <p:cNvSpPr/>
          <p:nvPr/>
        </p:nvSpPr>
        <p:spPr>
          <a:xfrm>
            <a:off x="7488936" y="3803904"/>
            <a:ext cx="502920" cy="502920"/>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hart_white.png" id="238" name="Google Shape;238;p7"/>
          <p:cNvPicPr preferRelativeResize="0"/>
          <p:nvPr/>
        </p:nvPicPr>
        <p:blipFill rotWithShape="1">
          <a:blip r:embed="rId3">
            <a:alphaModFix/>
          </a:blip>
          <a:srcRect b="0" l="0" r="0" t="0"/>
          <a:stretch/>
        </p:blipFill>
        <p:spPr>
          <a:xfrm>
            <a:off x="7549286" y="3864254"/>
            <a:ext cx="382219" cy="382219"/>
          </a:xfrm>
          <a:prstGeom prst="rect">
            <a:avLst/>
          </a:prstGeom>
          <a:noFill/>
          <a:ln>
            <a:noFill/>
          </a:ln>
        </p:spPr>
      </p:pic>
      <p:sp>
        <p:nvSpPr>
          <p:cNvPr id="239" name="Google Shape;239;p7"/>
          <p:cNvSpPr/>
          <p:nvPr/>
        </p:nvSpPr>
        <p:spPr>
          <a:xfrm>
            <a:off x="8129016" y="3785616"/>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050"/>
              <a:buFont typeface="Calibri"/>
              <a:buNone/>
            </a:pPr>
            <a:r>
              <a:rPr b="1" i="0" lang="en-US" sz="1050" u="none" cap="none" strike="noStrike">
                <a:solidFill>
                  <a:srgbClr val="FF7A00"/>
                </a:solidFill>
                <a:latin typeface="Calibri"/>
                <a:ea typeface="Calibri"/>
                <a:cs typeface="Calibri"/>
                <a:sym typeface="Calibri"/>
              </a:rPr>
              <a:t>PRACTICAL EXAMPLE</a:t>
            </a:r>
            <a:endParaRPr b="0" i="0" sz="1050" u="none" cap="none" strike="noStrike">
              <a:solidFill>
                <a:schemeClr val="dk1"/>
              </a:solidFill>
              <a:latin typeface="Calibri"/>
              <a:ea typeface="Calibri"/>
              <a:cs typeface="Calibri"/>
              <a:sym typeface="Calibri"/>
            </a:endParaRPr>
          </a:p>
        </p:txBody>
      </p:sp>
      <p:sp>
        <p:nvSpPr>
          <p:cNvPr id="240" name="Google Shape;240;p7"/>
          <p:cNvSpPr/>
          <p:nvPr/>
        </p:nvSpPr>
        <p:spPr>
          <a:xfrm>
            <a:off x="8129016" y="4023360"/>
            <a:ext cx="3200400"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2263A"/>
              </a:buClr>
              <a:buSzPts val="1350"/>
              <a:buFont typeface="Calibri"/>
              <a:buNone/>
            </a:pPr>
            <a:r>
              <a:rPr b="0" i="0" lang="en-US" sz="1350" u="none" cap="none" strike="noStrike">
                <a:solidFill>
                  <a:srgbClr val="12263A"/>
                </a:solidFill>
                <a:latin typeface="Calibri"/>
                <a:ea typeface="Calibri"/>
                <a:cs typeface="Calibri"/>
                <a:sym typeface="Calibri"/>
              </a:rPr>
              <a:t>A project finishing on schedule and within budget is judged healthy, even before anyone opens the code.</a:t>
            </a:r>
            <a:endParaRPr b="0" i="0" sz="1350" u="none" cap="none" strike="noStrike">
              <a:solidFill>
                <a:schemeClr val="dk1"/>
              </a:solidFill>
              <a:latin typeface="Calibri"/>
              <a:ea typeface="Calibri"/>
              <a:cs typeface="Calibri"/>
              <a:sym typeface="Calibri"/>
            </a:endParaRPr>
          </a:p>
        </p:txBody>
      </p:sp>
      <p:sp>
        <p:nvSpPr>
          <p:cNvPr id="241" name="Google Shape;241;p7"/>
          <p:cNvSpPr/>
          <p:nvPr/>
        </p:nvSpPr>
        <p:spPr>
          <a:xfrm>
            <a:off x="11505895" y="6291072"/>
            <a:ext cx="384048" cy="384048"/>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7"/>
          <p:cNvSpPr/>
          <p:nvPr/>
        </p:nvSpPr>
        <p:spPr>
          <a:xfrm>
            <a:off x="11505895" y="629107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7</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247" name="Shape 247"/>
        <p:cNvGrpSpPr/>
        <p:nvPr/>
      </p:nvGrpSpPr>
      <p:grpSpPr>
        <a:xfrm>
          <a:off x="0" y="0"/>
          <a:ext cx="0" cy="0"/>
          <a:chOff x="0" y="0"/>
          <a:chExt cx="0" cy="0"/>
        </a:xfrm>
      </p:grpSpPr>
      <p:sp>
        <p:nvSpPr>
          <p:cNvPr id="248" name="Google Shape;248;p8"/>
          <p:cNvSpPr/>
          <p:nvPr/>
        </p:nvSpPr>
        <p:spPr>
          <a:xfrm>
            <a:off x="640080" y="384048"/>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300"/>
              <a:buFont typeface="Calibri"/>
              <a:buNone/>
            </a:pPr>
            <a:r>
              <a:rPr b="1" i="0" lang="en-US" sz="1300" u="none" cap="none" strike="noStrike">
                <a:solidFill>
                  <a:srgbClr val="FF7A00"/>
                </a:solidFill>
                <a:latin typeface="Calibri"/>
                <a:ea typeface="Calibri"/>
                <a:cs typeface="Calibri"/>
                <a:sym typeface="Calibri"/>
              </a:rPr>
              <a:t>03 · SIZING METHODS</a:t>
            </a:r>
            <a:endParaRPr b="0" i="0" sz="1300" u="none" cap="none" strike="noStrike">
              <a:solidFill>
                <a:schemeClr val="dk1"/>
              </a:solidFill>
              <a:latin typeface="Calibri"/>
              <a:ea typeface="Calibri"/>
              <a:cs typeface="Calibri"/>
              <a:sym typeface="Calibri"/>
            </a:endParaRPr>
          </a:p>
        </p:txBody>
      </p:sp>
      <p:sp>
        <p:nvSpPr>
          <p:cNvPr id="249" name="Google Shape;249;p8"/>
          <p:cNvSpPr/>
          <p:nvPr/>
        </p:nvSpPr>
        <p:spPr>
          <a:xfrm>
            <a:off x="640080" y="676656"/>
            <a:ext cx="108813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Lines of Code (LOC)</a:t>
            </a:r>
            <a:endParaRPr b="0" i="0" sz="3200" u="none" cap="none" strike="noStrike">
              <a:solidFill>
                <a:schemeClr val="dk1"/>
              </a:solidFill>
              <a:latin typeface="Calibri"/>
              <a:ea typeface="Calibri"/>
              <a:cs typeface="Calibri"/>
              <a:sym typeface="Calibri"/>
            </a:endParaRPr>
          </a:p>
        </p:txBody>
      </p:sp>
      <p:sp>
        <p:nvSpPr>
          <p:cNvPr id="250" name="Google Shape;250;p8"/>
          <p:cNvSpPr/>
          <p:nvPr/>
        </p:nvSpPr>
        <p:spPr>
          <a:xfrm>
            <a:off x="548640" y="638251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900"/>
              <a:buFont typeface="Calibri"/>
              <a:buNone/>
            </a:pPr>
            <a:r>
              <a:rPr b="0" i="0" lang="en-US" sz="900" u="none" cap="none" strike="noStrike">
                <a:solidFill>
                  <a:srgbClr val="5B6B7C"/>
                </a:solidFill>
                <a:latin typeface="Calibri"/>
                <a:ea typeface="Calibri"/>
                <a:cs typeface="Calibri"/>
                <a:sym typeface="Calibri"/>
              </a:rPr>
              <a:t>SOFTWARE METRICS &amp; MEASUREMENT</a:t>
            </a:r>
            <a:endParaRPr b="0" i="0" sz="900" u="none" cap="none" strike="noStrike">
              <a:solidFill>
                <a:schemeClr val="dk1"/>
              </a:solidFill>
              <a:latin typeface="Calibri"/>
              <a:ea typeface="Calibri"/>
              <a:cs typeface="Calibri"/>
              <a:sym typeface="Calibri"/>
            </a:endParaRPr>
          </a:p>
        </p:txBody>
      </p:sp>
      <p:sp>
        <p:nvSpPr>
          <p:cNvPr id="251" name="Google Shape;251;p8"/>
          <p:cNvSpPr/>
          <p:nvPr/>
        </p:nvSpPr>
        <p:spPr>
          <a:xfrm>
            <a:off x="640080" y="141732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book_white.png" id="252" name="Google Shape;252;p8"/>
          <p:cNvPicPr preferRelativeResize="0"/>
          <p:nvPr/>
        </p:nvPicPr>
        <p:blipFill rotWithShape="1">
          <a:blip r:embed="rId3">
            <a:alphaModFix/>
          </a:blip>
          <a:srcRect b="0" l="0" r="0" t="0"/>
          <a:stretch/>
        </p:blipFill>
        <p:spPr>
          <a:xfrm>
            <a:off x="694944" y="1472184"/>
            <a:ext cx="347472" cy="347472"/>
          </a:xfrm>
          <a:prstGeom prst="rect">
            <a:avLst/>
          </a:prstGeom>
          <a:noFill/>
          <a:ln>
            <a:noFill/>
          </a:ln>
        </p:spPr>
      </p:pic>
      <p:sp>
        <p:nvSpPr>
          <p:cNvPr id="253" name="Google Shape;253;p8"/>
          <p:cNvSpPr/>
          <p:nvPr/>
        </p:nvSpPr>
        <p:spPr>
          <a:xfrm>
            <a:off x="1298448" y="1380744"/>
            <a:ext cx="47365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Definition</a:t>
            </a:r>
            <a:endParaRPr b="0" i="0" sz="1500" u="none" cap="none" strike="noStrike">
              <a:solidFill>
                <a:schemeClr val="dk1"/>
              </a:solidFill>
              <a:latin typeface="Calibri"/>
              <a:ea typeface="Calibri"/>
              <a:cs typeface="Calibri"/>
              <a:sym typeface="Calibri"/>
            </a:endParaRPr>
          </a:p>
        </p:txBody>
      </p:sp>
      <p:sp>
        <p:nvSpPr>
          <p:cNvPr id="254" name="Google Shape;254;p8"/>
          <p:cNvSpPr/>
          <p:nvPr/>
        </p:nvSpPr>
        <p:spPr>
          <a:xfrm>
            <a:off x="1298448" y="1655064"/>
            <a:ext cx="47365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Counts lines written to size a codebase.</a:t>
            </a:r>
            <a:endParaRPr b="0" i="0" sz="1150" u="none" cap="none" strike="noStrike">
              <a:solidFill>
                <a:schemeClr val="dk1"/>
              </a:solidFill>
              <a:latin typeface="Calibri"/>
              <a:ea typeface="Calibri"/>
              <a:cs typeface="Calibri"/>
              <a:sym typeface="Calibri"/>
            </a:endParaRPr>
          </a:p>
        </p:txBody>
      </p:sp>
      <p:sp>
        <p:nvSpPr>
          <p:cNvPr id="255" name="Google Shape;255;p8"/>
          <p:cNvSpPr/>
          <p:nvPr/>
        </p:nvSpPr>
        <p:spPr>
          <a:xfrm>
            <a:off x="640080" y="2313432"/>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shield_white.png" id="256" name="Google Shape;256;p8"/>
          <p:cNvPicPr preferRelativeResize="0"/>
          <p:nvPr/>
        </p:nvPicPr>
        <p:blipFill rotWithShape="1">
          <a:blip r:embed="rId4">
            <a:alphaModFix/>
          </a:blip>
          <a:srcRect b="0" l="0" r="0" t="0"/>
          <a:stretch/>
        </p:blipFill>
        <p:spPr>
          <a:xfrm>
            <a:off x="694944" y="2368296"/>
            <a:ext cx="347472" cy="347472"/>
          </a:xfrm>
          <a:prstGeom prst="rect">
            <a:avLst/>
          </a:prstGeom>
          <a:noFill/>
          <a:ln>
            <a:noFill/>
          </a:ln>
        </p:spPr>
      </p:pic>
      <p:sp>
        <p:nvSpPr>
          <p:cNvPr id="257" name="Google Shape;257;p8"/>
          <p:cNvSpPr/>
          <p:nvPr/>
        </p:nvSpPr>
        <p:spPr>
          <a:xfrm>
            <a:off x="1298448" y="2276856"/>
            <a:ext cx="47365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Advantages</a:t>
            </a:r>
            <a:endParaRPr b="0" i="0" sz="1500" u="none" cap="none" strike="noStrike">
              <a:solidFill>
                <a:schemeClr val="dk1"/>
              </a:solidFill>
              <a:latin typeface="Calibri"/>
              <a:ea typeface="Calibri"/>
              <a:cs typeface="Calibri"/>
              <a:sym typeface="Calibri"/>
            </a:endParaRPr>
          </a:p>
        </p:txBody>
      </p:sp>
      <p:sp>
        <p:nvSpPr>
          <p:cNvPr id="258" name="Google Shape;258;p8"/>
          <p:cNvSpPr/>
          <p:nvPr/>
        </p:nvSpPr>
        <p:spPr>
          <a:xfrm>
            <a:off x="1298448" y="2551176"/>
            <a:ext cx="47365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Simple, fast, and easy to automate.</a:t>
            </a:r>
            <a:endParaRPr b="0" i="0" sz="1150" u="none" cap="none" strike="noStrike">
              <a:solidFill>
                <a:schemeClr val="dk1"/>
              </a:solidFill>
              <a:latin typeface="Calibri"/>
              <a:ea typeface="Calibri"/>
              <a:cs typeface="Calibri"/>
              <a:sym typeface="Calibri"/>
            </a:endParaRPr>
          </a:p>
        </p:txBody>
      </p:sp>
      <p:sp>
        <p:nvSpPr>
          <p:cNvPr id="259" name="Google Shape;259;p8"/>
          <p:cNvSpPr/>
          <p:nvPr/>
        </p:nvSpPr>
        <p:spPr>
          <a:xfrm>
            <a:off x="640080" y="3209544"/>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balance_white.png" id="260" name="Google Shape;260;p8"/>
          <p:cNvPicPr preferRelativeResize="0"/>
          <p:nvPr/>
        </p:nvPicPr>
        <p:blipFill rotWithShape="1">
          <a:blip r:embed="rId5">
            <a:alphaModFix/>
          </a:blip>
          <a:srcRect b="0" l="0" r="0" t="0"/>
          <a:stretch/>
        </p:blipFill>
        <p:spPr>
          <a:xfrm>
            <a:off x="694944" y="3264408"/>
            <a:ext cx="347472" cy="347472"/>
          </a:xfrm>
          <a:prstGeom prst="rect">
            <a:avLst/>
          </a:prstGeom>
          <a:noFill/>
          <a:ln>
            <a:noFill/>
          </a:ln>
        </p:spPr>
      </p:pic>
      <p:sp>
        <p:nvSpPr>
          <p:cNvPr id="261" name="Google Shape;261;p8"/>
          <p:cNvSpPr/>
          <p:nvPr/>
        </p:nvSpPr>
        <p:spPr>
          <a:xfrm>
            <a:off x="1298448" y="3172968"/>
            <a:ext cx="47365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Limitations</a:t>
            </a:r>
            <a:endParaRPr b="0" i="0" sz="1500" u="none" cap="none" strike="noStrike">
              <a:solidFill>
                <a:schemeClr val="dk1"/>
              </a:solidFill>
              <a:latin typeface="Calibri"/>
              <a:ea typeface="Calibri"/>
              <a:cs typeface="Calibri"/>
              <a:sym typeface="Calibri"/>
            </a:endParaRPr>
          </a:p>
        </p:txBody>
      </p:sp>
      <p:sp>
        <p:nvSpPr>
          <p:cNvPr id="262" name="Google Shape;262;p8"/>
          <p:cNvSpPr/>
          <p:nvPr/>
        </p:nvSpPr>
        <p:spPr>
          <a:xfrm>
            <a:off x="1298448" y="3447288"/>
            <a:ext cx="47365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Ignores language, style, and true complexity.</a:t>
            </a:r>
            <a:endParaRPr b="0" i="0" sz="1150" u="none" cap="none" strike="noStrike">
              <a:solidFill>
                <a:schemeClr val="dk1"/>
              </a:solidFill>
              <a:latin typeface="Calibri"/>
              <a:ea typeface="Calibri"/>
              <a:cs typeface="Calibri"/>
              <a:sym typeface="Calibri"/>
            </a:endParaRPr>
          </a:p>
        </p:txBody>
      </p:sp>
      <p:sp>
        <p:nvSpPr>
          <p:cNvPr id="263" name="Google Shape;263;p8"/>
          <p:cNvSpPr/>
          <p:nvPr/>
        </p:nvSpPr>
        <p:spPr>
          <a:xfrm>
            <a:off x="640080" y="4105656"/>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hart_white.png" id="264" name="Google Shape;264;p8"/>
          <p:cNvPicPr preferRelativeResize="0"/>
          <p:nvPr/>
        </p:nvPicPr>
        <p:blipFill rotWithShape="1">
          <a:blip r:embed="rId6">
            <a:alphaModFix/>
          </a:blip>
          <a:srcRect b="0" l="0" r="0" t="0"/>
          <a:stretch/>
        </p:blipFill>
        <p:spPr>
          <a:xfrm>
            <a:off x="694944" y="4160520"/>
            <a:ext cx="347472" cy="347472"/>
          </a:xfrm>
          <a:prstGeom prst="rect">
            <a:avLst/>
          </a:prstGeom>
          <a:noFill/>
          <a:ln>
            <a:noFill/>
          </a:ln>
        </p:spPr>
      </p:pic>
      <p:sp>
        <p:nvSpPr>
          <p:cNvPr id="265" name="Google Shape;265;p8"/>
          <p:cNvSpPr/>
          <p:nvPr/>
        </p:nvSpPr>
        <p:spPr>
          <a:xfrm>
            <a:off x="1298448" y="4069080"/>
            <a:ext cx="47365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Usage</a:t>
            </a:r>
            <a:endParaRPr b="0" i="0" sz="1500" u="none" cap="none" strike="noStrike">
              <a:solidFill>
                <a:schemeClr val="dk1"/>
              </a:solidFill>
              <a:latin typeface="Calibri"/>
              <a:ea typeface="Calibri"/>
              <a:cs typeface="Calibri"/>
              <a:sym typeface="Calibri"/>
            </a:endParaRPr>
          </a:p>
        </p:txBody>
      </p:sp>
      <p:sp>
        <p:nvSpPr>
          <p:cNvPr id="266" name="Google Shape;266;p8"/>
          <p:cNvSpPr/>
          <p:nvPr/>
        </p:nvSpPr>
        <p:spPr>
          <a:xfrm>
            <a:off x="1298448" y="4343400"/>
            <a:ext cx="47365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Rough sizing and legacy-system comparison.</a:t>
            </a:r>
            <a:endParaRPr b="0" i="0" sz="1150" u="none" cap="none" strike="noStrike">
              <a:solidFill>
                <a:schemeClr val="dk1"/>
              </a:solidFill>
              <a:latin typeface="Calibri"/>
              <a:ea typeface="Calibri"/>
              <a:cs typeface="Calibri"/>
              <a:sym typeface="Calibri"/>
            </a:endParaRPr>
          </a:p>
        </p:txBody>
      </p:sp>
      <p:sp>
        <p:nvSpPr>
          <p:cNvPr id="267" name="Google Shape;267;p8"/>
          <p:cNvSpPr/>
          <p:nvPr/>
        </p:nvSpPr>
        <p:spPr>
          <a:xfrm>
            <a:off x="640080" y="5074920"/>
            <a:ext cx="5394960" cy="1234440"/>
          </a:xfrm>
          <a:prstGeom prst="roundRect">
            <a:avLst>
              <a:gd fmla="val 5926" name="adj"/>
            </a:avLst>
          </a:prstGeom>
          <a:solidFill>
            <a:srgbClr val="FFFFFF"/>
          </a:solidFill>
          <a:ln cap="flat" cmpd="sng" w="12700">
            <a:solidFill>
              <a:srgbClr val="E1E7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8"/>
          <p:cNvSpPr/>
          <p:nvPr/>
        </p:nvSpPr>
        <p:spPr>
          <a:xfrm>
            <a:off x="841248" y="5257800"/>
            <a:ext cx="457200" cy="457200"/>
          </a:xfrm>
          <a:prstGeom prst="ellipse">
            <a:avLst/>
          </a:prstGeom>
          <a:solidFill>
            <a:srgbClr val="3E5C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lightbulb_white.png" id="269" name="Google Shape;269;p8"/>
          <p:cNvPicPr preferRelativeResize="0"/>
          <p:nvPr/>
        </p:nvPicPr>
        <p:blipFill rotWithShape="1">
          <a:blip r:embed="rId7">
            <a:alphaModFix/>
          </a:blip>
          <a:srcRect b="0" l="0" r="0" t="0"/>
          <a:stretch/>
        </p:blipFill>
        <p:spPr>
          <a:xfrm>
            <a:off x="896112" y="5312664"/>
            <a:ext cx="347472" cy="347472"/>
          </a:xfrm>
          <a:prstGeom prst="rect">
            <a:avLst/>
          </a:prstGeom>
          <a:noFill/>
          <a:ln>
            <a:noFill/>
          </a:ln>
        </p:spPr>
      </p:pic>
      <p:sp>
        <p:nvSpPr>
          <p:cNvPr id="270" name="Google Shape;270;p8"/>
          <p:cNvSpPr/>
          <p:nvPr/>
        </p:nvSpPr>
        <p:spPr>
          <a:xfrm>
            <a:off x="1426464" y="5221224"/>
            <a:ext cx="43891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5C76"/>
              </a:buClr>
              <a:buSzPts val="1000"/>
              <a:buFont typeface="Calibri"/>
              <a:buNone/>
            </a:pPr>
            <a:r>
              <a:rPr b="1" i="0" lang="en-US" sz="1000" u="none" cap="none" strike="noStrike">
                <a:solidFill>
                  <a:srgbClr val="3E5C76"/>
                </a:solidFill>
                <a:latin typeface="Calibri"/>
                <a:ea typeface="Calibri"/>
                <a:cs typeface="Calibri"/>
                <a:sym typeface="Calibri"/>
              </a:rPr>
              <a:t>ANALOGY</a:t>
            </a:r>
            <a:endParaRPr b="0" i="0" sz="1000" u="none" cap="none" strike="noStrike">
              <a:solidFill>
                <a:schemeClr val="dk1"/>
              </a:solidFill>
              <a:latin typeface="Calibri"/>
              <a:ea typeface="Calibri"/>
              <a:cs typeface="Calibri"/>
              <a:sym typeface="Calibri"/>
            </a:endParaRPr>
          </a:p>
        </p:txBody>
      </p:sp>
      <p:sp>
        <p:nvSpPr>
          <p:cNvPr id="271" name="Google Shape;271;p8"/>
          <p:cNvSpPr/>
          <p:nvPr/>
        </p:nvSpPr>
        <p:spPr>
          <a:xfrm>
            <a:off x="1426464" y="5440680"/>
            <a:ext cx="4434840" cy="7315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2263A"/>
              </a:buClr>
              <a:buSzPts val="1250"/>
              <a:buFont typeface="Calibri"/>
              <a:buNone/>
            </a:pPr>
            <a:r>
              <a:rPr b="0" i="1" lang="en-US" sz="1250" u="none" cap="none" strike="noStrike">
                <a:solidFill>
                  <a:srgbClr val="12263A"/>
                </a:solidFill>
                <a:latin typeface="Calibri"/>
                <a:ea typeface="Calibri"/>
                <a:cs typeface="Calibri"/>
                <a:sym typeface="Calibri"/>
              </a:rPr>
              <a:t>Counting pages in a book — it tells you length, not quality of the story.</a:t>
            </a:r>
            <a:endParaRPr b="0" i="0" sz="1250" u="none" cap="none" strike="noStrike">
              <a:solidFill>
                <a:schemeClr val="dk1"/>
              </a:solidFill>
              <a:latin typeface="Calibri"/>
              <a:ea typeface="Calibri"/>
              <a:cs typeface="Calibri"/>
              <a:sym typeface="Calibri"/>
            </a:endParaRPr>
          </a:p>
        </p:txBody>
      </p:sp>
      <p:sp>
        <p:nvSpPr>
          <p:cNvPr id="272" name="Google Shape;272;p8"/>
          <p:cNvSpPr/>
          <p:nvPr/>
        </p:nvSpPr>
        <p:spPr>
          <a:xfrm>
            <a:off x="6446520" y="1417320"/>
            <a:ext cx="5029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050"/>
              <a:buFont typeface="Calibri"/>
              <a:buNone/>
            </a:pPr>
            <a:r>
              <a:rPr b="1" i="0" lang="en-US" sz="1050" u="none" cap="none" strike="noStrike">
                <a:solidFill>
                  <a:srgbClr val="FF7A00"/>
                </a:solidFill>
                <a:latin typeface="Calibri"/>
                <a:ea typeface="Calibri"/>
                <a:cs typeface="Calibri"/>
                <a:sym typeface="Calibri"/>
              </a:rPr>
              <a:t>PRACTICAL EXAMPLE — SAME FEATURE, DIFFERENT SIZE</a:t>
            </a:r>
            <a:endParaRPr b="0" i="0" sz="1050" u="none" cap="none" strike="noStrike">
              <a:solidFill>
                <a:schemeClr val="dk1"/>
              </a:solidFill>
              <a:latin typeface="Calibri"/>
              <a:ea typeface="Calibri"/>
              <a:cs typeface="Calibri"/>
              <a:sym typeface="Calibri"/>
            </a:endParaRPr>
          </a:p>
        </p:txBody>
      </p:sp>
      <p:graphicFrame>
        <p:nvGraphicFramePr>
          <p:cNvPr id="273" name="Google Shape;273;p8"/>
          <p:cNvGraphicFramePr/>
          <p:nvPr/>
        </p:nvGraphicFramePr>
        <p:xfrm>
          <a:off x="6446520" y="1783080"/>
          <a:ext cx="5029200" cy="3383280"/>
        </p:xfrm>
        <a:graphic>
          <a:graphicData uri="http://schemas.openxmlformats.org/drawingml/2006/chart">
            <c:chart r:id="rId8"/>
          </a:graphicData>
        </a:graphic>
      </p:graphicFrame>
      <p:sp>
        <p:nvSpPr>
          <p:cNvPr id="274" name="Google Shape;274;p8"/>
          <p:cNvSpPr/>
          <p:nvPr/>
        </p:nvSpPr>
        <p:spPr>
          <a:xfrm>
            <a:off x="6446520" y="5212080"/>
            <a:ext cx="5029200" cy="8229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Both applications ship identical features — LOC alone would wrongly suggest Codebase A took twice the effort.</a:t>
            </a:r>
            <a:endParaRPr b="0" i="0" sz="1150" u="none" cap="none" strike="noStrike">
              <a:solidFill>
                <a:schemeClr val="dk1"/>
              </a:solidFill>
              <a:latin typeface="Calibri"/>
              <a:ea typeface="Calibri"/>
              <a:cs typeface="Calibri"/>
              <a:sym typeface="Calibri"/>
            </a:endParaRPr>
          </a:p>
        </p:txBody>
      </p:sp>
      <p:sp>
        <p:nvSpPr>
          <p:cNvPr id="275" name="Google Shape;275;p8"/>
          <p:cNvSpPr/>
          <p:nvPr/>
        </p:nvSpPr>
        <p:spPr>
          <a:xfrm>
            <a:off x="11505895" y="6291072"/>
            <a:ext cx="384048" cy="384048"/>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8"/>
          <p:cNvSpPr/>
          <p:nvPr/>
        </p:nvSpPr>
        <p:spPr>
          <a:xfrm>
            <a:off x="11505895" y="629107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8</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281" name="Shape 281"/>
        <p:cNvGrpSpPr/>
        <p:nvPr/>
      </p:nvGrpSpPr>
      <p:grpSpPr>
        <a:xfrm>
          <a:off x="0" y="0"/>
          <a:ext cx="0" cy="0"/>
          <a:chOff x="0" y="0"/>
          <a:chExt cx="0" cy="0"/>
        </a:xfrm>
      </p:grpSpPr>
      <p:sp>
        <p:nvSpPr>
          <p:cNvPr id="282" name="Google Shape;282;p9"/>
          <p:cNvSpPr/>
          <p:nvPr/>
        </p:nvSpPr>
        <p:spPr>
          <a:xfrm>
            <a:off x="640080" y="384048"/>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300"/>
              <a:buFont typeface="Calibri"/>
              <a:buNone/>
            </a:pPr>
            <a:r>
              <a:rPr b="1" i="0" lang="en-US" sz="1300" u="none" cap="none" strike="noStrike">
                <a:solidFill>
                  <a:srgbClr val="FF7A00"/>
                </a:solidFill>
                <a:latin typeface="Calibri"/>
                <a:ea typeface="Calibri"/>
                <a:cs typeface="Calibri"/>
                <a:sym typeface="Calibri"/>
              </a:rPr>
              <a:t>03 · SIZING METHODS</a:t>
            </a:r>
            <a:endParaRPr b="0" i="0" sz="1300" u="none" cap="none" strike="noStrike">
              <a:solidFill>
                <a:schemeClr val="dk1"/>
              </a:solidFill>
              <a:latin typeface="Calibri"/>
              <a:ea typeface="Calibri"/>
              <a:cs typeface="Calibri"/>
              <a:sym typeface="Calibri"/>
            </a:endParaRPr>
          </a:p>
        </p:txBody>
      </p:sp>
      <p:sp>
        <p:nvSpPr>
          <p:cNvPr id="283" name="Google Shape;283;p9"/>
          <p:cNvSpPr/>
          <p:nvPr/>
        </p:nvSpPr>
        <p:spPr>
          <a:xfrm>
            <a:off x="640080" y="676656"/>
            <a:ext cx="108813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Function Point Analysis (FPA)</a:t>
            </a:r>
            <a:endParaRPr b="0" i="0" sz="3200" u="none" cap="none" strike="noStrike">
              <a:solidFill>
                <a:schemeClr val="dk1"/>
              </a:solidFill>
              <a:latin typeface="Calibri"/>
              <a:ea typeface="Calibri"/>
              <a:cs typeface="Calibri"/>
              <a:sym typeface="Calibri"/>
            </a:endParaRPr>
          </a:p>
        </p:txBody>
      </p:sp>
      <p:sp>
        <p:nvSpPr>
          <p:cNvPr id="284" name="Google Shape;284;p9"/>
          <p:cNvSpPr/>
          <p:nvPr/>
        </p:nvSpPr>
        <p:spPr>
          <a:xfrm>
            <a:off x="548640" y="638251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900"/>
              <a:buFont typeface="Calibri"/>
              <a:buNone/>
            </a:pPr>
            <a:r>
              <a:rPr b="0" i="0" lang="en-US" sz="900" u="none" cap="none" strike="noStrike">
                <a:solidFill>
                  <a:srgbClr val="5B6B7C"/>
                </a:solidFill>
                <a:latin typeface="Calibri"/>
                <a:ea typeface="Calibri"/>
                <a:cs typeface="Calibri"/>
                <a:sym typeface="Calibri"/>
              </a:rPr>
              <a:t>SOFTWARE METRICS &amp; MEASUREMENT</a:t>
            </a:r>
            <a:endParaRPr b="0" i="0" sz="900" u="none" cap="none" strike="noStrike">
              <a:solidFill>
                <a:schemeClr val="dk1"/>
              </a:solidFill>
              <a:latin typeface="Calibri"/>
              <a:ea typeface="Calibri"/>
              <a:cs typeface="Calibri"/>
              <a:sym typeface="Calibri"/>
            </a:endParaRPr>
          </a:p>
        </p:txBody>
      </p:sp>
      <p:sp>
        <p:nvSpPr>
          <p:cNvPr id="285" name="Google Shape;285;p9"/>
          <p:cNvSpPr/>
          <p:nvPr/>
        </p:nvSpPr>
        <p:spPr>
          <a:xfrm>
            <a:off x="640080" y="141732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bullseye_white.png" id="286" name="Google Shape;286;p9"/>
          <p:cNvPicPr preferRelativeResize="0"/>
          <p:nvPr/>
        </p:nvPicPr>
        <p:blipFill rotWithShape="1">
          <a:blip r:embed="rId3">
            <a:alphaModFix/>
          </a:blip>
          <a:srcRect b="0" l="0" r="0" t="0"/>
          <a:stretch/>
        </p:blipFill>
        <p:spPr>
          <a:xfrm>
            <a:off x="694944" y="1472184"/>
            <a:ext cx="347472" cy="347472"/>
          </a:xfrm>
          <a:prstGeom prst="rect">
            <a:avLst/>
          </a:prstGeom>
          <a:noFill/>
          <a:ln>
            <a:noFill/>
          </a:ln>
        </p:spPr>
      </p:pic>
      <p:sp>
        <p:nvSpPr>
          <p:cNvPr id="287" name="Google Shape;287;p9"/>
          <p:cNvSpPr/>
          <p:nvPr/>
        </p:nvSpPr>
        <p:spPr>
          <a:xfrm>
            <a:off x="1298448" y="1380744"/>
            <a:ext cx="47365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Measuring Functionality</a:t>
            </a:r>
            <a:endParaRPr b="0" i="0" sz="1500" u="none" cap="none" strike="noStrike">
              <a:solidFill>
                <a:schemeClr val="dk1"/>
              </a:solidFill>
              <a:latin typeface="Calibri"/>
              <a:ea typeface="Calibri"/>
              <a:cs typeface="Calibri"/>
              <a:sym typeface="Calibri"/>
            </a:endParaRPr>
          </a:p>
        </p:txBody>
      </p:sp>
      <p:sp>
        <p:nvSpPr>
          <p:cNvPr id="288" name="Google Shape;288;p9"/>
          <p:cNvSpPr/>
          <p:nvPr/>
        </p:nvSpPr>
        <p:spPr>
          <a:xfrm>
            <a:off x="1298448" y="1655064"/>
            <a:ext cx="47365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Sizes software by what it does for users.</a:t>
            </a:r>
            <a:endParaRPr b="0" i="0" sz="1150" u="none" cap="none" strike="noStrike">
              <a:solidFill>
                <a:schemeClr val="dk1"/>
              </a:solidFill>
              <a:latin typeface="Calibri"/>
              <a:ea typeface="Calibri"/>
              <a:cs typeface="Calibri"/>
              <a:sym typeface="Calibri"/>
            </a:endParaRPr>
          </a:p>
        </p:txBody>
      </p:sp>
      <p:sp>
        <p:nvSpPr>
          <p:cNvPr id="289" name="Google Shape;289;p9"/>
          <p:cNvSpPr/>
          <p:nvPr/>
        </p:nvSpPr>
        <p:spPr>
          <a:xfrm>
            <a:off x="640080" y="2313432"/>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users_white.png" id="290" name="Google Shape;290;p9"/>
          <p:cNvPicPr preferRelativeResize="0"/>
          <p:nvPr/>
        </p:nvPicPr>
        <p:blipFill rotWithShape="1">
          <a:blip r:embed="rId4">
            <a:alphaModFix/>
          </a:blip>
          <a:srcRect b="0" l="0" r="0" t="0"/>
          <a:stretch/>
        </p:blipFill>
        <p:spPr>
          <a:xfrm>
            <a:off x="694944" y="2368296"/>
            <a:ext cx="347472" cy="347472"/>
          </a:xfrm>
          <a:prstGeom prst="rect">
            <a:avLst/>
          </a:prstGeom>
          <a:noFill/>
          <a:ln>
            <a:noFill/>
          </a:ln>
        </p:spPr>
      </p:pic>
      <p:sp>
        <p:nvSpPr>
          <p:cNvPr id="291" name="Google Shape;291;p9"/>
          <p:cNvSpPr/>
          <p:nvPr/>
        </p:nvSpPr>
        <p:spPr>
          <a:xfrm>
            <a:off x="1298448" y="2276856"/>
            <a:ext cx="47365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User Perspective</a:t>
            </a:r>
            <a:endParaRPr b="0" i="0" sz="1500" u="none" cap="none" strike="noStrike">
              <a:solidFill>
                <a:schemeClr val="dk1"/>
              </a:solidFill>
              <a:latin typeface="Calibri"/>
              <a:ea typeface="Calibri"/>
              <a:cs typeface="Calibri"/>
              <a:sym typeface="Calibri"/>
            </a:endParaRPr>
          </a:p>
        </p:txBody>
      </p:sp>
      <p:sp>
        <p:nvSpPr>
          <p:cNvPr id="292" name="Google Shape;292;p9"/>
          <p:cNvSpPr/>
          <p:nvPr/>
        </p:nvSpPr>
        <p:spPr>
          <a:xfrm>
            <a:off x="1298448" y="2551176"/>
            <a:ext cx="47365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Counts inputs, outputs, and data users touch.</a:t>
            </a:r>
            <a:endParaRPr b="0" i="0" sz="1150" u="none" cap="none" strike="noStrike">
              <a:solidFill>
                <a:schemeClr val="dk1"/>
              </a:solidFill>
              <a:latin typeface="Calibri"/>
              <a:ea typeface="Calibri"/>
              <a:cs typeface="Calibri"/>
              <a:sym typeface="Calibri"/>
            </a:endParaRPr>
          </a:p>
        </p:txBody>
      </p:sp>
      <p:sp>
        <p:nvSpPr>
          <p:cNvPr id="293" name="Google Shape;293;p9"/>
          <p:cNvSpPr/>
          <p:nvPr/>
        </p:nvSpPr>
        <p:spPr>
          <a:xfrm>
            <a:off x="640080" y="3209544"/>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shield_white.png" id="294" name="Google Shape;294;p9"/>
          <p:cNvPicPr preferRelativeResize="0"/>
          <p:nvPr/>
        </p:nvPicPr>
        <p:blipFill rotWithShape="1">
          <a:blip r:embed="rId5">
            <a:alphaModFix/>
          </a:blip>
          <a:srcRect b="0" l="0" r="0" t="0"/>
          <a:stretch/>
        </p:blipFill>
        <p:spPr>
          <a:xfrm>
            <a:off x="694944" y="3264408"/>
            <a:ext cx="347472" cy="347472"/>
          </a:xfrm>
          <a:prstGeom prst="rect">
            <a:avLst/>
          </a:prstGeom>
          <a:noFill/>
          <a:ln>
            <a:noFill/>
          </a:ln>
        </p:spPr>
      </p:pic>
      <p:sp>
        <p:nvSpPr>
          <p:cNvPr id="295" name="Google Shape;295;p9"/>
          <p:cNvSpPr/>
          <p:nvPr/>
        </p:nvSpPr>
        <p:spPr>
          <a:xfrm>
            <a:off x="1298448" y="3172968"/>
            <a:ext cx="47365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Benefits</a:t>
            </a:r>
            <a:endParaRPr b="0" i="0" sz="1500" u="none" cap="none" strike="noStrike">
              <a:solidFill>
                <a:schemeClr val="dk1"/>
              </a:solidFill>
              <a:latin typeface="Calibri"/>
              <a:ea typeface="Calibri"/>
              <a:cs typeface="Calibri"/>
              <a:sym typeface="Calibri"/>
            </a:endParaRPr>
          </a:p>
        </p:txBody>
      </p:sp>
      <p:sp>
        <p:nvSpPr>
          <p:cNvPr id="296" name="Google Shape;296;p9"/>
          <p:cNvSpPr/>
          <p:nvPr/>
        </p:nvSpPr>
        <p:spPr>
          <a:xfrm>
            <a:off x="1298448" y="3447288"/>
            <a:ext cx="47365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Independent of language or coding style.</a:t>
            </a:r>
            <a:endParaRPr b="0" i="0" sz="1150" u="none" cap="none" strike="noStrike">
              <a:solidFill>
                <a:schemeClr val="dk1"/>
              </a:solidFill>
              <a:latin typeface="Calibri"/>
              <a:ea typeface="Calibri"/>
              <a:cs typeface="Calibri"/>
              <a:sym typeface="Calibri"/>
            </a:endParaRPr>
          </a:p>
        </p:txBody>
      </p:sp>
      <p:sp>
        <p:nvSpPr>
          <p:cNvPr id="297" name="Google Shape;297;p9"/>
          <p:cNvSpPr/>
          <p:nvPr/>
        </p:nvSpPr>
        <p:spPr>
          <a:xfrm>
            <a:off x="640080" y="4105656"/>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balance_white.png" id="298" name="Google Shape;298;p9"/>
          <p:cNvPicPr preferRelativeResize="0"/>
          <p:nvPr/>
        </p:nvPicPr>
        <p:blipFill rotWithShape="1">
          <a:blip r:embed="rId6">
            <a:alphaModFix/>
          </a:blip>
          <a:srcRect b="0" l="0" r="0" t="0"/>
          <a:stretch/>
        </p:blipFill>
        <p:spPr>
          <a:xfrm>
            <a:off x="694944" y="4160520"/>
            <a:ext cx="347472" cy="347472"/>
          </a:xfrm>
          <a:prstGeom prst="rect">
            <a:avLst/>
          </a:prstGeom>
          <a:noFill/>
          <a:ln>
            <a:noFill/>
          </a:ln>
        </p:spPr>
      </p:pic>
      <p:sp>
        <p:nvSpPr>
          <p:cNvPr id="299" name="Google Shape;299;p9"/>
          <p:cNvSpPr/>
          <p:nvPr/>
        </p:nvSpPr>
        <p:spPr>
          <a:xfrm>
            <a:off x="1298448" y="4069080"/>
            <a:ext cx="47365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Limitations</a:t>
            </a:r>
            <a:endParaRPr b="0" i="0" sz="1500" u="none" cap="none" strike="noStrike">
              <a:solidFill>
                <a:schemeClr val="dk1"/>
              </a:solidFill>
              <a:latin typeface="Calibri"/>
              <a:ea typeface="Calibri"/>
              <a:cs typeface="Calibri"/>
              <a:sym typeface="Calibri"/>
            </a:endParaRPr>
          </a:p>
        </p:txBody>
      </p:sp>
      <p:sp>
        <p:nvSpPr>
          <p:cNvPr id="300" name="Google Shape;300;p9"/>
          <p:cNvSpPr/>
          <p:nvPr/>
        </p:nvSpPr>
        <p:spPr>
          <a:xfrm>
            <a:off x="1298448" y="4343400"/>
            <a:ext cx="47365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Slower to calculate and needs training.</a:t>
            </a:r>
            <a:endParaRPr b="0" i="0" sz="1150" u="none" cap="none" strike="noStrike">
              <a:solidFill>
                <a:schemeClr val="dk1"/>
              </a:solidFill>
              <a:latin typeface="Calibri"/>
              <a:ea typeface="Calibri"/>
              <a:cs typeface="Calibri"/>
              <a:sym typeface="Calibri"/>
            </a:endParaRPr>
          </a:p>
        </p:txBody>
      </p:sp>
      <p:sp>
        <p:nvSpPr>
          <p:cNvPr id="301" name="Google Shape;301;p9"/>
          <p:cNvSpPr/>
          <p:nvPr/>
        </p:nvSpPr>
        <p:spPr>
          <a:xfrm>
            <a:off x="640080" y="5074920"/>
            <a:ext cx="5394960" cy="1234440"/>
          </a:xfrm>
          <a:prstGeom prst="roundRect">
            <a:avLst>
              <a:gd fmla="val 5926" name="adj"/>
            </a:avLst>
          </a:prstGeom>
          <a:solidFill>
            <a:srgbClr val="FFFFFF"/>
          </a:solidFill>
          <a:ln cap="flat" cmpd="sng" w="12700">
            <a:solidFill>
              <a:srgbClr val="E1E7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9"/>
          <p:cNvSpPr/>
          <p:nvPr/>
        </p:nvSpPr>
        <p:spPr>
          <a:xfrm>
            <a:off x="841248" y="5257800"/>
            <a:ext cx="457200" cy="457200"/>
          </a:xfrm>
          <a:prstGeom prst="ellipse">
            <a:avLst/>
          </a:prstGeom>
          <a:solidFill>
            <a:srgbClr val="3E5C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ogs_white.png" id="303" name="Google Shape;303;p9"/>
          <p:cNvPicPr preferRelativeResize="0"/>
          <p:nvPr/>
        </p:nvPicPr>
        <p:blipFill rotWithShape="1">
          <a:blip r:embed="rId7">
            <a:alphaModFix/>
          </a:blip>
          <a:srcRect b="0" l="0" r="0" t="0"/>
          <a:stretch/>
        </p:blipFill>
        <p:spPr>
          <a:xfrm>
            <a:off x="896112" y="5312664"/>
            <a:ext cx="347472" cy="347472"/>
          </a:xfrm>
          <a:prstGeom prst="rect">
            <a:avLst/>
          </a:prstGeom>
          <a:noFill/>
          <a:ln>
            <a:noFill/>
          </a:ln>
        </p:spPr>
      </p:pic>
      <p:sp>
        <p:nvSpPr>
          <p:cNvPr id="304" name="Google Shape;304;p9"/>
          <p:cNvSpPr/>
          <p:nvPr/>
        </p:nvSpPr>
        <p:spPr>
          <a:xfrm>
            <a:off x="1426464" y="5221224"/>
            <a:ext cx="43891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5C76"/>
              </a:buClr>
              <a:buSzPts val="1000"/>
              <a:buFont typeface="Calibri"/>
              <a:buNone/>
            </a:pPr>
            <a:r>
              <a:rPr b="1" i="0" lang="en-US" sz="1000" u="none" cap="none" strike="noStrike">
                <a:solidFill>
                  <a:srgbClr val="3E5C76"/>
                </a:solidFill>
                <a:latin typeface="Calibri"/>
                <a:ea typeface="Calibri"/>
                <a:cs typeface="Calibri"/>
                <a:sym typeface="Calibri"/>
              </a:rPr>
              <a:t>ANALOGY</a:t>
            </a:r>
            <a:endParaRPr b="0" i="0" sz="1000" u="none" cap="none" strike="noStrike">
              <a:solidFill>
                <a:schemeClr val="dk1"/>
              </a:solidFill>
              <a:latin typeface="Calibri"/>
              <a:ea typeface="Calibri"/>
              <a:cs typeface="Calibri"/>
              <a:sym typeface="Calibri"/>
            </a:endParaRPr>
          </a:p>
        </p:txBody>
      </p:sp>
      <p:sp>
        <p:nvSpPr>
          <p:cNvPr id="305" name="Google Shape;305;p9"/>
          <p:cNvSpPr/>
          <p:nvPr/>
        </p:nvSpPr>
        <p:spPr>
          <a:xfrm>
            <a:off x="1426464" y="5440680"/>
            <a:ext cx="4434840" cy="7315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2263A"/>
              </a:buClr>
              <a:buSzPts val="1250"/>
              <a:buFont typeface="Calibri"/>
              <a:buNone/>
            </a:pPr>
            <a:r>
              <a:rPr b="0" i="1" lang="en-US" sz="1250" u="none" cap="none" strike="noStrike">
                <a:solidFill>
                  <a:srgbClr val="12263A"/>
                </a:solidFill>
                <a:latin typeface="Calibri"/>
                <a:ea typeface="Calibri"/>
                <a:cs typeface="Calibri"/>
                <a:sym typeface="Calibri"/>
              </a:rPr>
              <a:t>Measuring what a car does, not the size of its engine.</a:t>
            </a:r>
            <a:endParaRPr b="0" i="0" sz="1250" u="none" cap="none" strike="noStrike">
              <a:solidFill>
                <a:schemeClr val="dk1"/>
              </a:solidFill>
              <a:latin typeface="Calibri"/>
              <a:ea typeface="Calibri"/>
              <a:cs typeface="Calibri"/>
              <a:sym typeface="Calibri"/>
            </a:endParaRPr>
          </a:p>
        </p:txBody>
      </p:sp>
      <p:sp>
        <p:nvSpPr>
          <p:cNvPr id="306" name="Google Shape;306;p9"/>
          <p:cNvSpPr/>
          <p:nvPr/>
        </p:nvSpPr>
        <p:spPr>
          <a:xfrm>
            <a:off x="6446520" y="1417320"/>
            <a:ext cx="5029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050"/>
              <a:buFont typeface="Calibri"/>
              <a:buNone/>
            </a:pPr>
            <a:r>
              <a:rPr b="1" i="0" lang="en-US" sz="1050" u="none" cap="none" strike="noStrike">
                <a:solidFill>
                  <a:srgbClr val="FF7A00"/>
                </a:solidFill>
                <a:latin typeface="Calibri"/>
                <a:ea typeface="Calibri"/>
                <a:cs typeface="Calibri"/>
                <a:sym typeface="Calibri"/>
              </a:rPr>
              <a:t>PRACTICAL EXAMPLE — TWO APPS, SAME FEATURES</a:t>
            </a:r>
            <a:endParaRPr b="0" i="0" sz="1050" u="none" cap="none" strike="noStrike">
              <a:solidFill>
                <a:schemeClr val="dk1"/>
              </a:solidFill>
              <a:latin typeface="Calibri"/>
              <a:ea typeface="Calibri"/>
              <a:cs typeface="Calibri"/>
              <a:sym typeface="Calibri"/>
            </a:endParaRPr>
          </a:p>
        </p:txBody>
      </p:sp>
      <p:sp>
        <p:nvSpPr>
          <p:cNvPr id="307" name="Google Shape;307;p9"/>
          <p:cNvSpPr/>
          <p:nvPr/>
        </p:nvSpPr>
        <p:spPr>
          <a:xfrm>
            <a:off x="6446520" y="1783080"/>
            <a:ext cx="2331720" cy="2926080"/>
          </a:xfrm>
          <a:prstGeom prst="roundRect">
            <a:avLst>
              <a:gd fmla="val 3922" name="adj"/>
            </a:avLst>
          </a:prstGeom>
          <a:solidFill>
            <a:srgbClr val="FFFFFF"/>
          </a:solidFill>
          <a:ln cap="flat" cmpd="sng" w="12700">
            <a:solidFill>
              <a:srgbClr val="E1E7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9"/>
          <p:cNvSpPr/>
          <p:nvPr/>
        </p:nvSpPr>
        <p:spPr>
          <a:xfrm>
            <a:off x="6446520" y="1938528"/>
            <a:ext cx="23317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263A"/>
              </a:buClr>
              <a:buSzPts val="1300"/>
              <a:buFont typeface="Calibri"/>
              <a:buNone/>
            </a:pPr>
            <a:r>
              <a:rPr b="1" i="0" lang="en-US" sz="1300" u="none" cap="none" strike="noStrike">
                <a:solidFill>
                  <a:srgbClr val="12263A"/>
                </a:solidFill>
                <a:latin typeface="Calibri"/>
                <a:ea typeface="Calibri"/>
                <a:cs typeface="Calibri"/>
                <a:sym typeface="Calibri"/>
              </a:rPr>
              <a:t>App A (Java)</a:t>
            </a:r>
            <a:endParaRPr b="0" i="0" sz="1300" u="none" cap="none" strike="noStrike">
              <a:solidFill>
                <a:schemeClr val="dk1"/>
              </a:solidFill>
              <a:latin typeface="Calibri"/>
              <a:ea typeface="Calibri"/>
              <a:cs typeface="Calibri"/>
              <a:sym typeface="Calibri"/>
            </a:endParaRPr>
          </a:p>
        </p:txBody>
      </p:sp>
      <p:sp>
        <p:nvSpPr>
          <p:cNvPr id="309" name="Google Shape;309;p9"/>
          <p:cNvSpPr/>
          <p:nvPr/>
        </p:nvSpPr>
        <p:spPr>
          <a:xfrm>
            <a:off x="6446520" y="2377440"/>
            <a:ext cx="233172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C"/>
              </a:buClr>
              <a:buSzPts val="950"/>
              <a:buFont typeface="Calibri"/>
              <a:buNone/>
            </a:pPr>
            <a:r>
              <a:rPr b="0" i="0" lang="en-US" sz="950" u="none" cap="none" strike="noStrike">
                <a:solidFill>
                  <a:srgbClr val="5B6B7C"/>
                </a:solidFill>
                <a:latin typeface="Calibri"/>
                <a:ea typeface="Calibri"/>
                <a:cs typeface="Calibri"/>
                <a:sym typeface="Calibri"/>
              </a:rPr>
              <a:t>Lines of Code</a:t>
            </a:r>
            <a:endParaRPr b="0" i="0" sz="950" u="none" cap="none" strike="noStrike">
              <a:solidFill>
                <a:schemeClr val="dk1"/>
              </a:solidFill>
              <a:latin typeface="Calibri"/>
              <a:ea typeface="Calibri"/>
              <a:cs typeface="Calibri"/>
              <a:sym typeface="Calibri"/>
            </a:endParaRPr>
          </a:p>
        </p:txBody>
      </p:sp>
      <p:sp>
        <p:nvSpPr>
          <p:cNvPr id="310" name="Google Shape;310;p9"/>
          <p:cNvSpPr/>
          <p:nvPr/>
        </p:nvSpPr>
        <p:spPr>
          <a:xfrm>
            <a:off x="6446520" y="2578608"/>
            <a:ext cx="23317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E5C76"/>
              </a:buClr>
              <a:buSzPts val="2400"/>
              <a:buFont typeface="Cambria"/>
              <a:buNone/>
            </a:pPr>
            <a:r>
              <a:rPr b="1" i="0" lang="en-US" sz="2400" u="none" cap="none" strike="noStrike">
                <a:solidFill>
                  <a:srgbClr val="3E5C76"/>
                </a:solidFill>
                <a:latin typeface="Cambria"/>
                <a:ea typeface="Cambria"/>
                <a:cs typeface="Cambria"/>
                <a:sym typeface="Cambria"/>
              </a:rPr>
              <a:t>18,200</a:t>
            </a:r>
            <a:endParaRPr b="0" i="0" sz="2400" u="none" cap="none" strike="noStrike">
              <a:solidFill>
                <a:schemeClr val="dk1"/>
              </a:solidFill>
              <a:latin typeface="Calibri"/>
              <a:ea typeface="Calibri"/>
              <a:cs typeface="Calibri"/>
              <a:sym typeface="Calibri"/>
            </a:endParaRPr>
          </a:p>
        </p:txBody>
      </p:sp>
      <p:cxnSp>
        <p:nvCxnSpPr>
          <p:cNvPr id="311" name="Google Shape;311;p9"/>
          <p:cNvCxnSpPr/>
          <p:nvPr/>
        </p:nvCxnSpPr>
        <p:spPr>
          <a:xfrm>
            <a:off x="6903720" y="3200400"/>
            <a:ext cx="1417320" cy="0"/>
          </a:xfrm>
          <a:prstGeom prst="straightConnector1">
            <a:avLst/>
          </a:prstGeom>
          <a:noFill/>
          <a:ln cap="flat" cmpd="sng" w="12700">
            <a:solidFill>
              <a:srgbClr val="E1E7EE"/>
            </a:solidFill>
            <a:prstDash val="solid"/>
            <a:round/>
            <a:headEnd len="sm" w="sm" type="none"/>
            <a:tailEnd len="sm" w="sm" type="none"/>
          </a:ln>
        </p:spPr>
      </p:cxnSp>
      <p:sp>
        <p:nvSpPr>
          <p:cNvPr id="312" name="Google Shape;312;p9"/>
          <p:cNvSpPr/>
          <p:nvPr/>
        </p:nvSpPr>
        <p:spPr>
          <a:xfrm>
            <a:off x="6446520" y="3337560"/>
            <a:ext cx="233172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C"/>
              </a:buClr>
              <a:buSzPts val="950"/>
              <a:buFont typeface="Calibri"/>
              <a:buNone/>
            </a:pPr>
            <a:r>
              <a:rPr b="0" i="0" lang="en-US" sz="950" u="none" cap="none" strike="noStrike">
                <a:solidFill>
                  <a:srgbClr val="5B6B7C"/>
                </a:solidFill>
                <a:latin typeface="Calibri"/>
                <a:ea typeface="Calibri"/>
                <a:cs typeface="Calibri"/>
                <a:sym typeface="Calibri"/>
              </a:rPr>
              <a:t>Function Points</a:t>
            </a:r>
            <a:endParaRPr b="0" i="0" sz="950" u="none" cap="none" strike="noStrike">
              <a:solidFill>
                <a:schemeClr val="dk1"/>
              </a:solidFill>
              <a:latin typeface="Calibri"/>
              <a:ea typeface="Calibri"/>
              <a:cs typeface="Calibri"/>
              <a:sym typeface="Calibri"/>
            </a:endParaRPr>
          </a:p>
        </p:txBody>
      </p:sp>
      <p:sp>
        <p:nvSpPr>
          <p:cNvPr id="313" name="Google Shape;313;p9"/>
          <p:cNvSpPr/>
          <p:nvPr/>
        </p:nvSpPr>
        <p:spPr>
          <a:xfrm>
            <a:off x="6446520" y="3538728"/>
            <a:ext cx="23317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7A00"/>
              </a:buClr>
              <a:buSzPts val="3000"/>
              <a:buFont typeface="Cambria"/>
              <a:buNone/>
            </a:pPr>
            <a:r>
              <a:rPr b="1" i="0" lang="en-US" sz="3000" u="none" cap="none" strike="noStrike">
                <a:solidFill>
                  <a:srgbClr val="FF7A00"/>
                </a:solidFill>
                <a:latin typeface="Cambria"/>
                <a:ea typeface="Cambria"/>
                <a:cs typeface="Cambria"/>
                <a:sym typeface="Cambria"/>
              </a:rPr>
              <a:t>120 FP</a:t>
            </a:r>
            <a:endParaRPr b="0" i="0" sz="3000" u="none" cap="none" strike="noStrike">
              <a:solidFill>
                <a:schemeClr val="dk1"/>
              </a:solidFill>
              <a:latin typeface="Calibri"/>
              <a:ea typeface="Calibri"/>
              <a:cs typeface="Calibri"/>
              <a:sym typeface="Calibri"/>
            </a:endParaRPr>
          </a:p>
        </p:txBody>
      </p:sp>
      <p:sp>
        <p:nvSpPr>
          <p:cNvPr id="314" name="Google Shape;314;p9"/>
          <p:cNvSpPr/>
          <p:nvPr/>
        </p:nvSpPr>
        <p:spPr>
          <a:xfrm>
            <a:off x="6446520" y="4160520"/>
            <a:ext cx="23317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C"/>
              </a:buClr>
              <a:buSzPts val="950"/>
              <a:buFont typeface="Calibri"/>
              <a:buNone/>
            </a:pPr>
            <a:r>
              <a:rPr b="0" i="1" lang="en-US" sz="950" u="none" cap="none" strike="noStrike">
                <a:solidFill>
                  <a:srgbClr val="5B6B7C"/>
                </a:solidFill>
                <a:latin typeface="Calibri"/>
                <a:ea typeface="Calibri"/>
                <a:cs typeface="Calibri"/>
                <a:sym typeface="Calibri"/>
              </a:rPr>
              <a:t>Same features, same rating</a:t>
            </a:r>
            <a:endParaRPr b="0" i="0" sz="950" u="none" cap="none" strike="noStrike">
              <a:solidFill>
                <a:schemeClr val="dk1"/>
              </a:solidFill>
              <a:latin typeface="Calibri"/>
              <a:ea typeface="Calibri"/>
              <a:cs typeface="Calibri"/>
              <a:sym typeface="Calibri"/>
            </a:endParaRPr>
          </a:p>
        </p:txBody>
      </p:sp>
      <p:sp>
        <p:nvSpPr>
          <p:cNvPr id="315" name="Google Shape;315;p9"/>
          <p:cNvSpPr/>
          <p:nvPr/>
        </p:nvSpPr>
        <p:spPr>
          <a:xfrm>
            <a:off x="9052560" y="1783080"/>
            <a:ext cx="2331720" cy="2926080"/>
          </a:xfrm>
          <a:prstGeom prst="roundRect">
            <a:avLst>
              <a:gd fmla="val 3922" name="adj"/>
            </a:avLst>
          </a:prstGeom>
          <a:solidFill>
            <a:srgbClr val="FFFFFF"/>
          </a:solidFill>
          <a:ln cap="flat" cmpd="sng" w="12700">
            <a:solidFill>
              <a:srgbClr val="E1E7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9"/>
          <p:cNvSpPr/>
          <p:nvPr/>
        </p:nvSpPr>
        <p:spPr>
          <a:xfrm>
            <a:off x="9052560" y="1938528"/>
            <a:ext cx="23317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263A"/>
              </a:buClr>
              <a:buSzPts val="1300"/>
              <a:buFont typeface="Calibri"/>
              <a:buNone/>
            </a:pPr>
            <a:r>
              <a:rPr b="1" i="0" lang="en-US" sz="1300" u="none" cap="none" strike="noStrike">
                <a:solidFill>
                  <a:srgbClr val="12263A"/>
                </a:solidFill>
                <a:latin typeface="Calibri"/>
                <a:ea typeface="Calibri"/>
                <a:cs typeface="Calibri"/>
                <a:sym typeface="Calibri"/>
              </a:rPr>
              <a:t>App B (Python)</a:t>
            </a:r>
            <a:endParaRPr b="0" i="0" sz="1300" u="none" cap="none" strike="noStrike">
              <a:solidFill>
                <a:schemeClr val="dk1"/>
              </a:solidFill>
              <a:latin typeface="Calibri"/>
              <a:ea typeface="Calibri"/>
              <a:cs typeface="Calibri"/>
              <a:sym typeface="Calibri"/>
            </a:endParaRPr>
          </a:p>
        </p:txBody>
      </p:sp>
      <p:sp>
        <p:nvSpPr>
          <p:cNvPr id="317" name="Google Shape;317;p9"/>
          <p:cNvSpPr/>
          <p:nvPr/>
        </p:nvSpPr>
        <p:spPr>
          <a:xfrm>
            <a:off x="9052560" y="2377440"/>
            <a:ext cx="233172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C"/>
              </a:buClr>
              <a:buSzPts val="950"/>
              <a:buFont typeface="Calibri"/>
              <a:buNone/>
            </a:pPr>
            <a:r>
              <a:rPr b="0" i="0" lang="en-US" sz="950" u="none" cap="none" strike="noStrike">
                <a:solidFill>
                  <a:srgbClr val="5B6B7C"/>
                </a:solidFill>
                <a:latin typeface="Calibri"/>
                <a:ea typeface="Calibri"/>
                <a:cs typeface="Calibri"/>
                <a:sym typeface="Calibri"/>
              </a:rPr>
              <a:t>Lines of Code</a:t>
            </a:r>
            <a:endParaRPr b="0" i="0" sz="950" u="none" cap="none" strike="noStrike">
              <a:solidFill>
                <a:schemeClr val="dk1"/>
              </a:solidFill>
              <a:latin typeface="Calibri"/>
              <a:ea typeface="Calibri"/>
              <a:cs typeface="Calibri"/>
              <a:sym typeface="Calibri"/>
            </a:endParaRPr>
          </a:p>
        </p:txBody>
      </p:sp>
      <p:sp>
        <p:nvSpPr>
          <p:cNvPr id="318" name="Google Shape;318;p9"/>
          <p:cNvSpPr/>
          <p:nvPr/>
        </p:nvSpPr>
        <p:spPr>
          <a:xfrm>
            <a:off x="9052560" y="2578608"/>
            <a:ext cx="23317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E5C76"/>
              </a:buClr>
              <a:buSzPts val="2400"/>
              <a:buFont typeface="Cambria"/>
              <a:buNone/>
            </a:pPr>
            <a:r>
              <a:rPr b="1" i="0" lang="en-US" sz="2400" u="none" cap="none" strike="noStrike">
                <a:solidFill>
                  <a:srgbClr val="3E5C76"/>
                </a:solidFill>
                <a:latin typeface="Cambria"/>
                <a:ea typeface="Cambria"/>
                <a:cs typeface="Cambria"/>
                <a:sym typeface="Cambria"/>
              </a:rPr>
              <a:t>6,400</a:t>
            </a:r>
            <a:endParaRPr b="0" i="0" sz="2400" u="none" cap="none" strike="noStrike">
              <a:solidFill>
                <a:schemeClr val="dk1"/>
              </a:solidFill>
              <a:latin typeface="Calibri"/>
              <a:ea typeface="Calibri"/>
              <a:cs typeface="Calibri"/>
              <a:sym typeface="Calibri"/>
            </a:endParaRPr>
          </a:p>
        </p:txBody>
      </p:sp>
      <p:cxnSp>
        <p:nvCxnSpPr>
          <p:cNvPr id="319" name="Google Shape;319;p9"/>
          <p:cNvCxnSpPr/>
          <p:nvPr/>
        </p:nvCxnSpPr>
        <p:spPr>
          <a:xfrm>
            <a:off x="9509760" y="3200400"/>
            <a:ext cx="1417320" cy="0"/>
          </a:xfrm>
          <a:prstGeom prst="straightConnector1">
            <a:avLst/>
          </a:prstGeom>
          <a:noFill/>
          <a:ln cap="flat" cmpd="sng" w="12700">
            <a:solidFill>
              <a:srgbClr val="E1E7EE"/>
            </a:solidFill>
            <a:prstDash val="solid"/>
            <a:round/>
            <a:headEnd len="sm" w="sm" type="none"/>
            <a:tailEnd len="sm" w="sm" type="none"/>
          </a:ln>
        </p:spPr>
      </p:cxnSp>
      <p:sp>
        <p:nvSpPr>
          <p:cNvPr id="320" name="Google Shape;320;p9"/>
          <p:cNvSpPr/>
          <p:nvPr/>
        </p:nvSpPr>
        <p:spPr>
          <a:xfrm>
            <a:off x="9052560" y="3337560"/>
            <a:ext cx="233172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C"/>
              </a:buClr>
              <a:buSzPts val="950"/>
              <a:buFont typeface="Calibri"/>
              <a:buNone/>
            </a:pPr>
            <a:r>
              <a:rPr b="0" i="0" lang="en-US" sz="950" u="none" cap="none" strike="noStrike">
                <a:solidFill>
                  <a:srgbClr val="5B6B7C"/>
                </a:solidFill>
                <a:latin typeface="Calibri"/>
                <a:ea typeface="Calibri"/>
                <a:cs typeface="Calibri"/>
                <a:sym typeface="Calibri"/>
              </a:rPr>
              <a:t>Function Points</a:t>
            </a:r>
            <a:endParaRPr b="0" i="0" sz="950" u="none" cap="none" strike="noStrike">
              <a:solidFill>
                <a:schemeClr val="dk1"/>
              </a:solidFill>
              <a:latin typeface="Calibri"/>
              <a:ea typeface="Calibri"/>
              <a:cs typeface="Calibri"/>
              <a:sym typeface="Calibri"/>
            </a:endParaRPr>
          </a:p>
        </p:txBody>
      </p:sp>
      <p:sp>
        <p:nvSpPr>
          <p:cNvPr id="321" name="Google Shape;321;p9"/>
          <p:cNvSpPr/>
          <p:nvPr/>
        </p:nvSpPr>
        <p:spPr>
          <a:xfrm>
            <a:off x="9052560" y="3538728"/>
            <a:ext cx="23317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7A00"/>
              </a:buClr>
              <a:buSzPts val="3000"/>
              <a:buFont typeface="Cambria"/>
              <a:buNone/>
            </a:pPr>
            <a:r>
              <a:rPr b="1" i="0" lang="en-US" sz="3000" u="none" cap="none" strike="noStrike">
                <a:solidFill>
                  <a:srgbClr val="FF7A00"/>
                </a:solidFill>
                <a:latin typeface="Cambria"/>
                <a:ea typeface="Cambria"/>
                <a:cs typeface="Cambria"/>
                <a:sym typeface="Cambria"/>
              </a:rPr>
              <a:t>120 FP</a:t>
            </a:r>
            <a:endParaRPr b="0" i="0" sz="3000" u="none" cap="none" strike="noStrike">
              <a:solidFill>
                <a:schemeClr val="dk1"/>
              </a:solidFill>
              <a:latin typeface="Calibri"/>
              <a:ea typeface="Calibri"/>
              <a:cs typeface="Calibri"/>
              <a:sym typeface="Calibri"/>
            </a:endParaRPr>
          </a:p>
        </p:txBody>
      </p:sp>
      <p:sp>
        <p:nvSpPr>
          <p:cNvPr id="322" name="Google Shape;322;p9"/>
          <p:cNvSpPr/>
          <p:nvPr/>
        </p:nvSpPr>
        <p:spPr>
          <a:xfrm>
            <a:off x="9052560" y="4160520"/>
            <a:ext cx="23317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C"/>
              </a:buClr>
              <a:buSzPts val="950"/>
              <a:buFont typeface="Calibri"/>
              <a:buNone/>
            </a:pPr>
            <a:r>
              <a:rPr b="0" i="1" lang="en-US" sz="950" u="none" cap="none" strike="noStrike">
                <a:solidFill>
                  <a:srgbClr val="5B6B7C"/>
                </a:solidFill>
                <a:latin typeface="Calibri"/>
                <a:ea typeface="Calibri"/>
                <a:cs typeface="Calibri"/>
                <a:sym typeface="Calibri"/>
              </a:rPr>
              <a:t>Same features, same rating</a:t>
            </a:r>
            <a:endParaRPr b="0" i="0" sz="950" u="none" cap="none" strike="noStrike">
              <a:solidFill>
                <a:schemeClr val="dk1"/>
              </a:solidFill>
              <a:latin typeface="Calibri"/>
              <a:ea typeface="Calibri"/>
              <a:cs typeface="Calibri"/>
              <a:sym typeface="Calibri"/>
            </a:endParaRPr>
          </a:p>
        </p:txBody>
      </p:sp>
      <p:sp>
        <p:nvSpPr>
          <p:cNvPr id="323" name="Google Shape;323;p9"/>
          <p:cNvSpPr/>
          <p:nvPr/>
        </p:nvSpPr>
        <p:spPr>
          <a:xfrm>
            <a:off x="11505895" y="6291072"/>
            <a:ext cx="384048" cy="384048"/>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9"/>
          <p:cNvSpPr/>
          <p:nvPr/>
        </p:nvSpPr>
        <p:spPr>
          <a:xfrm>
            <a:off x="11505895" y="629107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9</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329" name="Shape 329"/>
        <p:cNvGrpSpPr/>
        <p:nvPr/>
      </p:nvGrpSpPr>
      <p:grpSpPr>
        <a:xfrm>
          <a:off x="0" y="0"/>
          <a:ext cx="0" cy="0"/>
          <a:chOff x="0" y="0"/>
          <a:chExt cx="0" cy="0"/>
        </a:xfrm>
      </p:grpSpPr>
      <p:sp>
        <p:nvSpPr>
          <p:cNvPr id="330" name="Google Shape;330;p10"/>
          <p:cNvSpPr/>
          <p:nvPr/>
        </p:nvSpPr>
        <p:spPr>
          <a:xfrm>
            <a:off x="640080" y="384048"/>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300"/>
              <a:buFont typeface="Calibri"/>
              <a:buNone/>
            </a:pPr>
            <a:r>
              <a:rPr b="1" i="0" lang="en-US" sz="1300" u="none" cap="none" strike="noStrike">
                <a:solidFill>
                  <a:srgbClr val="FF7A00"/>
                </a:solidFill>
                <a:latin typeface="Calibri"/>
                <a:ea typeface="Calibri"/>
                <a:cs typeface="Calibri"/>
                <a:sym typeface="Calibri"/>
              </a:rPr>
              <a:t>04 · QUALITY &amp; AGILITY</a:t>
            </a:r>
            <a:endParaRPr b="0" i="0" sz="1300" u="none" cap="none" strike="noStrike">
              <a:solidFill>
                <a:schemeClr val="dk1"/>
              </a:solidFill>
              <a:latin typeface="Calibri"/>
              <a:ea typeface="Calibri"/>
              <a:cs typeface="Calibri"/>
              <a:sym typeface="Calibri"/>
            </a:endParaRPr>
          </a:p>
        </p:txBody>
      </p:sp>
      <p:sp>
        <p:nvSpPr>
          <p:cNvPr id="331" name="Google Shape;331;p10"/>
          <p:cNvSpPr/>
          <p:nvPr/>
        </p:nvSpPr>
        <p:spPr>
          <a:xfrm>
            <a:off x="640080" y="676656"/>
            <a:ext cx="108813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Software Quality Metrics</a:t>
            </a:r>
            <a:endParaRPr b="0" i="0" sz="3200" u="none" cap="none" strike="noStrike">
              <a:solidFill>
                <a:schemeClr val="dk1"/>
              </a:solidFill>
              <a:latin typeface="Calibri"/>
              <a:ea typeface="Calibri"/>
              <a:cs typeface="Calibri"/>
              <a:sym typeface="Calibri"/>
            </a:endParaRPr>
          </a:p>
        </p:txBody>
      </p:sp>
      <p:sp>
        <p:nvSpPr>
          <p:cNvPr id="332" name="Google Shape;332;p10"/>
          <p:cNvSpPr/>
          <p:nvPr/>
        </p:nvSpPr>
        <p:spPr>
          <a:xfrm>
            <a:off x="548640" y="638251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900"/>
              <a:buFont typeface="Calibri"/>
              <a:buNone/>
            </a:pPr>
            <a:r>
              <a:rPr b="0" i="0" lang="en-US" sz="900" u="none" cap="none" strike="noStrike">
                <a:solidFill>
                  <a:srgbClr val="5B6B7C"/>
                </a:solidFill>
                <a:latin typeface="Calibri"/>
                <a:ea typeface="Calibri"/>
                <a:cs typeface="Calibri"/>
                <a:sym typeface="Calibri"/>
              </a:rPr>
              <a:t>SOFTWARE METRICS &amp; MEASUREMENT</a:t>
            </a:r>
            <a:endParaRPr b="0" i="0" sz="900" u="none" cap="none" strike="noStrike">
              <a:solidFill>
                <a:schemeClr val="dk1"/>
              </a:solidFill>
              <a:latin typeface="Calibri"/>
              <a:ea typeface="Calibri"/>
              <a:cs typeface="Calibri"/>
              <a:sym typeface="Calibri"/>
            </a:endParaRPr>
          </a:p>
        </p:txBody>
      </p:sp>
      <p:sp>
        <p:nvSpPr>
          <p:cNvPr id="333" name="Google Shape;333;p10"/>
          <p:cNvSpPr/>
          <p:nvPr/>
        </p:nvSpPr>
        <p:spPr>
          <a:xfrm>
            <a:off x="640080" y="146304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heartbeat_white.png" id="334" name="Google Shape;334;p10"/>
          <p:cNvPicPr preferRelativeResize="0"/>
          <p:nvPr/>
        </p:nvPicPr>
        <p:blipFill rotWithShape="1">
          <a:blip r:embed="rId3">
            <a:alphaModFix/>
          </a:blip>
          <a:srcRect b="0" l="0" r="0" t="0"/>
          <a:stretch/>
        </p:blipFill>
        <p:spPr>
          <a:xfrm>
            <a:off x="694944" y="1517904"/>
            <a:ext cx="347472" cy="347472"/>
          </a:xfrm>
          <a:prstGeom prst="rect">
            <a:avLst/>
          </a:prstGeom>
          <a:noFill/>
          <a:ln>
            <a:noFill/>
          </a:ln>
        </p:spPr>
      </p:pic>
      <p:sp>
        <p:nvSpPr>
          <p:cNvPr id="335" name="Google Shape;335;p10"/>
          <p:cNvSpPr/>
          <p:nvPr/>
        </p:nvSpPr>
        <p:spPr>
          <a:xfrm>
            <a:off x="1298448" y="142646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Reliability</a:t>
            </a:r>
            <a:endParaRPr b="0" i="0" sz="1500" u="none" cap="none" strike="noStrike">
              <a:solidFill>
                <a:schemeClr val="dk1"/>
              </a:solidFill>
              <a:latin typeface="Calibri"/>
              <a:ea typeface="Calibri"/>
              <a:cs typeface="Calibri"/>
              <a:sym typeface="Calibri"/>
            </a:endParaRPr>
          </a:p>
        </p:txBody>
      </p:sp>
      <p:sp>
        <p:nvSpPr>
          <p:cNvPr id="336" name="Google Shape;336;p10"/>
          <p:cNvSpPr/>
          <p:nvPr/>
        </p:nvSpPr>
        <p:spPr>
          <a:xfrm>
            <a:off x="1298448" y="170078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Probability the software runs without failure.</a:t>
            </a:r>
            <a:endParaRPr b="0" i="0" sz="1150" u="none" cap="none" strike="noStrike">
              <a:solidFill>
                <a:schemeClr val="dk1"/>
              </a:solidFill>
              <a:latin typeface="Calibri"/>
              <a:ea typeface="Calibri"/>
              <a:cs typeface="Calibri"/>
              <a:sym typeface="Calibri"/>
            </a:endParaRPr>
          </a:p>
        </p:txBody>
      </p:sp>
      <p:sp>
        <p:nvSpPr>
          <p:cNvPr id="337" name="Google Shape;337;p10"/>
          <p:cNvSpPr/>
          <p:nvPr/>
        </p:nvSpPr>
        <p:spPr>
          <a:xfrm>
            <a:off x="640080" y="242316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gauge_white.png" id="338" name="Google Shape;338;p10"/>
          <p:cNvPicPr preferRelativeResize="0"/>
          <p:nvPr/>
        </p:nvPicPr>
        <p:blipFill rotWithShape="1">
          <a:blip r:embed="rId4">
            <a:alphaModFix/>
          </a:blip>
          <a:srcRect b="0" l="0" r="0" t="0"/>
          <a:stretch/>
        </p:blipFill>
        <p:spPr>
          <a:xfrm>
            <a:off x="694944" y="2478024"/>
            <a:ext cx="347472" cy="347472"/>
          </a:xfrm>
          <a:prstGeom prst="rect">
            <a:avLst/>
          </a:prstGeom>
          <a:noFill/>
          <a:ln>
            <a:noFill/>
          </a:ln>
        </p:spPr>
      </p:pic>
      <p:sp>
        <p:nvSpPr>
          <p:cNvPr id="339" name="Google Shape;339;p10"/>
          <p:cNvSpPr/>
          <p:nvPr/>
        </p:nvSpPr>
        <p:spPr>
          <a:xfrm>
            <a:off x="1298448" y="238658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Availability</a:t>
            </a:r>
            <a:endParaRPr b="0" i="0" sz="1500" u="none" cap="none" strike="noStrike">
              <a:solidFill>
                <a:schemeClr val="dk1"/>
              </a:solidFill>
              <a:latin typeface="Calibri"/>
              <a:ea typeface="Calibri"/>
              <a:cs typeface="Calibri"/>
              <a:sym typeface="Calibri"/>
            </a:endParaRPr>
          </a:p>
        </p:txBody>
      </p:sp>
      <p:sp>
        <p:nvSpPr>
          <p:cNvPr id="340" name="Google Shape;340;p10"/>
          <p:cNvSpPr/>
          <p:nvPr/>
        </p:nvSpPr>
        <p:spPr>
          <a:xfrm>
            <a:off x="1298448" y="266090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Proportion of time the system is usable.</a:t>
            </a:r>
            <a:endParaRPr b="0" i="0" sz="1150" u="none" cap="none" strike="noStrike">
              <a:solidFill>
                <a:schemeClr val="dk1"/>
              </a:solidFill>
              <a:latin typeface="Calibri"/>
              <a:ea typeface="Calibri"/>
              <a:cs typeface="Calibri"/>
              <a:sym typeface="Calibri"/>
            </a:endParaRPr>
          </a:p>
        </p:txBody>
      </p:sp>
      <p:sp>
        <p:nvSpPr>
          <p:cNvPr id="341" name="Google Shape;341;p10"/>
          <p:cNvSpPr/>
          <p:nvPr/>
        </p:nvSpPr>
        <p:spPr>
          <a:xfrm>
            <a:off x="640080" y="338328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shield_white.png" id="342" name="Google Shape;342;p10"/>
          <p:cNvPicPr preferRelativeResize="0"/>
          <p:nvPr/>
        </p:nvPicPr>
        <p:blipFill rotWithShape="1">
          <a:blip r:embed="rId5">
            <a:alphaModFix/>
          </a:blip>
          <a:srcRect b="0" l="0" r="0" t="0"/>
          <a:stretch/>
        </p:blipFill>
        <p:spPr>
          <a:xfrm>
            <a:off x="694944" y="3438144"/>
            <a:ext cx="347472" cy="347472"/>
          </a:xfrm>
          <a:prstGeom prst="rect">
            <a:avLst/>
          </a:prstGeom>
          <a:noFill/>
          <a:ln>
            <a:noFill/>
          </a:ln>
        </p:spPr>
      </p:pic>
      <p:sp>
        <p:nvSpPr>
          <p:cNvPr id="343" name="Google Shape;343;p10"/>
          <p:cNvSpPr/>
          <p:nvPr/>
        </p:nvSpPr>
        <p:spPr>
          <a:xfrm>
            <a:off x="1298448" y="334670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Defect Density</a:t>
            </a:r>
            <a:endParaRPr b="0" i="0" sz="1500" u="none" cap="none" strike="noStrike">
              <a:solidFill>
                <a:schemeClr val="dk1"/>
              </a:solidFill>
              <a:latin typeface="Calibri"/>
              <a:ea typeface="Calibri"/>
              <a:cs typeface="Calibri"/>
              <a:sym typeface="Calibri"/>
            </a:endParaRPr>
          </a:p>
        </p:txBody>
      </p:sp>
      <p:sp>
        <p:nvSpPr>
          <p:cNvPr id="344" name="Google Shape;344;p10"/>
          <p:cNvSpPr/>
          <p:nvPr/>
        </p:nvSpPr>
        <p:spPr>
          <a:xfrm>
            <a:off x="1298448" y="362102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Defects found per unit of code size.</a:t>
            </a:r>
            <a:endParaRPr b="0" i="0" sz="1150" u="none" cap="none" strike="noStrike">
              <a:solidFill>
                <a:schemeClr val="dk1"/>
              </a:solidFill>
              <a:latin typeface="Calibri"/>
              <a:ea typeface="Calibri"/>
              <a:cs typeface="Calibri"/>
              <a:sym typeface="Calibri"/>
            </a:endParaRPr>
          </a:p>
        </p:txBody>
      </p:sp>
      <p:sp>
        <p:nvSpPr>
          <p:cNvPr id="345" name="Google Shape;345;p10"/>
          <p:cNvSpPr/>
          <p:nvPr/>
        </p:nvSpPr>
        <p:spPr>
          <a:xfrm>
            <a:off x="640080" y="434340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users_white.png" id="346" name="Google Shape;346;p10"/>
          <p:cNvPicPr preferRelativeResize="0"/>
          <p:nvPr/>
        </p:nvPicPr>
        <p:blipFill rotWithShape="1">
          <a:blip r:embed="rId6">
            <a:alphaModFix/>
          </a:blip>
          <a:srcRect b="0" l="0" r="0" t="0"/>
          <a:stretch/>
        </p:blipFill>
        <p:spPr>
          <a:xfrm>
            <a:off x="694944" y="4398264"/>
            <a:ext cx="347472" cy="347472"/>
          </a:xfrm>
          <a:prstGeom prst="rect">
            <a:avLst/>
          </a:prstGeom>
          <a:noFill/>
          <a:ln>
            <a:noFill/>
          </a:ln>
        </p:spPr>
      </p:pic>
      <p:sp>
        <p:nvSpPr>
          <p:cNvPr id="347" name="Google Shape;347;p10"/>
          <p:cNvSpPr/>
          <p:nvPr/>
        </p:nvSpPr>
        <p:spPr>
          <a:xfrm>
            <a:off x="1298448" y="430682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Customer Satisfaction</a:t>
            </a:r>
            <a:endParaRPr b="0" i="0" sz="1500" u="none" cap="none" strike="noStrike">
              <a:solidFill>
                <a:schemeClr val="dk1"/>
              </a:solidFill>
              <a:latin typeface="Calibri"/>
              <a:ea typeface="Calibri"/>
              <a:cs typeface="Calibri"/>
              <a:sym typeface="Calibri"/>
            </a:endParaRPr>
          </a:p>
        </p:txBody>
      </p:sp>
      <p:sp>
        <p:nvSpPr>
          <p:cNvPr id="348" name="Google Shape;348;p10"/>
          <p:cNvSpPr/>
          <p:nvPr/>
        </p:nvSpPr>
        <p:spPr>
          <a:xfrm>
            <a:off x="1298448" y="458114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How users rate their real experience.</a:t>
            </a:r>
            <a:endParaRPr b="0" i="0" sz="1150" u="none" cap="none" strike="noStrike">
              <a:solidFill>
                <a:schemeClr val="dk1"/>
              </a:solidFill>
              <a:latin typeface="Calibri"/>
              <a:ea typeface="Calibri"/>
              <a:cs typeface="Calibri"/>
              <a:sym typeface="Calibri"/>
            </a:endParaRPr>
          </a:p>
        </p:txBody>
      </p:sp>
      <p:sp>
        <p:nvSpPr>
          <p:cNvPr id="349" name="Google Shape;349;p10"/>
          <p:cNvSpPr/>
          <p:nvPr/>
        </p:nvSpPr>
        <p:spPr>
          <a:xfrm>
            <a:off x="7269480" y="1463040"/>
            <a:ext cx="4251960" cy="1554480"/>
          </a:xfrm>
          <a:prstGeom prst="roundRect">
            <a:avLst>
              <a:gd fmla="val 4706" name="adj"/>
            </a:avLst>
          </a:prstGeom>
          <a:solidFill>
            <a:srgbClr val="FFFFFF"/>
          </a:solidFill>
          <a:ln cap="flat" cmpd="sng" w="12700">
            <a:solidFill>
              <a:srgbClr val="E1E7EE"/>
            </a:solidFill>
            <a:prstDash val="solid"/>
            <a:round/>
            <a:headEnd len="sm" w="sm" type="none"/>
            <a:tailEnd len="sm" w="sm" type="none"/>
          </a:ln>
          <a:effectLst>
            <a:outerShdw blurRad="76200" rotWithShape="0" algn="bl" dir="5400000" dist="25400">
              <a:srgbClr val="1F2937">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0"/>
          <p:cNvSpPr/>
          <p:nvPr/>
        </p:nvSpPr>
        <p:spPr>
          <a:xfrm>
            <a:off x="7488936" y="1700784"/>
            <a:ext cx="502920" cy="502920"/>
          </a:xfrm>
          <a:prstGeom prst="ellipse">
            <a:avLst/>
          </a:prstGeom>
          <a:solidFill>
            <a:srgbClr val="3E5C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lipboard_white.png" id="351" name="Google Shape;351;p10"/>
          <p:cNvPicPr preferRelativeResize="0"/>
          <p:nvPr/>
        </p:nvPicPr>
        <p:blipFill rotWithShape="1">
          <a:blip r:embed="rId7">
            <a:alphaModFix/>
          </a:blip>
          <a:srcRect b="0" l="0" r="0" t="0"/>
          <a:stretch/>
        </p:blipFill>
        <p:spPr>
          <a:xfrm>
            <a:off x="7549286" y="1761134"/>
            <a:ext cx="382219" cy="382219"/>
          </a:xfrm>
          <a:prstGeom prst="rect">
            <a:avLst/>
          </a:prstGeom>
          <a:noFill/>
          <a:ln>
            <a:noFill/>
          </a:ln>
        </p:spPr>
      </p:pic>
      <p:sp>
        <p:nvSpPr>
          <p:cNvPr id="352" name="Google Shape;352;p10"/>
          <p:cNvSpPr/>
          <p:nvPr/>
        </p:nvSpPr>
        <p:spPr>
          <a:xfrm>
            <a:off x="8129016" y="1682496"/>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5C76"/>
              </a:buClr>
              <a:buSzPts val="1050"/>
              <a:buFont typeface="Calibri"/>
              <a:buNone/>
            </a:pPr>
            <a:r>
              <a:rPr b="1" i="0" lang="en-US" sz="1050" u="none" cap="none" strike="noStrike">
                <a:solidFill>
                  <a:srgbClr val="3E5C76"/>
                </a:solidFill>
                <a:latin typeface="Calibri"/>
                <a:ea typeface="Calibri"/>
                <a:cs typeface="Calibri"/>
                <a:sym typeface="Calibri"/>
              </a:rPr>
              <a:t>ANALOGY</a:t>
            </a:r>
            <a:endParaRPr b="0" i="0" sz="1050" u="none" cap="none" strike="noStrike">
              <a:solidFill>
                <a:schemeClr val="dk1"/>
              </a:solidFill>
              <a:latin typeface="Calibri"/>
              <a:ea typeface="Calibri"/>
              <a:cs typeface="Calibri"/>
              <a:sym typeface="Calibri"/>
            </a:endParaRPr>
          </a:p>
        </p:txBody>
      </p:sp>
      <p:sp>
        <p:nvSpPr>
          <p:cNvPr id="353" name="Google Shape;353;p10"/>
          <p:cNvSpPr/>
          <p:nvPr/>
        </p:nvSpPr>
        <p:spPr>
          <a:xfrm>
            <a:off x="8129016" y="1920240"/>
            <a:ext cx="3200400" cy="914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2263A"/>
              </a:buClr>
              <a:buSzPts val="1350"/>
              <a:buFont typeface="Calibri"/>
              <a:buNone/>
            </a:pPr>
            <a:r>
              <a:rPr b="0" i="1" lang="en-US" sz="1350" u="none" cap="none" strike="noStrike">
                <a:solidFill>
                  <a:srgbClr val="12263A"/>
                </a:solidFill>
                <a:latin typeface="Calibri"/>
                <a:ea typeface="Calibri"/>
                <a:cs typeface="Calibri"/>
                <a:sym typeface="Calibri"/>
              </a:rPr>
              <a:t>A report card for software quality.</a:t>
            </a:r>
            <a:endParaRPr b="0" i="0" sz="1350" u="none" cap="none" strike="noStrike">
              <a:solidFill>
                <a:schemeClr val="dk1"/>
              </a:solidFill>
              <a:latin typeface="Calibri"/>
              <a:ea typeface="Calibri"/>
              <a:cs typeface="Calibri"/>
              <a:sym typeface="Calibri"/>
            </a:endParaRPr>
          </a:p>
        </p:txBody>
      </p:sp>
      <p:sp>
        <p:nvSpPr>
          <p:cNvPr id="354" name="Google Shape;354;p10"/>
          <p:cNvSpPr/>
          <p:nvPr/>
        </p:nvSpPr>
        <p:spPr>
          <a:xfrm>
            <a:off x="7269480" y="3337560"/>
            <a:ext cx="4251960" cy="1554480"/>
          </a:xfrm>
          <a:prstGeom prst="roundRect">
            <a:avLst>
              <a:gd fmla="val 4706" name="adj"/>
            </a:avLst>
          </a:prstGeom>
          <a:solidFill>
            <a:srgbClr val="FFFFFF"/>
          </a:solidFill>
          <a:ln cap="flat" cmpd="sng" w="12700">
            <a:solidFill>
              <a:srgbClr val="E1E7EE"/>
            </a:solidFill>
            <a:prstDash val="solid"/>
            <a:round/>
            <a:headEnd len="sm" w="sm" type="none"/>
            <a:tailEnd len="sm" w="sm" type="none"/>
          </a:ln>
          <a:effectLst>
            <a:outerShdw blurRad="76200" rotWithShape="0" algn="bl" dir="5400000" dist="25400">
              <a:srgbClr val="1F2937">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0"/>
          <p:cNvSpPr/>
          <p:nvPr/>
        </p:nvSpPr>
        <p:spPr>
          <a:xfrm>
            <a:off x="7488936" y="3575304"/>
            <a:ext cx="502920" cy="502920"/>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gauge_white.png" id="356" name="Google Shape;356;p10"/>
          <p:cNvPicPr preferRelativeResize="0"/>
          <p:nvPr/>
        </p:nvPicPr>
        <p:blipFill rotWithShape="1">
          <a:blip r:embed="rId4">
            <a:alphaModFix/>
          </a:blip>
          <a:srcRect b="0" l="0" r="0" t="0"/>
          <a:stretch/>
        </p:blipFill>
        <p:spPr>
          <a:xfrm>
            <a:off x="7549286" y="3635654"/>
            <a:ext cx="382219" cy="382219"/>
          </a:xfrm>
          <a:prstGeom prst="rect">
            <a:avLst/>
          </a:prstGeom>
          <a:noFill/>
          <a:ln>
            <a:noFill/>
          </a:ln>
        </p:spPr>
      </p:pic>
      <p:sp>
        <p:nvSpPr>
          <p:cNvPr id="357" name="Google Shape;357;p10"/>
          <p:cNvSpPr/>
          <p:nvPr/>
        </p:nvSpPr>
        <p:spPr>
          <a:xfrm>
            <a:off x="8129016" y="3557016"/>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050"/>
              <a:buFont typeface="Calibri"/>
              <a:buNone/>
            </a:pPr>
            <a:r>
              <a:rPr b="1" i="0" lang="en-US" sz="1050" u="none" cap="none" strike="noStrike">
                <a:solidFill>
                  <a:srgbClr val="FF7A00"/>
                </a:solidFill>
                <a:latin typeface="Calibri"/>
                <a:ea typeface="Calibri"/>
                <a:cs typeface="Calibri"/>
                <a:sym typeface="Calibri"/>
              </a:rPr>
              <a:t>PRACTICAL EXAMPLE</a:t>
            </a:r>
            <a:endParaRPr b="0" i="0" sz="1050" u="none" cap="none" strike="noStrike">
              <a:solidFill>
                <a:schemeClr val="dk1"/>
              </a:solidFill>
              <a:latin typeface="Calibri"/>
              <a:ea typeface="Calibri"/>
              <a:cs typeface="Calibri"/>
              <a:sym typeface="Calibri"/>
            </a:endParaRPr>
          </a:p>
        </p:txBody>
      </p:sp>
      <p:sp>
        <p:nvSpPr>
          <p:cNvPr id="358" name="Google Shape;358;p10"/>
          <p:cNvSpPr/>
          <p:nvPr/>
        </p:nvSpPr>
        <p:spPr>
          <a:xfrm>
            <a:off x="8129016" y="3794760"/>
            <a:ext cx="3200400" cy="914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2263A"/>
              </a:buClr>
              <a:buSzPts val="1350"/>
              <a:buFont typeface="Calibri"/>
              <a:buNone/>
            </a:pPr>
            <a:r>
              <a:rPr b="0" i="0" lang="en-US" sz="1350" u="none" cap="none" strike="noStrike">
                <a:solidFill>
                  <a:srgbClr val="12263A"/>
                </a:solidFill>
                <a:latin typeface="Calibri"/>
                <a:ea typeface="Calibri"/>
                <a:cs typeface="Calibri"/>
                <a:sym typeface="Calibri"/>
              </a:rPr>
              <a:t>Netflix engineers uptime and resilience so aggressively that system availability is treated as a core product feature.</a:t>
            </a:r>
            <a:endParaRPr b="0" i="0" sz="1350" u="none" cap="none" strike="noStrike">
              <a:solidFill>
                <a:schemeClr val="dk1"/>
              </a:solidFill>
              <a:latin typeface="Calibri"/>
              <a:ea typeface="Calibri"/>
              <a:cs typeface="Calibri"/>
              <a:sym typeface="Calibri"/>
            </a:endParaRPr>
          </a:p>
        </p:txBody>
      </p:sp>
      <p:sp>
        <p:nvSpPr>
          <p:cNvPr id="359" name="Google Shape;359;p10"/>
          <p:cNvSpPr/>
          <p:nvPr/>
        </p:nvSpPr>
        <p:spPr>
          <a:xfrm>
            <a:off x="640080" y="5257800"/>
            <a:ext cx="6309360" cy="960120"/>
          </a:xfrm>
          <a:prstGeom prst="roundRect">
            <a:avLst>
              <a:gd fmla="val 7619" name="adj"/>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0"/>
          <p:cNvSpPr/>
          <p:nvPr/>
        </p:nvSpPr>
        <p:spPr>
          <a:xfrm>
            <a:off x="868680" y="5303520"/>
            <a:ext cx="192024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3400"/>
              <a:buFont typeface="Cambria"/>
              <a:buNone/>
            </a:pPr>
            <a:r>
              <a:rPr b="1" i="0" lang="en-US" sz="3400" u="none" cap="none" strike="noStrike">
                <a:solidFill>
                  <a:srgbClr val="FF7A00"/>
                </a:solidFill>
                <a:latin typeface="Cambria"/>
                <a:ea typeface="Cambria"/>
                <a:cs typeface="Cambria"/>
                <a:sym typeface="Cambria"/>
              </a:rPr>
              <a:t>99.95%</a:t>
            </a:r>
            <a:endParaRPr b="0" i="0" sz="3400" u="none" cap="none" strike="noStrike">
              <a:solidFill>
                <a:schemeClr val="dk1"/>
              </a:solidFill>
              <a:latin typeface="Calibri"/>
              <a:ea typeface="Calibri"/>
              <a:cs typeface="Calibri"/>
              <a:sym typeface="Calibri"/>
            </a:endParaRPr>
          </a:p>
        </p:txBody>
      </p:sp>
      <p:sp>
        <p:nvSpPr>
          <p:cNvPr id="361" name="Google Shape;361;p10"/>
          <p:cNvSpPr/>
          <p:nvPr/>
        </p:nvSpPr>
        <p:spPr>
          <a:xfrm>
            <a:off x="2880360" y="5303520"/>
            <a:ext cx="3931920" cy="8686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Illustrative uptime target for a production service — roughly 4 hours of downtime tolerated per year.</a:t>
            </a:r>
            <a:endParaRPr b="0" i="0" sz="1150" u="none" cap="none" strike="noStrike">
              <a:solidFill>
                <a:schemeClr val="dk1"/>
              </a:solidFill>
              <a:latin typeface="Calibri"/>
              <a:ea typeface="Calibri"/>
              <a:cs typeface="Calibri"/>
              <a:sym typeface="Calibri"/>
            </a:endParaRPr>
          </a:p>
        </p:txBody>
      </p:sp>
      <p:sp>
        <p:nvSpPr>
          <p:cNvPr id="362" name="Google Shape;362;p10"/>
          <p:cNvSpPr/>
          <p:nvPr/>
        </p:nvSpPr>
        <p:spPr>
          <a:xfrm>
            <a:off x="11505895" y="6291072"/>
            <a:ext cx="384048" cy="384048"/>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0"/>
          <p:cNvSpPr/>
          <p:nvPr/>
        </p:nvSpPr>
        <p:spPr>
          <a:xfrm>
            <a:off x="11505895" y="629107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10</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368" name="Shape 368"/>
        <p:cNvGrpSpPr/>
        <p:nvPr/>
      </p:nvGrpSpPr>
      <p:grpSpPr>
        <a:xfrm>
          <a:off x="0" y="0"/>
          <a:ext cx="0" cy="0"/>
          <a:chOff x="0" y="0"/>
          <a:chExt cx="0" cy="0"/>
        </a:xfrm>
      </p:grpSpPr>
      <p:sp>
        <p:nvSpPr>
          <p:cNvPr id="369" name="Google Shape;369;p11"/>
          <p:cNvSpPr/>
          <p:nvPr/>
        </p:nvSpPr>
        <p:spPr>
          <a:xfrm>
            <a:off x="640080" y="384048"/>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300"/>
              <a:buFont typeface="Calibri"/>
              <a:buNone/>
            </a:pPr>
            <a:r>
              <a:rPr b="1" i="0" lang="en-US" sz="1300" u="none" cap="none" strike="noStrike">
                <a:solidFill>
                  <a:srgbClr val="FF7A00"/>
                </a:solidFill>
                <a:latin typeface="Calibri"/>
                <a:ea typeface="Calibri"/>
                <a:cs typeface="Calibri"/>
                <a:sym typeface="Calibri"/>
              </a:rPr>
              <a:t>04 · QUALITY &amp; AGILITY</a:t>
            </a:r>
            <a:endParaRPr b="0" i="0" sz="1300" u="none" cap="none" strike="noStrike">
              <a:solidFill>
                <a:schemeClr val="dk1"/>
              </a:solidFill>
              <a:latin typeface="Calibri"/>
              <a:ea typeface="Calibri"/>
              <a:cs typeface="Calibri"/>
              <a:sym typeface="Calibri"/>
            </a:endParaRPr>
          </a:p>
        </p:txBody>
      </p:sp>
      <p:sp>
        <p:nvSpPr>
          <p:cNvPr id="370" name="Google Shape;370;p11"/>
          <p:cNvSpPr/>
          <p:nvPr/>
        </p:nvSpPr>
        <p:spPr>
          <a:xfrm>
            <a:off x="640080" y="676656"/>
            <a:ext cx="108813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Agile Metrics</a:t>
            </a:r>
            <a:endParaRPr b="0" i="0" sz="3200" u="none" cap="none" strike="noStrike">
              <a:solidFill>
                <a:schemeClr val="dk1"/>
              </a:solidFill>
              <a:latin typeface="Calibri"/>
              <a:ea typeface="Calibri"/>
              <a:cs typeface="Calibri"/>
              <a:sym typeface="Calibri"/>
            </a:endParaRPr>
          </a:p>
        </p:txBody>
      </p:sp>
      <p:sp>
        <p:nvSpPr>
          <p:cNvPr id="371" name="Google Shape;371;p11"/>
          <p:cNvSpPr/>
          <p:nvPr/>
        </p:nvSpPr>
        <p:spPr>
          <a:xfrm>
            <a:off x="548640" y="638251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900"/>
              <a:buFont typeface="Calibri"/>
              <a:buNone/>
            </a:pPr>
            <a:r>
              <a:rPr b="0" i="0" lang="en-US" sz="900" u="none" cap="none" strike="noStrike">
                <a:solidFill>
                  <a:srgbClr val="5B6B7C"/>
                </a:solidFill>
                <a:latin typeface="Calibri"/>
                <a:ea typeface="Calibri"/>
                <a:cs typeface="Calibri"/>
                <a:sym typeface="Calibri"/>
              </a:rPr>
              <a:t>SOFTWARE METRICS &amp; MEASUREMENT</a:t>
            </a:r>
            <a:endParaRPr b="0" i="0" sz="900" u="none" cap="none" strike="noStrike">
              <a:solidFill>
                <a:schemeClr val="dk1"/>
              </a:solidFill>
              <a:latin typeface="Calibri"/>
              <a:ea typeface="Calibri"/>
              <a:cs typeface="Calibri"/>
              <a:sym typeface="Calibri"/>
            </a:endParaRPr>
          </a:p>
        </p:txBody>
      </p:sp>
      <p:sp>
        <p:nvSpPr>
          <p:cNvPr id="372" name="Google Shape;372;p11"/>
          <p:cNvSpPr/>
          <p:nvPr/>
        </p:nvSpPr>
        <p:spPr>
          <a:xfrm>
            <a:off x="640080" y="146304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gauge_white.png" id="373" name="Google Shape;373;p11"/>
          <p:cNvPicPr preferRelativeResize="0"/>
          <p:nvPr/>
        </p:nvPicPr>
        <p:blipFill rotWithShape="1">
          <a:blip r:embed="rId3">
            <a:alphaModFix/>
          </a:blip>
          <a:srcRect b="0" l="0" r="0" t="0"/>
          <a:stretch/>
        </p:blipFill>
        <p:spPr>
          <a:xfrm>
            <a:off x="694944" y="1517904"/>
            <a:ext cx="347472" cy="347472"/>
          </a:xfrm>
          <a:prstGeom prst="rect">
            <a:avLst/>
          </a:prstGeom>
          <a:noFill/>
          <a:ln>
            <a:noFill/>
          </a:ln>
        </p:spPr>
      </p:pic>
      <p:sp>
        <p:nvSpPr>
          <p:cNvPr id="374" name="Google Shape;374;p11"/>
          <p:cNvSpPr/>
          <p:nvPr/>
        </p:nvSpPr>
        <p:spPr>
          <a:xfrm>
            <a:off x="1298448" y="1426464"/>
            <a:ext cx="47365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Velocity</a:t>
            </a:r>
            <a:endParaRPr b="0" i="0" sz="1500" u="none" cap="none" strike="noStrike">
              <a:solidFill>
                <a:schemeClr val="dk1"/>
              </a:solidFill>
              <a:latin typeface="Calibri"/>
              <a:ea typeface="Calibri"/>
              <a:cs typeface="Calibri"/>
              <a:sym typeface="Calibri"/>
            </a:endParaRPr>
          </a:p>
        </p:txBody>
      </p:sp>
      <p:sp>
        <p:nvSpPr>
          <p:cNvPr id="375" name="Google Shape;375;p11"/>
          <p:cNvSpPr/>
          <p:nvPr/>
        </p:nvSpPr>
        <p:spPr>
          <a:xfrm>
            <a:off x="1298448" y="1700784"/>
            <a:ext cx="47365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Story points a team completes per sprint.</a:t>
            </a:r>
            <a:endParaRPr b="0" i="0" sz="1150" u="none" cap="none" strike="noStrike">
              <a:solidFill>
                <a:schemeClr val="dk1"/>
              </a:solidFill>
              <a:latin typeface="Calibri"/>
              <a:ea typeface="Calibri"/>
              <a:cs typeface="Calibri"/>
              <a:sym typeface="Calibri"/>
            </a:endParaRPr>
          </a:p>
        </p:txBody>
      </p:sp>
      <p:sp>
        <p:nvSpPr>
          <p:cNvPr id="376" name="Google Shape;376;p11"/>
          <p:cNvSpPr/>
          <p:nvPr/>
        </p:nvSpPr>
        <p:spPr>
          <a:xfrm>
            <a:off x="640080" y="237744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hart_white.png" id="377" name="Google Shape;377;p11"/>
          <p:cNvPicPr preferRelativeResize="0"/>
          <p:nvPr/>
        </p:nvPicPr>
        <p:blipFill rotWithShape="1">
          <a:blip r:embed="rId4">
            <a:alphaModFix/>
          </a:blip>
          <a:srcRect b="0" l="0" r="0" t="0"/>
          <a:stretch/>
        </p:blipFill>
        <p:spPr>
          <a:xfrm>
            <a:off x="694944" y="2432304"/>
            <a:ext cx="347472" cy="347472"/>
          </a:xfrm>
          <a:prstGeom prst="rect">
            <a:avLst/>
          </a:prstGeom>
          <a:noFill/>
          <a:ln>
            <a:noFill/>
          </a:ln>
        </p:spPr>
      </p:pic>
      <p:sp>
        <p:nvSpPr>
          <p:cNvPr id="378" name="Google Shape;378;p11"/>
          <p:cNvSpPr/>
          <p:nvPr/>
        </p:nvSpPr>
        <p:spPr>
          <a:xfrm>
            <a:off x="1298448" y="2340864"/>
            <a:ext cx="47365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Burndown Chart</a:t>
            </a:r>
            <a:endParaRPr b="0" i="0" sz="1500" u="none" cap="none" strike="noStrike">
              <a:solidFill>
                <a:schemeClr val="dk1"/>
              </a:solidFill>
              <a:latin typeface="Calibri"/>
              <a:ea typeface="Calibri"/>
              <a:cs typeface="Calibri"/>
              <a:sym typeface="Calibri"/>
            </a:endParaRPr>
          </a:p>
        </p:txBody>
      </p:sp>
      <p:sp>
        <p:nvSpPr>
          <p:cNvPr id="379" name="Google Shape;379;p11"/>
          <p:cNvSpPr/>
          <p:nvPr/>
        </p:nvSpPr>
        <p:spPr>
          <a:xfrm>
            <a:off x="1298448" y="2615184"/>
            <a:ext cx="47365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Remaining work tracked across the sprint.</a:t>
            </a:r>
            <a:endParaRPr b="0" i="0" sz="1150" u="none" cap="none" strike="noStrike">
              <a:solidFill>
                <a:schemeClr val="dk1"/>
              </a:solidFill>
              <a:latin typeface="Calibri"/>
              <a:ea typeface="Calibri"/>
              <a:cs typeface="Calibri"/>
              <a:sym typeface="Calibri"/>
            </a:endParaRPr>
          </a:p>
        </p:txBody>
      </p:sp>
      <p:sp>
        <p:nvSpPr>
          <p:cNvPr id="380" name="Google Shape;380;p11"/>
          <p:cNvSpPr/>
          <p:nvPr/>
        </p:nvSpPr>
        <p:spPr>
          <a:xfrm>
            <a:off x="640080" y="329184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bullseye_white.png" id="381" name="Google Shape;381;p11"/>
          <p:cNvPicPr preferRelativeResize="0"/>
          <p:nvPr/>
        </p:nvPicPr>
        <p:blipFill rotWithShape="1">
          <a:blip r:embed="rId5">
            <a:alphaModFix/>
          </a:blip>
          <a:srcRect b="0" l="0" r="0" t="0"/>
          <a:stretch/>
        </p:blipFill>
        <p:spPr>
          <a:xfrm>
            <a:off x="694944" y="3346704"/>
            <a:ext cx="347472" cy="347472"/>
          </a:xfrm>
          <a:prstGeom prst="rect">
            <a:avLst/>
          </a:prstGeom>
          <a:noFill/>
          <a:ln>
            <a:noFill/>
          </a:ln>
        </p:spPr>
      </p:pic>
      <p:sp>
        <p:nvSpPr>
          <p:cNvPr id="382" name="Google Shape;382;p11"/>
          <p:cNvSpPr/>
          <p:nvPr/>
        </p:nvSpPr>
        <p:spPr>
          <a:xfrm>
            <a:off x="1298448" y="3255264"/>
            <a:ext cx="47365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Lead Time</a:t>
            </a:r>
            <a:endParaRPr b="0" i="0" sz="1500" u="none" cap="none" strike="noStrike">
              <a:solidFill>
                <a:schemeClr val="dk1"/>
              </a:solidFill>
              <a:latin typeface="Calibri"/>
              <a:ea typeface="Calibri"/>
              <a:cs typeface="Calibri"/>
              <a:sym typeface="Calibri"/>
            </a:endParaRPr>
          </a:p>
        </p:txBody>
      </p:sp>
      <p:sp>
        <p:nvSpPr>
          <p:cNvPr id="383" name="Google Shape;383;p11"/>
          <p:cNvSpPr/>
          <p:nvPr/>
        </p:nvSpPr>
        <p:spPr>
          <a:xfrm>
            <a:off x="1298448" y="3529584"/>
            <a:ext cx="47365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Time from request to delivered value.</a:t>
            </a:r>
            <a:endParaRPr b="0" i="0" sz="1150" u="none" cap="none" strike="noStrike">
              <a:solidFill>
                <a:schemeClr val="dk1"/>
              </a:solidFill>
              <a:latin typeface="Calibri"/>
              <a:ea typeface="Calibri"/>
              <a:cs typeface="Calibri"/>
              <a:sym typeface="Calibri"/>
            </a:endParaRPr>
          </a:p>
        </p:txBody>
      </p:sp>
      <p:sp>
        <p:nvSpPr>
          <p:cNvPr id="384" name="Google Shape;384;p11"/>
          <p:cNvSpPr/>
          <p:nvPr/>
        </p:nvSpPr>
        <p:spPr>
          <a:xfrm>
            <a:off x="640080" y="420624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ogs_white.png" id="385" name="Google Shape;385;p11"/>
          <p:cNvPicPr preferRelativeResize="0"/>
          <p:nvPr/>
        </p:nvPicPr>
        <p:blipFill rotWithShape="1">
          <a:blip r:embed="rId6">
            <a:alphaModFix/>
          </a:blip>
          <a:srcRect b="0" l="0" r="0" t="0"/>
          <a:stretch/>
        </p:blipFill>
        <p:spPr>
          <a:xfrm>
            <a:off x="694944" y="4261104"/>
            <a:ext cx="347472" cy="347472"/>
          </a:xfrm>
          <a:prstGeom prst="rect">
            <a:avLst/>
          </a:prstGeom>
          <a:noFill/>
          <a:ln>
            <a:noFill/>
          </a:ln>
        </p:spPr>
      </p:pic>
      <p:sp>
        <p:nvSpPr>
          <p:cNvPr id="386" name="Google Shape;386;p11"/>
          <p:cNvSpPr/>
          <p:nvPr/>
        </p:nvSpPr>
        <p:spPr>
          <a:xfrm>
            <a:off x="1298448" y="4169664"/>
            <a:ext cx="47365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Cycle Time</a:t>
            </a:r>
            <a:endParaRPr b="0" i="0" sz="1500" u="none" cap="none" strike="noStrike">
              <a:solidFill>
                <a:schemeClr val="dk1"/>
              </a:solidFill>
              <a:latin typeface="Calibri"/>
              <a:ea typeface="Calibri"/>
              <a:cs typeface="Calibri"/>
              <a:sym typeface="Calibri"/>
            </a:endParaRPr>
          </a:p>
        </p:txBody>
      </p:sp>
      <p:sp>
        <p:nvSpPr>
          <p:cNvPr id="387" name="Google Shape;387;p11"/>
          <p:cNvSpPr/>
          <p:nvPr/>
        </p:nvSpPr>
        <p:spPr>
          <a:xfrm>
            <a:off x="1298448" y="4443984"/>
            <a:ext cx="47365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Time spent actively working an item.</a:t>
            </a:r>
            <a:endParaRPr b="0" i="0" sz="1150" u="none" cap="none" strike="noStrike">
              <a:solidFill>
                <a:schemeClr val="dk1"/>
              </a:solidFill>
              <a:latin typeface="Calibri"/>
              <a:ea typeface="Calibri"/>
              <a:cs typeface="Calibri"/>
              <a:sym typeface="Calibri"/>
            </a:endParaRPr>
          </a:p>
        </p:txBody>
      </p:sp>
      <p:sp>
        <p:nvSpPr>
          <p:cNvPr id="388" name="Google Shape;388;p11"/>
          <p:cNvSpPr/>
          <p:nvPr/>
        </p:nvSpPr>
        <p:spPr>
          <a:xfrm>
            <a:off x="640080" y="5166360"/>
            <a:ext cx="5394960" cy="1188720"/>
          </a:xfrm>
          <a:prstGeom prst="roundRect">
            <a:avLst>
              <a:gd fmla="val 6154" name="adj"/>
            </a:avLst>
          </a:prstGeom>
          <a:solidFill>
            <a:srgbClr val="FFFFFF"/>
          </a:solidFill>
          <a:ln cap="flat" cmpd="sng" w="12700">
            <a:solidFill>
              <a:srgbClr val="E1E7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1"/>
          <p:cNvSpPr/>
          <p:nvPr/>
        </p:nvSpPr>
        <p:spPr>
          <a:xfrm>
            <a:off x="841248" y="5349240"/>
            <a:ext cx="457200" cy="457200"/>
          </a:xfrm>
          <a:prstGeom prst="ellipse">
            <a:avLst/>
          </a:prstGeom>
          <a:solidFill>
            <a:srgbClr val="3E5C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running_white.png" id="390" name="Google Shape;390;p11"/>
          <p:cNvPicPr preferRelativeResize="0"/>
          <p:nvPr/>
        </p:nvPicPr>
        <p:blipFill rotWithShape="1">
          <a:blip r:embed="rId7">
            <a:alphaModFix/>
          </a:blip>
          <a:srcRect b="0" l="0" r="0" t="0"/>
          <a:stretch/>
        </p:blipFill>
        <p:spPr>
          <a:xfrm>
            <a:off x="896112" y="5404104"/>
            <a:ext cx="347472" cy="347472"/>
          </a:xfrm>
          <a:prstGeom prst="rect">
            <a:avLst/>
          </a:prstGeom>
          <a:noFill/>
          <a:ln>
            <a:noFill/>
          </a:ln>
        </p:spPr>
      </p:pic>
      <p:sp>
        <p:nvSpPr>
          <p:cNvPr id="391" name="Google Shape;391;p11"/>
          <p:cNvSpPr/>
          <p:nvPr/>
        </p:nvSpPr>
        <p:spPr>
          <a:xfrm>
            <a:off x="1426464" y="5312664"/>
            <a:ext cx="43891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5C76"/>
              </a:buClr>
              <a:buSzPts val="1000"/>
              <a:buFont typeface="Calibri"/>
              <a:buNone/>
            </a:pPr>
            <a:r>
              <a:rPr b="1" i="0" lang="en-US" sz="1000" u="none" cap="none" strike="noStrike">
                <a:solidFill>
                  <a:srgbClr val="3E5C76"/>
                </a:solidFill>
                <a:latin typeface="Calibri"/>
                <a:ea typeface="Calibri"/>
                <a:cs typeface="Calibri"/>
                <a:sym typeface="Calibri"/>
              </a:rPr>
              <a:t>ANALOGY</a:t>
            </a:r>
            <a:endParaRPr b="0" i="0" sz="1000" u="none" cap="none" strike="noStrike">
              <a:solidFill>
                <a:schemeClr val="dk1"/>
              </a:solidFill>
              <a:latin typeface="Calibri"/>
              <a:ea typeface="Calibri"/>
              <a:cs typeface="Calibri"/>
              <a:sym typeface="Calibri"/>
            </a:endParaRPr>
          </a:p>
        </p:txBody>
      </p:sp>
      <p:sp>
        <p:nvSpPr>
          <p:cNvPr id="392" name="Google Shape;392;p11"/>
          <p:cNvSpPr/>
          <p:nvPr/>
        </p:nvSpPr>
        <p:spPr>
          <a:xfrm>
            <a:off x="1426464" y="5532120"/>
            <a:ext cx="4434840" cy="7315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2263A"/>
              </a:buClr>
              <a:buSzPts val="1250"/>
              <a:buFont typeface="Calibri"/>
              <a:buNone/>
            </a:pPr>
            <a:r>
              <a:rPr b="0" i="1" lang="en-US" sz="1250" u="none" cap="none" strike="noStrike">
                <a:solidFill>
                  <a:srgbClr val="12263A"/>
                </a:solidFill>
                <a:latin typeface="Calibri"/>
                <a:ea typeface="Calibri"/>
                <a:cs typeface="Calibri"/>
                <a:sym typeface="Calibri"/>
              </a:rPr>
              <a:t>A fitness tracker for Agile teams — pace over time, not one workout.</a:t>
            </a:r>
            <a:endParaRPr b="0" i="0" sz="1250" u="none" cap="none" strike="noStrike">
              <a:solidFill>
                <a:schemeClr val="dk1"/>
              </a:solidFill>
              <a:latin typeface="Calibri"/>
              <a:ea typeface="Calibri"/>
              <a:cs typeface="Calibri"/>
              <a:sym typeface="Calibri"/>
            </a:endParaRPr>
          </a:p>
        </p:txBody>
      </p:sp>
      <p:sp>
        <p:nvSpPr>
          <p:cNvPr id="393" name="Google Shape;393;p11"/>
          <p:cNvSpPr/>
          <p:nvPr/>
        </p:nvSpPr>
        <p:spPr>
          <a:xfrm>
            <a:off x="6446520" y="1417320"/>
            <a:ext cx="5029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050"/>
              <a:buFont typeface="Calibri"/>
              <a:buNone/>
            </a:pPr>
            <a:r>
              <a:rPr b="1" i="0" lang="en-US" sz="1050" u="none" cap="none" strike="noStrike">
                <a:solidFill>
                  <a:srgbClr val="FF7A00"/>
                </a:solidFill>
                <a:latin typeface="Calibri"/>
                <a:ea typeface="Calibri"/>
                <a:cs typeface="Calibri"/>
                <a:sym typeface="Calibri"/>
              </a:rPr>
              <a:t>PRACTICAL EXAMPLE — SPRINT BURNDOWN</a:t>
            </a:r>
            <a:endParaRPr b="0" i="0" sz="1050" u="none" cap="none" strike="noStrike">
              <a:solidFill>
                <a:schemeClr val="dk1"/>
              </a:solidFill>
              <a:latin typeface="Calibri"/>
              <a:ea typeface="Calibri"/>
              <a:cs typeface="Calibri"/>
              <a:sym typeface="Calibri"/>
            </a:endParaRPr>
          </a:p>
        </p:txBody>
      </p:sp>
      <p:graphicFrame>
        <p:nvGraphicFramePr>
          <p:cNvPr id="394" name="Google Shape;394;p11"/>
          <p:cNvGraphicFramePr/>
          <p:nvPr/>
        </p:nvGraphicFramePr>
        <p:xfrm>
          <a:off x="6446520" y="1783080"/>
          <a:ext cx="5029200" cy="3246120"/>
        </p:xfrm>
        <a:graphic>
          <a:graphicData uri="http://schemas.openxmlformats.org/drawingml/2006/chart">
            <c:chart r:id="rId8"/>
          </a:graphicData>
        </a:graphic>
      </p:graphicFrame>
      <p:sp>
        <p:nvSpPr>
          <p:cNvPr id="395" name="Google Shape;395;p11"/>
          <p:cNvSpPr/>
          <p:nvPr/>
        </p:nvSpPr>
        <p:spPr>
          <a:xfrm>
            <a:off x="6446520" y="5120640"/>
            <a:ext cx="5029200" cy="7772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Spotify popularized cross-functional squads that lean heavily on velocity and lead time to stay autonomous yet accountable.</a:t>
            </a:r>
            <a:endParaRPr b="0" i="0" sz="1150" u="none" cap="none" strike="noStrike">
              <a:solidFill>
                <a:schemeClr val="dk1"/>
              </a:solidFill>
              <a:latin typeface="Calibri"/>
              <a:ea typeface="Calibri"/>
              <a:cs typeface="Calibri"/>
              <a:sym typeface="Calibri"/>
            </a:endParaRPr>
          </a:p>
        </p:txBody>
      </p:sp>
      <p:sp>
        <p:nvSpPr>
          <p:cNvPr id="396" name="Google Shape;396;p11"/>
          <p:cNvSpPr/>
          <p:nvPr/>
        </p:nvSpPr>
        <p:spPr>
          <a:xfrm>
            <a:off x="11505895" y="6291072"/>
            <a:ext cx="384048" cy="384048"/>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1"/>
          <p:cNvSpPr/>
          <p:nvPr/>
        </p:nvSpPr>
        <p:spPr>
          <a:xfrm>
            <a:off x="11505895" y="629107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11</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402" name="Shape 402"/>
        <p:cNvGrpSpPr/>
        <p:nvPr/>
      </p:nvGrpSpPr>
      <p:grpSpPr>
        <a:xfrm>
          <a:off x="0" y="0"/>
          <a:ext cx="0" cy="0"/>
          <a:chOff x="0" y="0"/>
          <a:chExt cx="0" cy="0"/>
        </a:xfrm>
      </p:grpSpPr>
      <p:sp>
        <p:nvSpPr>
          <p:cNvPr id="403" name="Google Shape;403;p12"/>
          <p:cNvSpPr/>
          <p:nvPr/>
        </p:nvSpPr>
        <p:spPr>
          <a:xfrm>
            <a:off x="640080" y="384048"/>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300"/>
              <a:buFont typeface="Calibri"/>
              <a:buNone/>
            </a:pPr>
            <a:r>
              <a:rPr b="1" i="0" lang="en-US" sz="1300" u="none" cap="none" strike="noStrike">
                <a:solidFill>
                  <a:srgbClr val="FF7A00"/>
                </a:solidFill>
                <a:latin typeface="Calibri"/>
                <a:ea typeface="Calibri"/>
                <a:cs typeface="Calibri"/>
                <a:sym typeface="Calibri"/>
              </a:rPr>
              <a:t>05 · MODERN &amp; AI-ERA METRICS</a:t>
            </a:r>
            <a:endParaRPr b="0" i="0" sz="1300" u="none" cap="none" strike="noStrike">
              <a:solidFill>
                <a:schemeClr val="dk1"/>
              </a:solidFill>
              <a:latin typeface="Calibri"/>
              <a:ea typeface="Calibri"/>
              <a:cs typeface="Calibri"/>
              <a:sym typeface="Calibri"/>
            </a:endParaRPr>
          </a:p>
        </p:txBody>
      </p:sp>
      <p:sp>
        <p:nvSpPr>
          <p:cNvPr id="404" name="Google Shape;404;p12"/>
          <p:cNvSpPr/>
          <p:nvPr/>
        </p:nvSpPr>
        <p:spPr>
          <a:xfrm>
            <a:off x="640080" y="676656"/>
            <a:ext cx="108813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DevOps Metrics (DORA)</a:t>
            </a:r>
            <a:endParaRPr b="0" i="0" sz="3200" u="none" cap="none" strike="noStrike">
              <a:solidFill>
                <a:schemeClr val="dk1"/>
              </a:solidFill>
              <a:latin typeface="Calibri"/>
              <a:ea typeface="Calibri"/>
              <a:cs typeface="Calibri"/>
              <a:sym typeface="Calibri"/>
            </a:endParaRPr>
          </a:p>
        </p:txBody>
      </p:sp>
      <p:sp>
        <p:nvSpPr>
          <p:cNvPr id="405" name="Google Shape;405;p12"/>
          <p:cNvSpPr/>
          <p:nvPr/>
        </p:nvSpPr>
        <p:spPr>
          <a:xfrm>
            <a:off x="548640" y="638251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900"/>
              <a:buFont typeface="Calibri"/>
              <a:buNone/>
            </a:pPr>
            <a:r>
              <a:rPr b="0" i="0" lang="en-US" sz="900" u="none" cap="none" strike="noStrike">
                <a:solidFill>
                  <a:srgbClr val="5B6B7C"/>
                </a:solidFill>
                <a:latin typeface="Calibri"/>
                <a:ea typeface="Calibri"/>
                <a:cs typeface="Calibri"/>
                <a:sym typeface="Calibri"/>
              </a:rPr>
              <a:t>SOFTWARE METRICS &amp; MEASUREMENT</a:t>
            </a:r>
            <a:endParaRPr b="0" i="0" sz="900" u="none" cap="none" strike="noStrike">
              <a:solidFill>
                <a:schemeClr val="dk1"/>
              </a:solidFill>
              <a:latin typeface="Calibri"/>
              <a:ea typeface="Calibri"/>
              <a:cs typeface="Calibri"/>
              <a:sym typeface="Calibri"/>
            </a:endParaRPr>
          </a:p>
        </p:txBody>
      </p:sp>
      <p:sp>
        <p:nvSpPr>
          <p:cNvPr id="406" name="Google Shape;406;p12"/>
          <p:cNvSpPr/>
          <p:nvPr/>
        </p:nvSpPr>
        <p:spPr>
          <a:xfrm>
            <a:off x="640080" y="1463040"/>
            <a:ext cx="3246120" cy="1691640"/>
          </a:xfrm>
          <a:prstGeom prst="roundRect">
            <a:avLst>
              <a:gd fmla="val 5405" name="adj"/>
            </a:avLst>
          </a:prstGeom>
          <a:solidFill>
            <a:srgbClr val="FFFFFF"/>
          </a:solidFill>
          <a:ln cap="flat" cmpd="sng" w="12700">
            <a:solidFill>
              <a:srgbClr val="E1E7EE"/>
            </a:solidFill>
            <a:prstDash val="solid"/>
            <a:round/>
            <a:headEnd len="sm" w="sm" type="none"/>
            <a:tailEnd len="sm" w="sm" type="none"/>
          </a:ln>
          <a:effectLst>
            <a:outerShdw blurRad="63500" rotWithShape="0" algn="bl" dir="5400000" dist="25400">
              <a:srgbClr val="1F2937">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2"/>
          <p:cNvSpPr/>
          <p:nvPr/>
        </p:nvSpPr>
        <p:spPr>
          <a:xfrm>
            <a:off x="841248" y="1664208"/>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gauge_white.png" id="408" name="Google Shape;408;p12"/>
          <p:cNvPicPr preferRelativeResize="0"/>
          <p:nvPr/>
        </p:nvPicPr>
        <p:blipFill rotWithShape="1">
          <a:blip r:embed="rId3">
            <a:alphaModFix/>
          </a:blip>
          <a:srcRect b="0" l="0" r="0" t="0"/>
          <a:stretch/>
        </p:blipFill>
        <p:spPr>
          <a:xfrm>
            <a:off x="896112" y="1719072"/>
            <a:ext cx="347472" cy="347472"/>
          </a:xfrm>
          <a:prstGeom prst="rect">
            <a:avLst/>
          </a:prstGeom>
          <a:noFill/>
          <a:ln>
            <a:noFill/>
          </a:ln>
        </p:spPr>
      </p:pic>
      <p:sp>
        <p:nvSpPr>
          <p:cNvPr id="409" name="Google Shape;409;p12"/>
          <p:cNvSpPr/>
          <p:nvPr/>
        </p:nvSpPr>
        <p:spPr>
          <a:xfrm>
            <a:off x="841248" y="2240280"/>
            <a:ext cx="284378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350"/>
              <a:buFont typeface="Calibri"/>
              <a:buNone/>
            </a:pPr>
            <a:r>
              <a:rPr b="1" i="0" lang="en-US" sz="1350" u="none" cap="none" strike="noStrike">
                <a:solidFill>
                  <a:srgbClr val="12263A"/>
                </a:solidFill>
                <a:latin typeface="Calibri"/>
                <a:ea typeface="Calibri"/>
                <a:cs typeface="Calibri"/>
                <a:sym typeface="Calibri"/>
              </a:rPr>
              <a:t>Deployment Frequency</a:t>
            </a:r>
            <a:endParaRPr b="0" i="0" sz="1350" u="none" cap="none" strike="noStrike">
              <a:solidFill>
                <a:schemeClr val="dk1"/>
              </a:solidFill>
              <a:latin typeface="Calibri"/>
              <a:ea typeface="Calibri"/>
              <a:cs typeface="Calibri"/>
              <a:sym typeface="Calibri"/>
            </a:endParaRPr>
          </a:p>
        </p:txBody>
      </p:sp>
      <p:sp>
        <p:nvSpPr>
          <p:cNvPr id="410" name="Google Shape;410;p12"/>
          <p:cNvSpPr/>
          <p:nvPr/>
        </p:nvSpPr>
        <p:spPr>
          <a:xfrm>
            <a:off x="841248" y="2596896"/>
            <a:ext cx="2843784"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00"/>
              <a:buFont typeface="Calibri"/>
              <a:buNone/>
            </a:pPr>
            <a:r>
              <a:rPr b="0" i="0" lang="en-US" sz="1100" u="none" cap="none" strike="noStrike">
                <a:solidFill>
                  <a:srgbClr val="5B6B7C"/>
                </a:solidFill>
                <a:latin typeface="Calibri"/>
                <a:ea typeface="Calibri"/>
                <a:cs typeface="Calibri"/>
                <a:sym typeface="Calibri"/>
              </a:rPr>
              <a:t>How often code ships to production.</a:t>
            </a:r>
            <a:endParaRPr b="0" i="0" sz="1100" u="none" cap="none" strike="noStrike">
              <a:solidFill>
                <a:schemeClr val="dk1"/>
              </a:solidFill>
              <a:latin typeface="Calibri"/>
              <a:ea typeface="Calibri"/>
              <a:cs typeface="Calibri"/>
              <a:sym typeface="Calibri"/>
            </a:endParaRPr>
          </a:p>
        </p:txBody>
      </p:sp>
      <p:sp>
        <p:nvSpPr>
          <p:cNvPr id="411" name="Google Shape;411;p12"/>
          <p:cNvSpPr/>
          <p:nvPr/>
        </p:nvSpPr>
        <p:spPr>
          <a:xfrm>
            <a:off x="4069080" y="1463040"/>
            <a:ext cx="3246120" cy="1691640"/>
          </a:xfrm>
          <a:prstGeom prst="roundRect">
            <a:avLst>
              <a:gd fmla="val 5405" name="adj"/>
            </a:avLst>
          </a:prstGeom>
          <a:solidFill>
            <a:srgbClr val="FFFFFF"/>
          </a:solidFill>
          <a:ln cap="flat" cmpd="sng" w="12700">
            <a:solidFill>
              <a:srgbClr val="E1E7EE"/>
            </a:solidFill>
            <a:prstDash val="solid"/>
            <a:round/>
            <a:headEnd len="sm" w="sm" type="none"/>
            <a:tailEnd len="sm" w="sm" type="none"/>
          </a:ln>
          <a:effectLst>
            <a:outerShdw blurRad="63500" rotWithShape="0" algn="bl" dir="5400000" dist="25400">
              <a:srgbClr val="1F2937">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2"/>
          <p:cNvSpPr/>
          <p:nvPr/>
        </p:nvSpPr>
        <p:spPr>
          <a:xfrm>
            <a:off x="4270248" y="1664208"/>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hart_white.png" id="413" name="Google Shape;413;p12"/>
          <p:cNvPicPr preferRelativeResize="0"/>
          <p:nvPr/>
        </p:nvPicPr>
        <p:blipFill rotWithShape="1">
          <a:blip r:embed="rId4">
            <a:alphaModFix/>
          </a:blip>
          <a:srcRect b="0" l="0" r="0" t="0"/>
          <a:stretch/>
        </p:blipFill>
        <p:spPr>
          <a:xfrm>
            <a:off x="4325112" y="1719072"/>
            <a:ext cx="347472" cy="347472"/>
          </a:xfrm>
          <a:prstGeom prst="rect">
            <a:avLst/>
          </a:prstGeom>
          <a:noFill/>
          <a:ln>
            <a:noFill/>
          </a:ln>
        </p:spPr>
      </p:pic>
      <p:sp>
        <p:nvSpPr>
          <p:cNvPr id="414" name="Google Shape;414;p12"/>
          <p:cNvSpPr/>
          <p:nvPr/>
        </p:nvSpPr>
        <p:spPr>
          <a:xfrm>
            <a:off x="4270248" y="2240280"/>
            <a:ext cx="284378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350"/>
              <a:buFont typeface="Calibri"/>
              <a:buNone/>
            </a:pPr>
            <a:r>
              <a:rPr b="1" i="0" lang="en-US" sz="1350" u="none" cap="none" strike="noStrike">
                <a:solidFill>
                  <a:srgbClr val="12263A"/>
                </a:solidFill>
                <a:latin typeface="Calibri"/>
                <a:ea typeface="Calibri"/>
                <a:cs typeface="Calibri"/>
                <a:sym typeface="Calibri"/>
              </a:rPr>
              <a:t>Lead Time for Changes</a:t>
            </a:r>
            <a:endParaRPr b="0" i="0" sz="1350" u="none" cap="none" strike="noStrike">
              <a:solidFill>
                <a:schemeClr val="dk1"/>
              </a:solidFill>
              <a:latin typeface="Calibri"/>
              <a:ea typeface="Calibri"/>
              <a:cs typeface="Calibri"/>
              <a:sym typeface="Calibri"/>
            </a:endParaRPr>
          </a:p>
        </p:txBody>
      </p:sp>
      <p:sp>
        <p:nvSpPr>
          <p:cNvPr id="415" name="Google Shape;415;p12"/>
          <p:cNvSpPr/>
          <p:nvPr/>
        </p:nvSpPr>
        <p:spPr>
          <a:xfrm>
            <a:off x="4270248" y="2596896"/>
            <a:ext cx="2843784"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00"/>
              <a:buFont typeface="Calibri"/>
              <a:buNone/>
            </a:pPr>
            <a:r>
              <a:rPr b="0" i="0" lang="en-US" sz="1100" u="none" cap="none" strike="noStrike">
                <a:solidFill>
                  <a:srgbClr val="5B6B7C"/>
                </a:solidFill>
                <a:latin typeface="Calibri"/>
                <a:ea typeface="Calibri"/>
                <a:cs typeface="Calibri"/>
                <a:sym typeface="Calibri"/>
              </a:rPr>
              <a:t>Time from commit to running in production.</a:t>
            </a:r>
            <a:endParaRPr b="0" i="0" sz="1100" u="none" cap="none" strike="noStrike">
              <a:solidFill>
                <a:schemeClr val="dk1"/>
              </a:solidFill>
              <a:latin typeface="Calibri"/>
              <a:ea typeface="Calibri"/>
              <a:cs typeface="Calibri"/>
              <a:sym typeface="Calibri"/>
            </a:endParaRPr>
          </a:p>
        </p:txBody>
      </p:sp>
      <p:sp>
        <p:nvSpPr>
          <p:cNvPr id="416" name="Google Shape;416;p12"/>
          <p:cNvSpPr/>
          <p:nvPr/>
        </p:nvSpPr>
        <p:spPr>
          <a:xfrm>
            <a:off x="640080" y="3337560"/>
            <a:ext cx="3246120" cy="1691640"/>
          </a:xfrm>
          <a:prstGeom prst="roundRect">
            <a:avLst>
              <a:gd fmla="val 5405" name="adj"/>
            </a:avLst>
          </a:prstGeom>
          <a:solidFill>
            <a:srgbClr val="FFFFFF"/>
          </a:solidFill>
          <a:ln cap="flat" cmpd="sng" w="12700">
            <a:solidFill>
              <a:srgbClr val="E1E7EE"/>
            </a:solidFill>
            <a:prstDash val="solid"/>
            <a:round/>
            <a:headEnd len="sm" w="sm" type="none"/>
            <a:tailEnd len="sm" w="sm" type="none"/>
          </a:ln>
          <a:effectLst>
            <a:outerShdw blurRad="63500" rotWithShape="0" algn="bl" dir="5400000" dist="25400">
              <a:srgbClr val="1F2937">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2"/>
          <p:cNvSpPr/>
          <p:nvPr/>
        </p:nvSpPr>
        <p:spPr>
          <a:xfrm>
            <a:off x="841248" y="3538728"/>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shield_white.png" id="418" name="Google Shape;418;p12"/>
          <p:cNvPicPr preferRelativeResize="0"/>
          <p:nvPr/>
        </p:nvPicPr>
        <p:blipFill rotWithShape="1">
          <a:blip r:embed="rId5">
            <a:alphaModFix/>
          </a:blip>
          <a:srcRect b="0" l="0" r="0" t="0"/>
          <a:stretch/>
        </p:blipFill>
        <p:spPr>
          <a:xfrm>
            <a:off x="896112" y="3593592"/>
            <a:ext cx="347472" cy="347472"/>
          </a:xfrm>
          <a:prstGeom prst="rect">
            <a:avLst/>
          </a:prstGeom>
          <a:noFill/>
          <a:ln>
            <a:noFill/>
          </a:ln>
        </p:spPr>
      </p:pic>
      <p:sp>
        <p:nvSpPr>
          <p:cNvPr id="419" name="Google Shape;419;p12"/>
          <p:cNvSpPr/>
          <p:nvPr/>
        </p:nvSpPr>
        <p:spPr>
          <a:xfrm>
            <a:off x="841248" y="4114800"/>
            <a:ext cx="284378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350"/>
              <a:buFont typeface="Calibri"/>
              <a:buNone/>
            </a:pPr>
            <a:r>
              <a:rPr b="1" i="0" lang="en-US" sz="1350" u="none" cap="none" strike="noStrike">
                <a:solidFill>
                  <a:srgbClr val="12263A"/>
                </a:solidFill>
                <a:latin typeface="Calibri"/>
                <a:ea typeface="Calibri"/>
                <a:cs typeface="Calibri"/>
                <a:sym typeface="Calibri"/>
              </a:rPr>
              <a:t>Change Failure Rate</a:t>
            </a:r>
            <a:endParaRPr b="0" i="0" sz="1350" u="none" cap="none" strike="noStrike">
              <a:solidFill>
                <a:schemeClr val="dk1"/>
              </a:solidFill>
              <a:latin typeface="Calibri"/>
              <a:ea typeface="Calibri"/>
              <a:cs typeface="Calibri"/>
              <a:sym typeface="Calibri"/>
            </a:endParaRPr>
          </a:p>
        </p:txBody>
      </p:sp>
      <p:sp>
        <p:nvSpPr>
          <p:cNvPr id="420" name="Google Shape;420;p12"/>
          <p:cNvSpPr/>
          <p:nvPr/>
        </p:nvSpPr>
        <p:spPr>
          <a:xfrm>
            <a:off x="841248" y="4471416"/>
            <a:ext cx="2843784"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00"/>
              <a:buFont typeface="Calibri"/>
              <a:buNone/>
            </a:pPr>
            <a:r>
              <a:rPr b="0" i="0" lang="en-US" sz="1100" u="none" cap="none" strike="noStrike">
                <a:solidFill>
                  <a:srgbClr val="5B6B7C"/>
                </a:solidFill>
                <a:latin typeface="Calibri"/>
                <a:ea typeface="Calibri"/>
                <a:cs typeface="Calibri"/>
                <a:sym typeface="Calibri"/>
              </a:rPr>
              <a:t>Share of releases that cause a failure.</a:t>
            </a:r>
            <a:endParaRPr b="0" i="0" sz="1100" u="none" cap="none" strike="noStrike">
              <a:solidFill>
                <a:schemeClr val="dk1"/>
              </a:solidFill>
              <a:latin typeface="Calibri"/>
              <a:ea typeface="Calibri"/>
              <a:cs typeface="Calibri"/>
              <a:sym typeface="Calibri"/>
            </a:endParaRPr>
          </a:p>
        </p:txBody>
      </p:sp>
      <p:sp>
        <p:nvSpPr>
          <p:cNvPr id="421" name="Google Shape;421;p12"/>
          <p:cNvSpPr/>
          <p:nvPr/>
        </p:nvSpPr>
        <p:spPr>
          <a:xfrm>
            <a:off x="4069080" y="3337560"/>
            <a:ext cx="3246120" cy="1691640"/>
          </a:xfrm>
          <a:prstGeom prst="roundRect">
            <a:avLst>
              <a:gd fmla="val 5405" name="adj"/>
            </a:avLst>
          </a:prstGeom>
          <a:solidFill>
            <a:srgbClr val="FFFFFF"/>
          </a:solidFill>
          <a:ln cap="flat" cmpd="sng" w="12700">
            <a:solidFill>
              <a:srgbClr val="E1E7EE"/>
            </a:solidFill>
            <a:prstDash val="solid"/>
            <a:round/>
            <a:headEnd len="sm" w="sm" type="none"/>
            <a:tailEnd len="sm" w="sm" type="none"/>
          </a:ln>
          <a:effectLst>
            <a:outerShdw blurRad="63500" rotWithShape="0" algn="bl" dir="5400000" dist="25400">
              <a:srgbClr val="1F2937">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2"/>
          <p:cNvSpPr/>
          <p:nvPr/>
        </p:nvSpPr>
        <p:spPr>
          <a:xfrm>
            <a:off x="4270248" y="3538728"/>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heartbeat_white.png" id="423" name="Google Shape;423;p12"/>
          <p:cNvPicPr preferRelativeResize="0"/>
          <p:nvPr/>
        </p:nvPicPr>
        <p:blipFill rotWithShape="1">
          <a:blip r:embed="rId6">
            <a:alphaModFix/>
          </a:blip>
          <a:srcRect b="0" l="0" r="0" t="0"/>
          <a:stretch/>
        </p:blipFill>
        <p:spPr>
          <a:xfrm>
            <a:off x="4325112" y="3593592"/>
            <a:ext cx="347472" cy="347472"/>
          </a:xfrm>
          <a:prstGeom prst="rect">
            <a:avLst/>
          </a:prstGeom>
          <a:noFill/>
          <a:ln>
            <a:noFill/>
          </a:ln>
        </p:spPr>
      </p:pic>
      <p:sp>
        <p:nvSpPr>
          <p:cNvPr id="424" name="Google Shape;424;p12"/>
          <p:cNvSpPr/>
          <p:nvPr/>
        </p:nvSpPr>
        <p:spPr>
          <a:xfrm>
            <a:off x="4270248" y="4114800"/>
            <a:ext cx="284378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350"/>
              <a:buFont typeface="Calibri"/>
              <a:buNone/>
            </a:pPr>
            <a:r>
              <a:rPr b="1" i="0" lang="en-US" sz="1350" u="none" cap="none" strike="noStrike">
                <a:solidFill>
                  <a:srgbClr val="12263A"/>
                </a:solidFill>
                <a:latin typeface="Calibri"/>
                <a:ea typeface="Calibri"/>
                <a:cs typeface="Calibri"/>
                <a:sym typeface="Calibri"/>
              </a:rPr>
              <a:t>Mean Time to Recovery</a:t>
            </a:r>
            <a:endParaRPr b="0" i="0" sz="1350" u="none" cap="none" strike="noStrike">
              <a:solidFill>
                <a:schemeClr val="dk1"/>
              </a:solidFill>
              <a:latin typeface="Calibri"/>
              <a:ea typeface="Calibri"/>
              <a:cs typeface="Calibri"/>
              <a:sym typeface="Calibri"/>
            </a:endParaRPr>
          </a:p>
        </p:txBody>
      </p:sp>
      <p:sp>
        <p:nvSpPr>
          <p:cNvPr id="425" name="Google Shape;425;p12"/>
          <p:cNvSpPr/>
          <p:nvPr/>
        </p:nvSpPr>
        <p:spPr>
          <a:xfrm>
            <a:off x="4270248" y="4471416"/>
            <a:ext cx="2843784"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00"/>
              <a:buFont typeface="Calibri"/>
              <a:buNone/>
            </a:pPr>
            <a:r>
              <a:rPr b="0" i="0" lang="en-US" sz="1100" u="none" cap="none" strike="noStrike">
                <a:solidFill>
                  <a:srgbClr val="5B6B7C"/>
                </a:solidFill>
                <a:latin typeface="Calibri"/>
                <a:ea typeface="Calibri"/>
                <a:cs typeface="Calibri"/>
                <a:sym typeface="Calibri"/>
              </a:rPr>
              <a:t>How fast service is restored after failure.</a:t>
            </a:r>
            <a:endParaRPr b="0" i="0" sz="1100" u="none" cap="none" strike="noStrike">
              <a:solidFill>
                <a:schemeClr val="dk1"/>
              </a:solidFill>
              <a:latin typeface="Calibri"/>
              <a:ea typeface="Calibri"/>
              <a:cs typeface="Calibri"/>
              <a:sym typeface="Calibri"/>
            </a:endParaRPr>
          </a:p>
        </p:txBody>
      </p:sp>
      <p:sp>
        <p:nvSpPr>
          <p:cNvPr id="426" name="Google Shape;426;p12"/>
          <p:cNvSpPr/>
          <p:nvPr/>
        </p:nvSpPr>
        <p:spPr>
          <a:xfrm>
            <a:off x="7543800" y="1463040"/>
            <a:ext cx="4023360" cy="1737360"/>
          </a:xfrm>
          <a:prstGeom prst="roundRect">
            <a:avLst>
              <a:gd fmla="val 4211" name="adj"/>
            </a:avLst>
          </a:prstGeom>
          <a:solidFill>
            <a:srgbClr val="FFFFFF"/>
          </a:solidFill>
          <a:ln cap="flat" cmpd="sng" w="12700">
            <a:solidFill>
              <a:srgbClr val="E1E7EE"/>
            </a:solidFill>
            <a:prstDash val="solid"/>
            <a:round/>
            <a:headEnd len="sm" w="sm" type="none"/>
            <a:tailEnd len="sm" w="sm" type="none"/>
          </a:ln>
          <a:effectLst>
            <a:outerShdw blurRad="76200" rotWithShape="0" algn="bl" dir="5400000" dist="25400">
              <a:srgbClr val="1F2937">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2"/>
          <p:cNvSpPr/>
          <p:nvPr/>
        </p:nvSpPr>
        <p:spPr>
          <a:xfrm>
            <a:off x="7763256" y="1700784"/>
            <a:ext cx="502920" cy="502920"/>
          </a:xfrm>
          <a:prstGeom prst="ellipse">
            <a:avLst/>
          </a:prstGeom>
          <a:solidFill>
            <a:srgbClr val="3E5C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hospital_white.png" id="428" name="Google Shape;428;p12"/>
          <p:cNvPicPr preferRelativeResize="0"/>
          <p:nvPr/>
        </p:nvPicPr>
        <p:blipFill rotWithShape="1">
          <a:blip r:embed="rId7">
            <a:alphaModFix/>
          </a:blip>
          <a:srcRect b="0" l="0" r="0" t="0"/>
          <a:stretch/>
        </p:blipFill>
        <p:spPr>
          <a:xfrm>
            <a:off x="7823606" y="1761134"/>
            <a:ext cx="382219" cy="382219"/>
          </a:xfrm>
          <a:prstGeom prst="rect">
            <a:avLst/>
          </a:prstGeom>
          <a:noFill/>
          <a:ln>
            <a:noFill/>
          </a:ln>
        </p:spPr>
      </p:pic>
      <p:sp>
        <p:nvSpPr>
          <p:cNvPr id="429" name="Google Shape;429;p12"/>
          <p:cNvSpPr/>
          <p:nvPr/>
        </p:nvSpPr>
        <p:spPr>
          <a:xfrm>
            <a:off x="8403336" y="1682496"/>
            <a:ext cx="2971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5C76"/>
              </a:buClr>
              <a:buSzPts val="1050"/>
              <a:buFont typeface="Calibri"/>
              <a:buNone/>
            </a:pPr>
            <a:r>
              <a:rPr b="1" i="0" lang="en-US" sz="1050" u="none" cap="none" strike="noStrike">
                <a:solidFill>
                  <a:srgbClr val="3E5C76"/>
                </a:solidFill>
                <a:latin typeface="Calibri"/>
                <a:ea typeface="Calibri"/>
                <a:cs typeface="Calibri"/>
                <a:sym typeface="Calibri"/>
              </a:rPr>
              <a:t>ANALOGY</a:t>
            </a:r>
            <a:endParaRPr b="0" i="0" sz="1050" u="none" cap="none" strike="noStrike">
              <a:solidFill>
                <a:schemeClr val="dk1"/>
              </a:solidFill>
              <a:latin typeface="Calibri"/>
              <a:ea typeface="Calibri"/>
              <a:cs typeface="Calibri"/>
              <a:sym typeface="Calibri"/>
            </a:endParaRPr>
          </a:p>
        </p:txBody>
      </p:sp>
      <p:sp>
        <p:nvSpPr>
          <p:cNvPr id="430" name="Google Shape;430;p12"/>
          <p:cNvSpPr/>
          <p:nvPr/>
        </p:nvSpPr>
        <p:spPr>
          <a:xfrm>
            <a:off x="8403336" y="1920240"/>
            <a:ext cx="2971800"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2263A"/>
              </a:buClr>
              <a:buSzPts val="1350"/>
              <a:buFont typeface="Calibri"/>
              <a:buNone/>
            </a:pPr>
            <a:r>
              <a:rPr b="0" i="1" lang="en-US" sz="1350" u="none" cap="none" strike="noStrike">
                <a:solidFill>
                  <a:srgbClr val="12263A"/>
                </a:solidFill>
                <a:latin typeface="Calibri"/>
                <a:ea typeface="Calibri"/>
                <a:cs typeface="Calibri"/>
                <a:sym typeface="Calibri"/>
              </a:rPr>
              <a:t>Hospital performance indicators — how fast, how safely, how reliably.</a:t>
            </a:r>
            <a:endParaRPr b="0" i="0" sz="1350" u="none" cap="none" strike="noStrike">
              <a:solidFill>
                <a:schemeClr val="dk1"/>
              </a:solidFill>
              <a:latin typeface="Calibri"/>
              <a:ea typeface="Calibri"/>
              <a:cs typeface="Calibri"/>
              <a:sym typeface="Calibri"/>
            </a:endParaRPr>
          </a:p>
        </p:txBody>
      </p:sp>
      <p:sp>
        <p:nvSpPr>
          <p:cNvPr id="431" name="Google Shape;431;p12"/>
          <p:cNvSpPr/>
          <p:nvPr/>
        </p:nvSpPr>
        <p:spPr>
          <a:xfrm>
            <a:off x="7543800" y="3566160"/>
            <a:ext cx="4023360" cy="1737360"/>
          </a:xfrm>
          <a:prstGeom prst="roundRect">
            <a:avLst>
              <a:gd fmla="val 4211" name="adj"/>
            </a:avLst>
          </a:prstGeom>
          <a:solidFill>
            <a:srgbClr val="FFFFFF"/>
          </a:solidFill>
          <a:ln cap="flat" cmpd="sng" w="12700">
            <a:solidFill>
              <a:srgbClr val="E1E7EE"/>
            </a:solidFill>
            <a:prstDash val="solid"/>
            <a:round/>
            <a:headEnd len="sm" w="sm" type="none"/>
            <a:tailEnd len="sm" w="sm" type="none"/>
          </a:ln>
          <a:effectLst>
            <a:outerShdw blurRad="76200" rotWithShape="0" algn="bl" dir="5400000" dist="25400">
              <a:srgbClr val="1F2937">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2"/>
          <p:cNvSpPr/>
          <p:nvPr/>
        </p:nvSpPr>
        <p:spPr>
          <a:xfrm>
            <a:off x="7763256" y="3803904"/>
            <a:ext cx="502920" cy="502920"/>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heartbeat_white.png" id="433" name="Google Shape;433;p12"/>
          <p:cNvPicPr preferRelativeResize="0"/>
          <p:nvPr/>
        </p:nvPicPr>
        <p:blipFill rotWithShape="1">
          <a:blip r:embed="rId6">
            <a:alphaModFix/>
          </a:blip>
          <a:srcRect b="0" l="0" r="0" t="0"/>
          <a:stretch/>
        </p:blipFill>
        <p:spPr>
          <a:xfrm>
            <a:off x="7823606" y="3864254"/>
            <a:ext cx="382219" cy="382219"/>
          </a:xfrm>
          <a:prstGeom prst="rect">
            <a:avLst/>
          </a:prstGeom>
          <a:noFill/>
          <a:ln>
            <a:noFill/>
          </a:ln>
        </p:spPr>
      </p:pic>
      <p:sp>
        <p:nvSpPr>
          <p:cNvPr id="434" name="Google Shape;434;p12"/>
          <p:cNvSpPr/>
          <p:nvPr/>
        </p:nvSpPr>
        <p:spPr>
          <a:xfrm>
            <a:off x="8403336" y="3785616"/>
            <a:ext cx="2971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050"/>
              <a:buFont typeface="Calibri"/>
              <a:buNone/>
            </a:pPr>
            <a:r>
              <a:rPr b="1" i="0" lang="en-US" sz="1050" u="none" cap="none" strike="noStrike">
                <a:solidFill>
                  <a:srgbClr val="FF7A00"/>
                </a:solidFill>
                <a:latin typeface="Calibri"/>
                <a:ea typeface="Calibri"/>
                <a:cs typeface="Calibri"/>
                <a:sym typeface="Calibri"/>
              </a:rPr>
              <a:t>PRACTICAL EXAMPLE</a:t>
            </a:r>
            <a:endParaRPr b="0" i="0" sz="1050" u="none" cap="none" strike="noStrike">
              <a:solidFill>
                <a:schemeClr val="dk1"/>
              </a:solidFill>
              <a:latin typeface="Calibri"/>
              <a:ea typeface="Calibri"/>
              <a:cs typeface="Calibri"/>
              <a:sym typeface="Calibri"/>
            </a:endParaRPr>
          </a:p>
        </p:txBody>
      </p:sp>
      <p:sp>
        <p:nvSpPr>
          <p:cNvPr id="435" name="Google Shape;435;p12"/>
          <p:cNvSpPr/>
          <p:nvPr/>
        </p:nvSpPr>
        <p:spPr>
          <a:xfrm>
            <a:off x="8403336" y="4023360"/>
            <a:ext cx="2971800"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2263A"/>
              </a:buClr>
              <a:buSzPts val="1350"/>
              <a:buFont typeface="Calibri"/>
              <a:buNone/>
            </a:pPr>
            <a:r>
              <a:rPr b="0" i="0" lang="en-US" sz="1350" u="none" cap="none" strike="noStrike">
                <a:solidFill>
                  <a:srgbClr val="12263A"/>
                </a:solidFill>
                <a:latin typeface="Calibri"/>
                <a:ea typeface="Calibri"/>
                <a:cs typeface="Calibri"/>
                <a:sym typeface="Calibri"/>
              </a:rPr>
              <a:t>Google's DevOps Research and Assessment (DORA) program established these four metrics as the industry benchmark for elite teams.</a:t>
            </a:r>
            <a:endParaRPr b="0" i="0" sz="1350" u="none" cap="none" strike="noStrike">
              <a:solidFill>
                <a:schemeClr val="dk1"/>
              </a:solidFill>
              <a:latin typeface="Calibri"/>
              <a:ea typeface="Calibri"/>
              <a:cs typeface="Calibri"/>
              <a:sym typeface="Calibri"/>
            </a:endParaRPr>
          </a:p>
        </p:txBody>
      </p:sp>
      <p:sp>
        <p:nvSpPr>
          <p:cNvPr id="436" name="Google Shape;436;p12"/>
          <p:cNvSpPr/>
          <p:nvPr/>
        </p:nvSpPr>
        <p:spPr>
          <a:xfrm>
            <a:off x="11505895" y="6291072"/>
            <a:ext cx="384048" cy="384048"/>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2"/>
          <p:cNvSpPr/>
          <p:nvPr/>
        </p:nvSpPr>
        <p:spPr>
          <a:xfrm>
            <a:off x="11505895" y="629107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12</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442" name="Shape 442"/>
        <p:cNvGrpSpPr/>
        <p:nvPr/>
      </p:nvGrpSpPr>
      <p:grpSpPr>
        <a:xfrm>
          <a:off x="0" y="0"/>
          <a:ext cx="0" cy="0"/>
          <a:chOff x="0" y="0"/>
          <a:chExt cx="0" cy="0"/>
        </a:xfrm>
      </p:grpSpPr>
      <p:sp>
        <p:nvSpPr>
          <p:cNvPr id="443" name="Google Shape;443;p13"/>
          <p:cNvSpPr/>
          <p:nvPr/>
        </p:nvSpPr>
        <p:spPr>
          <a:xfrm>
            <a:off x="640080" y="384048"/>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300"/>
              <a:buFont typeface="Calibri"/>
              <a:buNone/>
            </a:pPr>
            <a:r>
              <a:rPr b="1" i="0" lang="en-US" sz="1300" u="none" cap="none" strike="noStrike">
                <a:solidFill>
                  <a:srgbClr val="FF7A00"/>
                </a:solidFill>
                <a:latin typeface="Calibri"/>
                <a:ea typeface="Calibri"/>
                <a:cs typeface="Calibri"/>
                <a:sym typeface="Calibri"/>
              </a:rPr>
              <a:t>05 · MODERN &amp; AI-ERA METRICS</a:t>
            </a:r>
            <a:endParaRPr b="0" i="0" sz="1300" u="none" cap="none" strike="noStrike">
              <a:solidFill>
                <a:schemeClr val="dk1"/>
              </a:solidFill>
              <a:latin typeface="Calibri"/>
              <a:ea typeface="Calibri"/>
              <a:cs typeface="Calibri"/>
              <a:sym typeface="Calibri"/>
            </a:endParaRPr>
          </a:p>
        </p:txBody>
      </p:sp>
      <p:sp>
        <p:nvSpPr>
          <p:cNvPr id="444" name="Google Shape;444;p13"/>
          <p:cNvSpPr/>
          <p:nvPr/>
        </p:nvSpPr>
        <p:spPr>
          <a:xfrm>
            <a:off x="640080" y="676656"/>
            <a:ext cx="108813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AI-Era Software Measurement</a:t>
            </a:r>
            <a:endParaRPr b="0" i="0" sz="3200" u="none" cap="none" strike="noStrike">
              <a:solidFill>
                <a:schemeClr val="dk1"/>
              </a:solidFill>
              <a:latin typeface="Calibri"/>
              <a:ea typeface="Calibri"/>
              <a:cs typeface="Calibri"/>
              <a:sym typeface="Calibri"/>
            </a:endParaRPr>
          </a:p>
        </p:txBody>
      </p:sp>
      <p:sp>
        <p:nvSpPr>
          <p:cNvPr id="445" name="Google Shape;445;p13"/>
          <p:cNvSpPr/>
          <p:nvPr/>
        </p:nvSpPr>
        <p:spPr>
          <a:xfrm>
            <a:off x="548640" y="638251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900"/>
              <a:buFont typeface="Calibri"/>
              <a:buNone/>
            </a:pPr>
            <a:r>
              <a:rPr b="0" i="0" lang="en-US" sz="900" u="none" cap="none" strike="noStrike">
                <a:solidFill>
                  <a:srgbClr val="5B6B7C"/>
                </a:solidFill>
                <a:latin typeface="Calibri"/>
                <a:ea typeface="Calibri"/>
                <a:cs typeface="Calibri"/>
                <a:sym typeface="Calibri"/>
              </a:rPr>
              <a:t>SOFTWARE METRICS &amp; MEASUREMENT</a:t>
            </a:r>
            <a:endParaRPr b="0" i="0" sz="900" u="none" cap="none" strike="noStrike">
              <a:solidFill>
                <a:schemeClr val="dk1"/>
              </a:solidFill>
              <a:latin typeface="Calibri"/>
              <a:ea typeface="Calibri"/>
              <a:cs typeface="Calibri"/>
              <a:sym typeface="Calibri"/>
            </a:endParaRPr>
          </a:p>
        </p:txBody>
      </p:sp>
      <p:sp>
        <p:nvSpPr>
          <p:cNvPr id="446" name="Google Shape;446;p13"/>
          <p:cNvSpPr/>
          <p:nvPr/>
        </p:nvSpPr>
        <p:spPr>
          <a:xfrm>
            <a:off x="640080" y="146304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robot_white.png" id="447" name="Google Shape;447;p13"/>
          <p:cNvPicPr preferRelativeResize="0"/>
          <p:nvPr/>
        </p:nvPicPr>
        <p:blipFill rotWithShape="1">
          <a:blip r:embed="rId3">
            <a:alphaModFix/>
          </a:blip>
          <a:srcRect b="0" l="0" r="0" t="0"/>
          <a:stretch/>
        </p:blipFill>
        <p:spPr>
          <a:xfrm>
            <a:off x="694944" y="1517904"/>
            <a:ext cx="347472" cy="347472"/>
          </a:xfrm>
          <a:prstGeom prst="rect">
            <a:avLst/>
          </a:prstGeom>
          <a:noFill/>
          <a:ln>
            <a:noFill/>
          </a:ln>
        </p:spPr>
      </p:pic>
      <p:sp>
        <p:nvSpPr>
          <p:cNvPr id="448" name="Google Shape;448;p13"/>
          <p:cNvSpPr/>
          <p:nvPr/>
        </p:nvSpPr>
        <p:spPr>
          <a:xfrm>
            <a:off x="1298448" y="142646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AI-Assisted Productivity</a:t>
            </a:r>
            <a:endParaRPr b="0" i="0" sz="1500" u="none" cap="none" strike="noStrike">
              <a:solidFill>
                <a:schemeClr val="dk1"/>
              </a:solidFill>
              <a:latin typeface="Calibri"/>
              <a:ea typeface="Calibri"/>
              <a:cs typeface="Calibri"/>
              <a:sym typeface="Calibri"/>
            </a:endParaRPr>
          </a:p>
        </p:txBody>
      </p:sp>
      <p:sp>
        <p:nvSpPr>
          <p:cNvPr id="449" name="Google Shape;449;p13"/>
          <p:cNvSpPr/>
          <p:nvPr/>
        </p:nvSpPr>
        <p:spPr>
          <a:xfrm>
            <a:off x="1298448" y="170078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Output gained from AI pair-programming tools.</a:t>
            </a:r>
            <a:endParaRPr b="0" i="0" sz="1150" u="none" cap="none" strike="noStrike">
              <a:solidFill>
                <a:schemeClr val="dk1"/>
              </a:solidFill>
              <a:latin typeface="Calibri"/>
              <a:ea typeface="Calibri"/>
              <a:cs typeface="Calibri"/>
              <a:sym typeface="Calibri"/>
            </a:endParaRPr>
          </a:p>
        </p:txBody>
      </p:sp>
      <p:sp>
        <p:nvSpPr>
          <p:cNvPr id="450" name="Google Shape;450;p13"/>
          <p:cNvSpPr/>
          <p:nvPr/>
        </p:nvSpPr>
        <p:spPr>
          <a:xfrm>
            <a:off x="640080" y="242316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shield_white.png" id="451" name="Google Shape;451;p13"/>
          <p:cNvPicPr preferRelativeResize="0"/>
          <p:nvPr/>
        </p:nvPicPr>
        <p:blipFill rotWithShape="1">
          <a:blip r:embed="rId4">
            <a:alphaModFix/>
          </a:blip>
          <a:srcRect b="0" l="0" r="0" t="0"/>
          <a:stretch/>
        </p:blipFill>
        <p:spPr>
          <a:xfrm>
            <a:off x="694944" y="2478024"/>
            <a:ext cx="347472" cy="347472"/>
          </a:xfrm>
          <a:prstGeom prst="rect">
            <a:avLst/>
          </a:prstGeom>
          <a:noFill/>
          <a:ln>
            <a:noFill/>
          </a:ln>
        </p:spPr>
      </p:pic>
      <p:sp>
        <p:nvSpPr>
          <p:cNvPr id="452" name="Google Shape;452;p13"/>
          <p:cNvSpPr/>
          <p:nvPr/>
        </p:nvSpPr>
        <p:spPr>
          <a:xfrm>
            <a:off x="1298448" y="238658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Code Quality Metrics</a:t>
            </a:r>
            <a:endParaRPr b="0" i="0" sz="1500" u="none" cap="none" strike="noStrike">
              <a:solidFill>
                <a:schemeClr val="dk1"/>
              </a:solidFill>
              <a:latin typeface="Calibri"/>
              <a:ea typeface="Calibri"/>
              <a:cs typeface="Calibri"/>
              <a:sym typeface="Calibri"/>
            </a:endParaRPr>
          </a:p>
        </p:txBody>
      </p:sp>
      <p:sp>
        <p:nvSpPr>
          <p:cNvPr id="453" name="Google Shape;453;p13"/>
          <p:cNvSpPr/>
          <p:nvPr/>
        </p:nvSpPr>
        <p:spPr>
          <a:xfrm>
            <a:off x="1298448" y="266090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Whether AI-written code meets team standards.</a:t>
            </a:r>
            <a:endParaRPr b="0" i="0" sz="1150" u="none" cap="none" strike="noStrike">
              <a:solidFill>
                <a:schemeClr val="dk1"/>
              </a:solidFill>
              <a:latin typeface="Calibri"/>
              <a:ea typeface="Calibri"/>
              <a:cs typeface="Calibri"/>
              <a:sym typeface="Calibri"/>
            </a:endParaRPr>
          </a:p>
        </p:txBody>
      </p:sp>
      <p:sp>
        <p:nvSpPr>
          <p:cNvPr id="454" name="Google Shape;454;p13"/>
          <p:cNvSpPr/>
          <p:nvPr/>
        </p:nvSpPr>
        <p:spPr>
          <a:xfrm>
            <a:off x="640080" y="338328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users_white.png" id="455" name="Google Shape;455;p13"/>
          <p:cNvPicPr preferRelativeResize="0"/>
          <p:nvPr/>
        </p:nvPicPr>
        <p:blipFill rotWithShape="1">
          <a:blip r:embed="rId5">
            <a:alphaModFix/>
          </a:blip>
          <a:srcRect b="0" l="0" r="0" t="0"/>
          <a:stretch/>
        </p:blipFill>
        <p:spPr>
          <a:xfrm>
            <a:off x="694944" y="3438144"/>
            <a:ext cx="347472" cy="347472"/>
          </a:xfrm>
          <a:prstGeom prst="rect">
            <a:avLst/>
          </a:prstGeom>
          <a:noFill/>
          <a:ln>
            <a:noFill/>
          </a:ln>
        </p:spPr>
      </p:pic>
      <p:sp>
        <p:nvSpPr>
          <p:cNvPr id="456" name="Google Shape;456;p13"/>
          <p:cNvSpPr/>
          <p:nvPr/>
        </p:nvSpPr>
        <p:spPr>
          <a:xfrm>
            <a:off x="1298448" y="334670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AI-Generated Code Review</a:t>
            </a:r>
            <a:endParaRPr b="0" i="0" sz="1500" u="none" cap="none" strike="noStrike">
              <a:solidFill>
                <a:schemeClr val="dk1"/>
              </a:solidFill>
              <a:latin typeface="Calibri"/>
              <a:ea typeface="Calibri"/>
              <a:cs typeface="Calibri"/>
              <a:sym typeface="Calibri"/>
            </a:endParaRPr>
          </a:p>
        </p:txBody>
      </p:sp>
      <p:sp>
        <p:nvSpPr>
          <p:cNvPr id="457" name="Google Shape;457;p13"/>
          <p:cNvSpPr/>
          <p:nvPr/>
        </p:nvSpPr>
        <p:spPr>
          <a:xfrm>
            <a:off x="1298448" y="362102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Human review effort spent on AI output.</a:t>
            </a:r>
            <a:endParaRPr b="0" i="0" sz="1150" u="none" cap="none" strike="noStrike">
              <a:solidFill>
                <a:schemeClr val="dk1"/>
              </a:solidFill>
              <a:latin typeface="Calibri"/>
              <a:ea typeface="Calibri"/>
              <a:cs typeface="Calibri"/>
              <a:sym typeface="Calibri"/>
            </a:endParaRPr>
          </a:p>
        </p:txBody>
      </p:sp>
      <p:sp>
        <p:nvSpPr>
          <p:cNvPr id="458" name="Google Shape;458;p13"/>
          <p:cNvSpPr/>
          <p:nvPr/>
        </p:nvSpPr>
        <p:spPr>
          <a:xfrm>
            <a:off x="640080" y="4343400"/>
            <a:ext cx="457200" cy="457200"/>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balance_white.png" id="459" name="Google Shape;459;p13"/>
          <p:cNvPicPr preferRelativeResize="0"/>
          <p:nvPr/>
        </p:nvPicPr>
        <p:blipFill rotWithShape="1">
          <a:blip r:embed="rId6">
            <a:alphaModFix/>
          </a:blip>
          <a:srcRect b="0" l="0" r="0" t="0"/>
          <a:stretch/>
        </p:blipFill>
        <p:spPr>
          <a:xfrm>
            <a:off x="694944" y="4398264"/>
            <a:ext cx="347472" cy="347472"/>
          </a:xfrm>
          <a:prstGeom prst="rect">
            <a:avLst/>
          </a:prstGeom>
          <a:noFill/>
          <a:ln>
            <a:noFill/>
          </a:ln>
        </p:spPr>
      </p:pic>
      <p:sp>
        <p:nvSpPr>
          <p:cNvPr id="460" name="Google Shape;460;p13"/>
          <p:cNvSpPr/>
          <p:nvPr/>
        </p:nvSpPr>
        <p:spPr>
          <a:xfrm>
            <a:off x="1298448" y="4306824"/>
            <a:ext cx="56509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Human Oversight Metrics</a:t>
            </a:r>
            <a:endParaRPr b="0" i="0" sz="1500" u="none" cap="none" strike="noStrike">
              <a:solidFill>
                <a:schemeClr val="dk1"/>
              </a:solidFill>
              <a:latin typeface="Calibri"/>
              <a:ea typeface="Calibri"/>
              <a:cs typeface="Calibri"/>
              <a:sym typeface="Calibri"/>
            </a:endParaRPr>
          </a:p>
        </p:txBody>
      </p:sp>
      <p:sp>
        <p:nvSpPr>
          <p:cNvPr id="461" name="Google Shape;461;p13"/>
          <p:cNvSpPr/>
          <p:nvPr/>
        </p:nvSpPr>
        <p:spPr>
          <a:xfrm>
            <a:off x="1298448" y="4581144"/>
            <a:ext cx="5650992" cy="365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6B7C"/>
              </a:buClr>
              <a:buSzPts val="1150"/>
              <a:buFont typeface="Calibri"/>
              <a:buNone/>
            </a:pPr>
            <a:r>
              <a:rPr b="0" i="0" lang="en-US" sz="1150" u="none" cap="none" strike="noStrike">
                <a:solidFill>
                  <a:srgbClr val="5B6B7C"/>
                </a:solidFill>
                <a:latin typeface="Calibri"/>
                <a:ea typeface="Calibri"/>
                <a:cs typeface="Calibri"/>
                <a:sym typeface="Calibri"/>
              </a:rPr>
              <a:t>How much AI code needs correction.</a:t>
            </a:r>
            <a:endParaRPr b="0" i="0" sz="1150" u="none" cap="none" strike="noStrike">
              <a:solidFill>
                <a:schemeClr val="dk1"/>
              </a:solidFill>
              <a:latin typeface="Calibri"/>
              <a:ea typeface="Calibri"/>
              <a:cs typeface="Calibri"/>
              <a:sym typeface="Calibri"/>
            </a:endParaRPr>
          </a:p>
        </p:txBody>
      </p:sp>
      <p:sp>
        <p:nvSpPr>
          <p:cNvPr id="462" name="Google Shape;462;p13"/>
          <p:cNvSpPr/>
          <p:nvPr/>
        </p:nvSpPr>
        <p:spPr>
          <a:xfrm>
            <a:off x="7269480" y="1463040"/>
            <a:ext cx="4251960" cy="1554480"/>
          </a:xfrm>
          <a:prstGeom prst="roundRect">
            <a:avLst>
              <a:gd fmla="val 4706" name="adj"/>
            </a:avLst>
          </a:prstGeom>
          <a:solidFill>
            <a:srgbClr val="FFFFFF"/>
          </a:solidFill>
          <a:ln cap="flat" cmpd="sng" w="12700">
            <a:solidFill>
              <a:srgbClr val="E1E7EE"/>
            </a:solidFill>
            <a:prstDash val="solid"/>
            <a:round/>
            <a:headEnd len="sm" w="sm" type="none"/>
            <a:tailEnd len="sm" w="sm" type="none"/>
          </a:ln>
          <a:effectLst>
            <a:outerShdw blurRad="76200" rotWithShape="0" algn="bl" dir="5400000" dist="25400">
              <a:srgbClr val="1F2937">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3"/>
          <p:cNvSpPr/>
          <p:nvPr/>
        </p:nvSpPr>
        <p:spPr>
          <a:xfrm>
            <a:off x="7488936" y="1700784"/>
            <a:ext cx="502920" cy="502920"/>
          </a:xfrm>
          <a:prstGeom prst="ellipse">
            <a:avLst/>
          </a:prstGeom>
          <a:solidFill>
            <a:srgbClr val="3E5C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robot_white.png" id="464" name="Google Shape;464;p13"/>
          <p:cNvPicPr preferRelativeResize="0"/>
          <p:nvPr/>
        </p:nvPicPr>
        <p:blipFill rotWithShape="1">
          <a:blip r:embed="rId3">
            <a:alphaModFix/>
          </a:blip>
          <a:srcRect b="0" l="0" r="0" t="0"/>
          <a:stretch/>
        </p:blipFill>
        <p:spPr>
          <a:xfrm>
            <a:off x="7549286" y="1761134"/>
            <a:ext cx="382219" cy="382219"/>
          </a:xfrm>
          <a:prstGeom prst="rect">
            <a:avLst/>
          </a:prstGeom>
          <a:noFill/>
          <a:ln>
            <a:noFill/>
          </a:ln>
        </p:spPr>
      </p:pic>
      <p:sp>
        <p:nvSpPr>
          <p:cNvPr id="465" name="Google Shape;465;p13"/>
          <p:cNvSpPr/>
          <p:nvPr/>
        </p:nvSpPr>
        <p:spPr>
          <a:xfrm>
            <a:off x="8129016" y="1682496"/>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5C76"/>
              </a:buClr>
              <a:buSzPts val="1050"/>
              <a:buFont typeface="Calibri"/>
              <a:buNone/>
            </a:pPr>
            <a:r>
              <a:rPr b="1" i="0" lang="en-US" sz="1050" u="none" cap="none" strike="noStrike">
                <a:solidFill>
                  <a:srgbClr val="3E5C76"/>
                </a:solidFill>
                <a:latin typeface="Calibri"/>
                <a:ea typeface="Calibri"/>
                <a:cs typeface="Calibri"/>
                <a:sym typeface="Calibri"/>
              </a:rPr>
              <a:t>ANALOGY</a:t>
            </a:r>
            <a:endParaRPr b="0" i="0" sz="1050" u="none" cap="none" strike="noStrike">
              <a:solidFill>
                <a:schemeClr val="dk1"/>
              </a:solidFill>
              <a:latin typeface="Calibri"/>
              <a:ea typeface="Calibri"/>
              <a:cs typeface="Calibri"/>
              <a:sym typeface="Calibri"/>
            </a:endParaRPr>
          </a:p>
        </p:txBody>
      </p:sp>
      <p:sp>
        <p:nvSpPr>
          <p:cNvPr id="466" name="Google Shape;466;p13"/>
          <p:cNvSpPr/>
          <p:nvPr/>
        </p:nvSpPr>
        <p:spPr>
          <a:xfrm>
            <a:off x="8129016" y="1920240"/>
            <a:ext cx="3200400" cy="914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2263A"/>
              </a:buClr>
              <a:buSzPts val="1350"/>
              <a:buFont typeface="Calibri"/>
              <a:buNone/>
            </a:pPr>
            <a:r>
              <a:rPr b="0" i="1" lang="en-US" sz="1350" u="none" cap="none" strike="noStrike">
                <a:solidFill>
                  <a:srgbClr val="12263A"/>
                </a:solidFill>
                <a:latin typeface="Calibri"/>
                <a:ea typeface="Calibri"/>
                <a:cs typeface="Calibri"/>
                <a:sym typeface="Calibri"/>
              </a:rPr>
              <a:t>Evaluating a human-and-AI pair-programming team, not just the human.</a:t>
            </a:r>
            <a:endParaRPr b="0" i="0" sz="1350" u="none" cap="none" strike="noStrike">
              <a:solidFill>
                <a:schemeClr val="dk1"/>
              </a:solidFill>
              <a:latin typeface="Calibri"/>
              <a:ea typeface="Calibri"/>
              <a:cs typeface="Calibri"/>
              <a:sym typeface="Calibri"/>
            </a:endParaRPr>
          </a:p>
        </p:txBody>
      </p:sp>
      <p:sp>
        <p:nvSpPr>
          <p:cNvPr id="467" name="Google Shape;467;p13"/>
          <p:cNvSpPr/>
          <p:nvPr/>
        </p:nvSpPr>
        <p:spPr>
          <a:xfrm>
            <a:off x="7269480" y="3337560"/>
            <a:ext cx="4251960" cy="1554480"/>
          </a:xfrm>
          <a:prstGeom prst="roundRect">
            <a:avLst>
              <a:gd fmla="val 4706" name="adj"/>
            </a:avLst>
          </a:prstGeom>
          <a:solidFill>
            <a:srgbClr val="FFFFFF"/>
          </a:solidFill>
          <a:ln cap="flat" cmpd="sng" w="12700">
            <a:solidFill>
              <a:srgbClr val="E1E7EE"/>
            </a:solidFill>
            <a:prstDash val="solid"/>
            <a:round/>
            <a:headEnd len="sm" w="sm" type="none"/>
            <a:tailEnd len="sm" w="sm" type="none"/>
          </a:ln>
          <a:effectLst>
            <a:outerShdw blurRad="76200" rotWithShape="0" algn="bl" dir="5400000" dist="25400">
              <a:srgbClr val="1F2937">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3"/>
          <p:cNvSpPr/>
          <p:nvPr/>
        </p:nvSpPr>
        <p:spPr>
          <a:xfrm>
            <a:off x="7488936" y="3575304"/>
            <a:ext cx="502920" cy="502920"/>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ode_white.png" id="469" name="Google Shape;469;p13"/>
          <p:cNvPicPr preferRelativeResize="0"/>
          <p:nvPr/>
        </p:nvPicPr>
        <p:blipFill rotWithShape="1">
          <a:blip r:embed="rId7">
            <a:alphaModFix/>
          </a:blip>
          <a:srcRect b="0" l="0" r="0" t="0"/>
          <a:stretch/>
        </p:blipFill>
        <p:spPr>
          <a:xfrm>
            <a:off x="7549286" y="3635654"/>
            <a:ext cx="382219" cy="382219"/>
          </a:xfrm>
          <a:prstGeom prst="rect">
            <a:avLst/>
          </a:prstGeom>
          <a:noFill/>
          <a:ln>
            <a:noFill/>
          </a:ln>
        </p:spPr>
      </p:pic>
      <p:sp>
        <p:nvSpPr>
          <p:cNvPr id="470" name="Google Shape;470;p13"/>
          <p:cNvSpPr/>
          <p:nvPr/>
        </p:nvSpPr>
        <p:spPr>
          <a:xfrm>
            <a:off x="8129016" y="3557016"/>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050"/>
              <a:buFont typeface="Calibri"/>
              <a:buNone/>
            </a:pPr>
            <a:r>
              <a:rPr b="1" i="0" lang="en-US" sz="1050" u="none" cap="none" strike="noStrike">
                <a:solidFill>
                  <a:srgbClr val="FF7A00"/>
                </a:solidFill>
                <a:latin typeface="Calibri"/>
                <a:ea typeface="Calibri"/>
                <a:cs typeface="Calibri"/>
                <a:sym typeface="Calibri"/>
              </a:rPr>
              <a:t>PRACTICAL EXAMPLE</a:t>
            </a:r>
            <a:endParaRPr b="0" i="0" sz="1050" u="none" cap="none" strike="noStrike">
              <a:solidFill>
                <a:schemeClr val="dk1"/>
              </a:solidFill>
              <a:latin typeface="Calibri"/>
              <a:ea typeface="Calibri"/>
              <a:cs typeface="Calibri"/>
              <a:sym typeface="Calibri"/>
            </a:endParaRPr>
          </a:p>
        </p:txBody>
      </p:sp>
      <p:sp>
        <p:nvSpPr>
          <p:cNvPr id="471" name="Google Shape;471;p13"/>
          <p:cNvSpPr/>
          <p:nvPr/>
        </p:nvSpPr>
        <p:spPr>
          <a:xfrm>
            <a:off x="8129016" y="3794760"/>
            <a:ext cx="3200400" cy="914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2263A"/>
              </a:buClr>
              <a:buSzPts val="1350"/>
              <a:buFont typeface="Calibri"/>
              <a:buNone/>
            </a:pPr>
            <a:r>
              <a:rPr b="0" i="0" lang="en-US" sz="1350" u="none" cap="none" strike="noStrike">
                <a:solidFill>
                  <a:srgbClr val="12263A"/>
                </a:solidFill>
                <a:latin typeface="Calibri"/>
                <a:ea typeface="Calibri"/>
                <a:cs typeface="Calibri"/>
                <a:sym typeface="Calibri"/>
              </a:rPr>
              <a:t>GitHub reports how often developers keep Copilot's suggestions — a direct, real-world AI acceptance-rate metric.</a:t>
            </a:r>
            <a:endParaRPr b="0" i="0" sz="1350" u="none" cap="none" strike="noStrike">
              <a:solidFill>
                <a:schemeClr val="dk1"/>
              </a:solidFill>
              <a:latin typeface="Calibri"/>
              <a:ea typeface="Calibri"/>
              <a:cs typeface="Calibri"/>
              <a:sym typeface="Calibri"/>
            </a:endParaRPr>
          </a:p>
        </p:txBody>
      </p:sp>
      <p:sp>
        <p:nvSpPr>
          <p:cNvPr id="472" name="Google Shape;472;p13"/>
          <p:cNvSpPr/>
          <p:nvPr/>
        </p:nvSpPr>
        <p:spPr>
          <a:xfrm>
            <a:off x="640080" y="5257800"/>
            <a:ext cx="6309360" cy="960120"/>
          </a:xfrm>
          <a:prstGeom prst="roundRect">
            <a:avLst>
              <a:gd fmla="val 7619" name="adj"/>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3"/>
          <p:cNvSpPr/>
          <p:nvPr/>
        </p:nvSpPr>
        <p:spPr>
          <a:xfrm>
            <a:off x="868680" y="5303520"/>
            <a:ext cx="17373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3400"/>
              <a:buFont typeface="Cambria"/>
              <a:buNone/>
            </a:pPr>
            <a:r>
              <a:rPr b="1" i="0" lang="en-US" sz="3400" u="none" cap="none" strike="noStrike">
                <a:solidFill>
                  <a:srgbClr val="FF7A00"/>
                </a:solidFill>
                <a:latin typeface="Cambria"/>
                <a:ea typeface="Cambria"/>
                <a:cs typeface="Cambria"/>
                <a:sym typeface="Cambria"/>
              </a:rPr>
              <a:t>~35%</a:t>
            </a:r>
            <a:endParaRPr b="0" i="0" sz="3400" u="none" cap="none" strike="noStrike">
              <a:solidFill>
                <a:schemeClr val="dk1"/>
              </a:solidFill>
              <a:latin typeface="Calibri"/>
              <a:ea typeface="Calibri"/>
              <a:cs typeface="Calibri"/>
              <a:sym typeface="Calibri"/>
            </a:endParaRPr>
          </a:p>
        </p:txBody>
      </p:sp>
      <p:sp>
        <p:nvSpPr>
          <p:cNvPr id="474" name="Google Shape;474;p13"/>
          <p:cNvSpPr/>
          <p:nvPr/>
        </p:nvSpPr>
        <p:spPr>
          <a:xfrm>
            <a:off x="2697480" y="5303520"/>
            <a:ext cx="4114800" cy="8686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Illustrative share of a codebase now AI-assisted in some organizations — accepted only after human review.</a:t>
            </a:r>
            <a:endParaRPr b="0" i="0" sz="1150" u="none" cap="none" strike="noStrike">
              <a:solidFill>
                <a:schemeClr val="dk1"/>
              </a:solidFill>
              <a:latin typeface="Calibri"/>
              <a:ea typeface="Calibri"/>
              <a:cs typeface="Calibri"/>
              <a:sym typeface="Calibri"/>
            </a:endParaRPr>
          </a:p>
        </p:txBody>
      </p:sp>
      <p:sp>
        <p:nvSpPr>
          <p:cNvPr id="475" name="Google Shape;475;p13"/>
          <p:cNvSpPr/>
          <p:nvPr/>
        </p:nvSpPr>
        <p:spPr>
          <a:xfrm>
            <a:off x="11505895" y="6291072"/>
            <a:ext cx="384048" cy="384048"/>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3"/>
          <p:cNvSpPr/>
          <p:nvPr/>
        </p:nvSpPr>
        <p:spPr>
          <a:xfrm>
            <a:off x="11505895" y="629107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13</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481" name="Shape 481"/>
        <p:cNvGrpSpPr/>
        <p:nvPr/>
      </p:nvGrpSpPr>
      <p:grpSpPr>
        <a:xfrm>
          <a:off x="0" y="0"/>
          <a:ext cx="0" cy="0"/>
          <a:chOff x="0" y="0"/>
          <a:chExt cx="0" cy="0"/>
        </a:xfrm>
      </p:grpSpPr>
      <p:sp>
        <p:nvSpPr>
          <p:cNvPr id="482" name="Google Shape;482;p14"/>
          <p:cNvSpPr/>
          <p:nvPr/>
        </p:nvSpPr>
        <p:spPr>
          <a:xfrm>
            <a:off x="640080" y="384048"/>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300"/>
              <a:buFont typeface="Calibri"/>
              <a:buNone/>
            </a:pPr>
            <a:r>
              <a:rPr b="1" i="0" lang="en-US" sz="1300" u="none" cap="none" strike="noStrike">
                <a:solidFill>
                  <a:srgbClr val="FF7A00"/>
                </a:solidFill>
                <a:latin typeface="Calibri"/>
                <a:ea typeface="Calibri"/>
                <a:cs typeface="Calibri"/>
                <a:sym typeface="Calibri"/>
              </a:rPr>
              <a:t>06 · CASE STUDY</a:t>
            </a:r>
            <a:endParaRPr b="0" i="0" sz="1300" u="none" cap="none" strike="noStrike">
              <a:solidFill>
                <a:schemeClr val="dk1"/>
              </a:solidFill>
              <a:latin typeface="Calibri"/>
              <a:ea typeface="Calibri"/>
              <a:cs typeface="Calibri"/>
              <a:sym typeface="Calibri"/>
            </a:endParaRPr>
          </a:p>
        </p:txBody>
      </p:sp>
      <p:sp>
        <p:nvSpPr>
          <p:cNvPr id="483" name="Google Shape;483;p14"/>
          <p:cNvSpPr/>
          <p:nvPr/>
        </p:nvSpPr>
        <p:spPr>
          <a:xfrm>
            <a:off x="640080" y="676656"/>
            <a:ext cx="108813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Case Study: Food Delivery App</a:t>
            </a:r>
            <a:endParaRPr b="0" i="0" sz="3200" u="none" cap="none" strike="noStrike">
              <a:solidFill>
                <a:schemeClr val="dk1"/>
              </a:solidFill>
              <a:latin typeface="Calibri"/>
              <a:ea typeface="Calibri"/>
              <a:cs typeface="Calibri"/>
              <a:sym typeface="Calibri"/>
            </a:endParaRPr>
          </a:p>
        </p:txBody>
      </p:sp>
      <p:sp>
        <p:nvSpPr>
          <p:cNvPr id="484" name="Google Shape;484;p14"/>
          <p:cNvSpPr/>
          <p:nvPr/>
        </p:nvSpPr>
        <p:spPr>
          <a:xfrm>
            <a:off x="548640" y="638251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900"/>
              <a:buFont typeface="Calibri"/>
              <a:buNone/>
            </a:pPr>
            <a:r>
              <a:rPr b="0" i="0" lang="en-US" sz="900" u="none" cap="none" strike="noStrike">
                <a:solidFill>
                  <a:srgbClr val="5B6B7C"/>
                </a:solidFill>
                <a:latin typeface="Calibri"/>
                <a:ea typeface="Calibri"/>
                <a:cs typeface="Calibri"/>
                <a:sym typeface="Calibri"/>
              </a:rPr>
              <a:t>SOFTWARE METRICS &amp; MEASUREMENT</a:t>
            </a:r>
            <a:endParaRPr b="0" i="0" sz="900" u="none" cap="none" strike="noStrike">
              <a:solidFill>
                <a:schemeClr val="dk1"/>
              </a:solidFill>
              <a:latin typeface="Calibri"/>
              <a:ea typeface="Calibri"/>
              <a:cs typeface="Calibri"/>
              <a:sym typeface="Calibri"/>
            </a:endParaRPr>
          </a:p>
        </p:txBody>
      </p:sp>
      <p:sp>
        <p:nvSpPr>
          <p:cNvPr id="485" name="Google Shape;485;p14"/>
          <p:cNvSpPr/>
          <p:nvPr/>
        </p:nvSpPr>
        <p:spPr>
          <a:xfrm>
            <a:off x="640080" y="1463040"/>
            <a:ext cx="5349240" cy="2148840"/>
          </a:xfrm>
          <a:prstGeom prst="roundRect">
            <a:avLst>
              <a:gd fmla="val 4255" name="adj"/>
            </a:avLst>
          </a:prstGeom>
          <a:solidFill>
            <a:srgbClr val="FFFFFF"/>
          </a:solidFill>
          <a:ln cap="flat" cmpd="sng" w="12700">
            <a:solidFill>
              <a:srgbClr val="E1E7EE"/>
            </a:solidFill>
            <a:prstDash val="solid"/>
            <a:round/>
            <a:headEnd len="sm" w="sm" type="none"/>
            <a:tailEnd len="sm" w="sm" type="none"/>
          </a:ln>
          <a:effectLst>
            <a:outerShdw blurRad="63500" rotWithShape="0" algn="bl" dir="5400000" dist="25400">
              <a:srgbClr val="1F2937">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4"/>
          <p:cNvSpPr/>
          <p:nvPr/>
        </p:nvSpPr>
        <p:spPr>
          <a:xfrm>
            <a:off x="896112" y="1719072"/>
            <a:ext cx="530352" cy="530352"/>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mobile_white.png" id="487" name="Google Shape;487;p14"/>
          <p:cNvPicPr preferRelativeResize="0"/>
          <p:nvPr/>
        </p:nvPicPr>
        <p:blipFill rotWithShape="1">
          <a:blip r:embed="rId3">
            <a:alphaModFix/>
          </a:blip>
          <a:srcRect b="0" l="0" r="0" t="0"/>
          <a:stretch/>
        </p:blipFill>
        <p:spPr>
          <a:xfrm>
            <a:off x="959754" y="1782714"/>
            <a:ext cx="403068" cy="403068"/>
          </a:xfrm>
          <a:prstGeom prst="rect">
            <a:avLst/>
          </a:prstGeom>
          <a:noFill/>
          <a:ln>
            <a:noFill/>
          </a:ln>
        </p:spPr>
      </p:pic>
      <p:sp>
        <p:nvSpPr>
          <p:cNvPr id="488" name="Google Shape;488;p14"/>
          <p:cNvSpPr/>
          <p:nvPr/>
        </p:nvSpPr>
        <p:spPr>
          <a:xfrm>
            <a:off x="1572768" y="1737360"/>
            <a:ext cx="42062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650"/>
              <a:buFont typeface="Calibri"/>
              <a:buNone/>
            </a:pPr>
            <a:r>
              <a:rPr b="1" i="0" lang="en-US" sz="1650" u="none" cap="none" strike="noStrike">
                <a:solidFill>
                  <a:srgbClr val="12263A"/>
                </a:solidFill>
                <a:latin typeface="Calibri"/>
                <a:ea typeface="Calibri"/>
                <a:cs typeface="Calibri"/>
                <a:sym typeface="Calibri"/>
              </a:rPr>
              <a:t>Product Metrics</a:t>
            </a:r>
            <a:endParaRPr b="0" i="0" sz="1650" u="none" cap="none" strike="noStrike">
              <a:solidFill>
                <a:schemeClr val="dk1"/>
              </a:solidFill>
              <a:latin typeface="Calibri"/>
              <a:ea typeface="Calibri"/>
              <a:cs typeface="Calibri"/>
              <a:sym typeface="Calibri"/>
            </a:endParaRPr>
          </a:p>
        </p:txBody>
      </p:sp>
      <p:sp>
        <p:nvSpPr>
          <p:cNvPr id="489" name="Google Shape;489;p14"/>
          <p:cNvSpPr/>
          <p:nvPr/>
        </p:nvSpPr>
        <p:spPr>
          <a:xfrm>
            <a:off x="914400" y="2606040"/>
            <a:ext cx="91440" cy="91440"/>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4"/>
          <p:cNvSpPr/>
          <p:nvPr/>
        </p:nvSpPr>
        <p:spPr>
          <a:xfrm>
            <a:off x="1115568" y="2468880"/>
            <a:ext cx="4617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1300"/>
              <a:buFont typeface="Calibri"/>
              <a:buNone/>
            </a:pPr>
            <a:r>
              <a:rPr b="0" i="0" lang="en-US" sz="1300" u="none" cap="none" strike="noStrike">
                <a:solidFill>
                  <a:srgbClr val="5B6B7C"/>
                </a:solidFill>
                <a:latin typeface="Calibri"/>
                <a:ea typeface="Calibri"/>
                <a:cs typeface="Calibri"/>
                <a:sym typeface="Calibri"/>
              </a:rPr>
              <a:t>App crash rate per session</a:t>
            </a:r>
            <a:endParaRPr b="0" i="0" sz="1300" u="none" cap="none" strike="noStrike">
              <a:solidFill>
                <a:schemeClr val="dk1"/>
              </a:solidFill>
              <a:latin typeface="Calibri"/>
              <a:ea typeface="Calibri"/>
              <a:cs typeface="Calibri"/>
              <a:sym typeface="Calibri"/>
            </a:endParaRPr>
          </a:p>
        </p:txBody>
      </p:sp>
      <p:sp>
        <p:nvSpPr>
          <p:cNvPr id="491" name="Google Shape;491;p14"/>
          <p:cNvSpPr/>
          <p:nvPr/>
        </p:nvSpPr>
        <p:spPr>
          <a:xfrm>
            <a:off x="914400" y="3136392"/>
            <a:ext cx="91440" cy="91440"/>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4"/>
          <p:cNvSpPr/>
          <p:nvPr/>
        </p:nvSpPr>
        <p:spPr>
          <a:xfrm>
            <a:off x="1115568" y="2999232"/>
            <a:ext cx="4617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1300"/>
              <a:buFont typeface="Calibri"/>
              <a:buNone/>
            </a:pPr>
            <a:r>
              <a:rPr b="0" i="0" lang="en-US" sz="1300" u="none" cap="none" strike="noStrike">
                <a:solidFill>
                  <a:srgbClr val="5B6B7C"/>
                </a:solidFill>
                <a:latin typeface="Calibri"/>
                <a:ea typeface="Calibri"/>
                <a:cs typeface="Calibri"/>
                <a:sym typeface="Calibri"/>
              </a:rPr>
              <a:t>Order-to-delivery ETA accuracy</a:t>
            </a:r>
            <a:endParaRPr b="0" i="0" sz="1300" u="none" cap="none" strike="noStrike">
              <a:solidFill>
                <a:schemeClr val="dk1"/>
              </a:solidFill>
              <a:latin typeface="Calibri"/>
              <a:ea typeface="Calibri"/>
              <a:cs typeface="Calibri"/>
              <a:sym typeface="Calibri"/>
            </a:endParaRPr>
          </a:p>
        </p:txBody>
      </p:sp>
      <p:sp>
        <p:nvSpPr>
          <p:cNvPr id="493" name="Google Shape;493;p14"/>
          <p:cNvSpPr/>
          <p:nvPr/>
        </p:nvSpPr>
        <p:spPr>
          <a:xfrm>
            <a:off x="6245352" y="1463040"/>
            <a:ext cx="5349240" cy="2148840"/>
          </a:xfrm>
          <a:prstGeom prst="roundRect">
            <a:avLst>
              <a:gd fmla="val 4255" name="adj"/>
            </a:avLst>
          </a:prstGeom>
          <a:solidFill>
            <a:srgbClr val="FFFFFF"/>
          </a:solidFill>
          <a:ln cap="flat" cmpd="sng" w="12700">
            <a:solidFill>
              <a:srgbClr val="E1E7EE"/>
            </a:solidFill>
            <a:prstDash val="solid"/>
            <a:round/>
            <a:headEnd len="sm" w="sm" type="none"/>
            <a:tailEnd len="sm" w="sm" type="none"/>
          </a:ln>
          <a:effectLst>
            <a:outerShdw blurRad="63500" rotWithShape="0" algn="bl" dir="5400000" dist="25400">
              <a:srgbClr val="1F2937">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4"/>
          <p:cNvSpPr/>
          <p:nvPr/>
        </p:nvSpPr>
        <p:spPr>
          <a:xfrm>
            <a:off x="6501384" y="1719072"/>
            <a:ext cx="530352" cy="530352"/>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industry_white.png" id="495" name="Google Shape;495;p14"/>
          <p:cNvPicPr preferRelativeResize="0"/>
          <p:nvPr/>
        </p:nvPicPr>
        <p:blipFill rotWithShape="1">
          <a:blip r:embed="rId4">
            <a:alphaModFix/>
          </a:blip>
          <a:srcRect b="0" l="0" r="0" t="0"/>
          <a:stretch/>
        </p:blipFill>
        <p:spPr>
          <a:xfrm>
            <a:off x="6565026" y="1782714"/>
            <a:ext cx="403068" cy="403068"/>
          </a:xfrm>
          <a:prstGeom prst="rect">
            <a:avLst/>
          </a:prstGeom>
          <a:noFill/>
          <a:ln>
            <a:noFill/>
          </a:ln>
        </p:spPr>
      </p:pic>
      <p:sp>
        <p:nvSpPr>
          <p:cNvPr id="496" name="Google Shape;496;p14"/>
          <p:cNvSpPr/>
          <p:nvPr/>
        </p:nvSpPr>
        <p:spPr>
          <a:xfrm>
            <a:off x="7178040" y="1737360"/>
            <a:ext cx="42062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650"/>
              <a:buFont typeface="Calibri"/>
              <a:buNone/>
            </a:pPr>
            <a:r>
              <a:rPr b="1" i="0" lang="en-US" sz="1650" u="none" cap="none" strike="noStrike">
                <a:solidFill>
                  <a:srgbClr val="12263A"/>
                </a:solidFill>
                <a:latin typeface="Calibri"/>
                <a:ea typeface="Calibri"/>
                <a:cs typeface="Calibri"/>
                <a:sym typeface="Calibri"/>
              </a:rPr>
              <a:t>Process Metrics</a:t>
            </a:r>
            <a:endParaRPr b="0" i="0" sz="1650" u="none" cap="none" strike="noStrike">
              <a:solidFill>
                <a:schemeClr val="dk1"/>
              </a:solidFill>
              <a:latin typeface="Calibri"/>
              <a:ea typeface="Calibri"/>
              <a:cs typeface="Calibri"/>
              <a:sym typeface="Calibri"/>
            </a:endParaRPr>
          </a:p>
        </p:txBody>
      </p:sp>
      <p:sp>
        <p:nvSpPr>
          <p:cNvPr id="497" name="Google Shape;497;p14"/>
          <p:cNvSpPr/>
          <p:nvPr/>
        </p:nvSpPr>
        <p:spPr>
          <a:xfrm>
            <a:off x="6519672" y="2606040"/>
            <a:ext cx="91440" cy="91440"/>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4"/>
          <p:cNvSpPr/>
          <p:nvPr/>
        </p:nvSpPr>
        <p:spPr>
          <a:xfrm>
            <a:off x="6720840" y="2468880"/>
            <a:ext cx="4617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1300"/>
              <a:buFont typeface="Calibri"/>
              <a:buNone/>
            </a:pPr>
            <a:r>
              <a:rPr b="0" i="0" lang="en-US" sz="1300" u="none" cap="none" strike="noStrike">
                <a:solidFill>
                  <a:srgbClr val="5B6B7C"/>
                </a:solidFill>
                <a:latin typeface="Calibri"/>
                <a:ea typeface="Calibri"/>
                <a:cs typeface="Calibri"/>
                <a:sym typeface="Calibri"/>
              </a:rPr>
              <a:t>Checkout defect rate per release</a:t>
            </a:r>
            <a:endParaRPr b="0" i="0" sz="1300" u="none" cap="none" strike="noStrike">
              <a:solidFill>
                <a:schemeClr val="dk1"/>
              </a:solidFill>
              <a:latin typeface="Calibri"/>
              <a:ea typeface="Calibri"/>
              <a:cs typeface="Calibri"/>
              <a:sym typeface="Calibri"/>
            </a:endParaRPr>
          </a:p>
        </p:txBody>
      </p:sp>
      <p:sp>
        <p:nvSpPr>
          <p:cNvPr id="499" name="Google Shape;499;p14"/>
          <p:cNvSpPr/>
          <p:nvPr/>
        </p:nvSpPr>
        <p:spPr>
          <a:xfrm>
            <a:off x="6519672" y="3136392"/>
            <a:ext cx="91440" cy="91440"/>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4"/>
          <p:cNvSpPr/>
          <p:nvPr/>
        </p:nvSpPr>
        <p:spPr>
          <a:xfrm>
            <a:off x="6720840" y="2999232"/>
            <a:ext cx="4617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1300"/>
              <a:buFont typeface="Calibri"/>
              <a:buNone/>
            </a:pPr>
            <a:r>
              <a:rPr b="0" i="0" lang="en-US" sz="1300" u="none" cap="none" strike="noStrike">
                <a:solidFill>
                  <a:srgbClr val="5B6B7C"/>
                </a:solidFill>
                <a:latin typeface="Calibri"/>
                <a:ea typeface="Calibri"/>
                <a:cs typeface="Calibri"/>
                <a:sym typeface="Calibri"/>
              </a:rPr>
              <a:t>Code review cycle time</a:t>
            </a:r>
            <a:endParaRPr b="0" i="0" sz="1300" u="none" cap="none" strike="noStrike">
              <a:solidFill>
                <a:schemeClr val="dk1"/>
              </a:solidFill>
              <a:latin typeface="Calibri"/>
              <a:ea typeface="Calibri"/>
              <a:cs typeface="Calibri"/>
              <a:sym typeface="Calibri"/>
            </a:endParaRPr>
          </a:p>
        </p:txBody>
      </p:sp>
      <p:sp>
        <p:nvSpPr>
          <p:cNvPr id="501" name="Google Shape;501;p14"/>
          <p:cNvSpPr/>
          <p:nvPr/>
        </p:nvSpPr>
        <p:spPr>
          <a:xfrm>
            <a:off x="640080" y="3867912"/>
            <a:ext cx="5349240" cy="2148840"/>
          </a:xfrm>
          <a:prstGeom prst="roundRect">
            <a:avLst>
              <a:gd fmla="val 4255" name="adj"/>
            </a:avLst>
          </a:prstGeom>
          <a:solidFill>
            <a:srgbClr val="FFFFFF"/>
          </a:solidFill>
          <a:ln cap="flat" cmpd="sng" w="12700">
            <a:solidFill>
              <a:srgbClr val="E1E7EE"/>
            </a:solidFill>
            <a:prstDash val="solid"/>
            <a:round/>
            <a:headEnd len="sm" w="sm" type="none"/>
            <a:tailEnd len="sm" w="sm" type="none"/>
          </a:ln>
          <a:effectLst>
            <a:outerShdw blurRad="63500" rotWithShape="0" algn="bl" dir="5400000" dist="25400">
              <a:srgbClr val="1F2937">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4"/>
          <p:cNvSpPr/>
          <p:nvPr/>
        </p:nvSpPr>
        <p:spPr>
          <a:xfrm>
            <a:off x="896112" y="4123944"/>
            <a:ext cx="530352" cy="530352"/>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hardhat_white.png" id="503" name="Google Shape;503;p14"/>
          <p:cNvPicPr preferRelativeResize="0"/>
          <p:nvPr/>
        </p:nvPicPr>
        <p:blipFill rotWithShape="1">
          <a:blip r:embed="rId5">
            <a:alphaModFix/>
          </a:blip>
          <a:srcRect b="0" l="0" r="0" t="0"/>
          <a:stretch/>
        </p:blipFill>
        <p:spPr>
          <a:xfrm>
            <a:off x="959754" y="4187586"/>
            <a:ext cx="403068" cy="403068"/>
          </a:xfrm>
          <a:prstGeom prst="rect">
            <a:avLst/>
          </a:prstGeom>
          <a:noFill/>
          <a:ln>
            <a:noFill/>
          </a:ln>
        </p:spPr>
      </p:pic>
      <p:sp>
        <p:nvSpPr>
          <p:cNvPr id="504" name="Google Shape;504;p14"/>
          <p:cNvSpPr/>
          <p:nvPr/>
        </p:nvSpPr>
        <p:spPr>
          <a:xfrm>
            <a:off x="1572768" y="4142232"/>
            <a:ext cx="42062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650"/>
              <a:buFont typeface="Calibri"/>
              <a:buNone/>
            </a:pPr>
            <a:r>
              <a:rPr b="1" i="0" lang="en-US" sz="1650" u="none" cap="none" strike="noStrike">
                <a:solidFill>
                  <a:srgbClr val="12263A"/>
                </a:solidFill>
                <a:latin typeface="Calibri"/>
                <a:ea typeface="Calibri"/>
                <a:cs typeface="Calibri"/>
                <a:sym typeface="Calibri"/>
              </a:rPr>
              <a:t>Project Metrics</a:t>
            </a:r>
            <a:endParaRPr b="0" i="0" sz="1650" u="none" cap="none" strike="noStrike">
              <a:solidFill>
                <a:schemeClr val="dk1"/>
              </a:solidFill>
              <a:latin typeface="Calibri"/>
              <a:ea typeface="Calibri"/>
              <a:cs typeface="Calibri"/>
              <a:sym typeface="Calibri"/>
            </a:endParaRPr>
          </a:p>
        </p:txBody>
      </p:sp>
      <p:sp>
        <p:nvSpPr>
          <p:cNvPr id="505" name="Google Shape;505;p14"/>
          <p:cNvSpPr/>
          <p:nvPr/>
        </p:nvSpPr>
        <p:spPr>
          <a:xfrm>
            <a:off x="914400" y="5010912"/>
            <a:ext cx="91440" cy="91440"/>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4"/>
          <p:cNvSpPr/>
          <p:nvPr/>
        </p:nvSpPr>
        <p:spPr>
          <a:xfrm>
            <a:off x="1115568" y="4873752"/>
            <a:ext cx="4617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1300"/>
              <a:buFont typeface="Calibri"/>
              <a:buNone/>
            </a:pPr>
            <a:r>
              <a:rPr b="0" i="0" lang="en-US" sz="1300" u="none" cap="none" strike="noStrike">
                <a:solidFill>
                  <a:srgbClr val="5B6B7C"/>
                </a:solidFill>
                <a:latin typeface="Calibri"/>
                <a:ea typeface="Calibri"/>
                <a:cs typeface="Calibri"/>
                <a:sym typeface="Calibri"/>
              </a:rPr>
              <a:t>Budget variance this quarter</a:t>
            </a:r>
            <a:endParaRPr b="0" i="0" sz="1300" u="none" cap="none" strike="noStrike">
              <a:solidFill>
                <a:schemeClr val="dk1"/>
              </a:solidFill>
              <a:latin typeface="Calibri"/>
              <a:ea typeface="Calibri"/>
              <a:cs typeface="Calibri"/>
              <a:sym typeface="Calibri"/>
            </a:endParaRPr>
          </a:p>
        </p:txBody>
      </p:sp>
      <p:sp>
        <p:nvSpPr>
          <p:cNvPr id="507" name="Google Shape;507;p14"/>
          <p:cNvSpPr/>
          <p:nvPr/>
        </p:nvSpPr>
        <p:spPr>
          <a:xfrm>
            <a:off x="914400" y="5541264"/>
            <a:ext cx="91440" cy="91440"/>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4"/>
          <p:cNvSpPr/>
          <p:nvPr/>
        </p:nvSpPr>
        <p:spPr>
          <a:xfrm>
            <a:off x="1115568" y="5404104"/>
            <a:ext cx="4617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1300"/>
              <a:buFont typeface="Calibri"/>
              <a:buNone/>
            </a:pPr>
            <a:r>
              <a:rPr b="0" i="0" lang="en-US" sz="1300" u="none" cap="none" strike="noStrike">
                <a:solidFill>
                  <a:srgbClr val="5B6B7C"/>
                </a:solidFill>
                <a:latin typeface="Calibri"/>
                <a:ea typeface="Calibri"/>
                <a:cs typeface="Calibri"/>
                <a:sym typeface="Calibri"/>
              </a:rPr>
              <a:t>Sprint completion rate</a:t>
            </a:r>
            <a:endParaRPr b="0" i="0" sz="1300" u="none" cap="none" strike="noStrike">
              <a:solidFill>
                <a:schemeClr val="dk1"/>
              </a:solidFill>
              <a:latin typeface="Calibri"/>
              <a:ea typeface="Calibri"/>
              <a:cs typeface="Calibri"/>
              <a:sym typeface="Calibri"/>
            </a:endParaRPr>
          </a:p>
        </p:txBody>
      </p:sp>
      <p:sp>
        <p:nvSpPr>
          <p:cNvPr id="509" name="Google Shape;509;p14"/>
          <p:cNvSpPr/>
          <p:nvPr/>
        </p:nvSpPr>
        <p:spPr>
          <a:xfrm>
            <a:off x="6245352" y="3867912"/>
            <a:ext cx="5349240" cy="2148840"/>
          </a:xfrm>
          <a:prstGeom prst="roundRect">
            <a:avLst>
              <a:gd fmla="val 4255" name="adj"/>
            </a:avLst>
          </a:prstGeom>
          <a:solidFill>
            <a:srgbClr val="FFFFFF"/>
          </a:solidFill>
          <a:ln cap="flat" cmpd="sng" w="12700">
            <a:solidFill>
              <a:srgbClr val="E1E7EE"/>
            </a:solidFill>
            <a:prstDash val="solid"/>
            <a:round/>
            <a:headEnd len="sm" w="sm" type="none"/>
            <a:tailEnd len="sm" w="sm" type="none"/>
          </a:ln>
          <a:effectLst>
            <a:outerShdw blurRad="63500" rotWithShape="0" algn="bl" dir="5400000" dist="25400">
              <a:srgbClr val="1F2937">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4"/>
          <p:cNvSpPr/>
          <p:nvPr/>
        </p:nvSpPr>
        <p:spPr>
          <a:xfrm>
            <a:off x="6501384" y="4123944"/>
            <a:ext cx="530352" cy="530352"/>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hospital_white.png" id="511" name="Google Shape;511;p14"/>
          <p:cNvPicPr preferRelativeResize="0"/>
          <p:nvPr/>
        </p:nvPicPr>
        <p:blipFill rotWithShape="1">
          <a:blip r:embed="rId6">
            <a:alphaModFix/>
          </a:blip>
          <a:srcRect b="0" l="0" r="0" t="0"/>
          <a:stretch/>
        </p:blipFill>
        <p:spPr>
          <a:xfrm>
            <a:off x="6565026" y="4187586"/>
            <a:ext cx="403068" cy="403068"/>
          </a:xfrm>
          <a:prstGeom prst="rect">
            <a:avLst/>
          </a:prstGeom>
          <a:noFill/>
          <a:ln>
            <a:noFill/>
          </a:ln>
        </p:spPr>
      </p:pic>
      <p:sp>
        <p:nvSpPr>
          <p:cNvPr id="512" name="Google Shape;512;p14"/>
          <p:cNvSpPr/>
          <p:nvPr/>
        </p:nvSpPr>
        <p:spPr>
          <a:xfrm>
            <a:off x="7178040" y="4142232"/>
            <a:ext cx="42062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650"/>
              <a:buFont typeface="Calibri"/>
              <a:buNone/>
            </a:pPr>
            <a:r>
              <a:rPr b="1" i="0" lang="en-US" sz="1650" u="none" cap="none" strike="noStrike">
                <a:solidFill>
                  <a:srgbClr val="12263A"/>
                </a:solidFill>
                <a:latin typeface="Calibri"/>
                <a:ea typeface="Calibri"/>
                <a:cs typeface="Calibri"/>
                <a:sym typeface="Calibri"/>
              </a:rPr>
              <a:t>DORA Metrics</a:t>
            </a:r>
            <a:endParaRPr b="0" i="0" sz="1650" u="none" cap="none" strike="noStrike">
              <a:solidFill>
                <a:schemeClr val="dk1"/>
              </a:solidFill>
              <a:latin typeface="Calibri"/>
              <a:ea typeface="Calibri"/>
              <a:cs typeface="Calibri"/>
              <a:sym typeface="Calibri"/>
            </a:endParaRPr>
          </a:p>
        </p:txBody>
      </p:sp>
      <p:sp>
        <p:nvSpPr>
          <p:cNvPr id="513" name="Google Shape;513;p14"/>
          <p:cNvSpPr/>
          <p:nvPr/>
        </p:nvSpPr>
        <p:spPr>
          <a:xfrm>
            <a:off x="6519672" y="5010912"/>
            <a:ext cx="91440" cy="91440"/>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4"/>
          <p:cNvSpPr/>
          <p:nvPr/>
        </p:nvSpPr>
        <p:spPr>
          <a:xfrm>
            <a:off x="6720840" y="4873752"/>
            <a:ext cx="4617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1300"/>
              <a:buFont typeface="Calibri"/>
              <a:buNone/>
            </a:pPr>
            <a:r>
              <a:rPr b="0" i="0" lang="en-US" sz="1300" u="none" cap="none" strike="noStrike">
                <a:solidFill>
                  <a:srgbClr val="5B6B7C"/>
                </a:solidFill>
                <a:latin typeface="Calibri"/>
                <a:ea typeface="Calibri"/>
                <a:cs typeface="Calibri"/>
                <a:sym typeface="Calibri"/>
              </a:rPr>
              <a:t>Deployments per week</a:t>
            </a:r>
            <a:endParaRPr b="0" i="0" sz="1300" u="none" cap="none" strike="noStrike">
              <a:solidFill>
                <a:schemeClr val="dk1"/>
              </a:solidFill>
              <a:latin typeface="Calibri"/>
              <a:ea typeface="Calibri"/>
              <a:cs typeface="Calibri"/>
              <a:sym typeface="Calibri"/>
            </a:endParaRPr>
          </a:p>
        </p:txBody>
      </p:sp>
      <p:sp>
        <p:nvSpPr>
          <p:cNvPr id="515" name="Google Shape;515;p14"/>
          <p:cNvSpPr/>
          <p:nvPr/>
        </p:nvSpPr>
        <p:spPr>
          <a:xfrm>
            <a:off x="6519672" y="5541264"/>
            <a:ext cx="91440" cy="91440"/>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4"/>
          <p:cNvSpPr/>
          <p:nvPr/>
        </p:nvSpPr>
        <p:spPr>
          <a:xfrm>
            <a:off x="6720840" y="5404104"/>
            <a:ext cx="4617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1300"/>
              <a:buFont typeface="Calibri"/>
              <a:buNone/>
            </a:pPr>
            <a:r>
              <a:rPr b="0" i="0" lang="en-US" sz="1300" u="none" cap="none" strike="noStrike">
                <a:solidFill>
                  <a:srgbClr val="5B6B7C"/>
                </a:solidFill>
                <a:latin typeface="Calibri"/>
                <a:ea typeface="Calibri"/>
                <a:cs typeface="Calibri"/>
                <a:sym typeface="Calibri"/>
              </a:rPr>
              <a:t>MTTR after an outage</a:t>
            </a:r>
            <a:endParaRPr b="0" i="0" sz="1300" u="none" cap="none" strike="noStrike">
              <a:solidFill>
                <a:schemeClr val="dk1"/>
              </a:solidFill>
              <a:latin typeface="Calibri"/>
              <a:ea typeface="Calibri"/>
              <a:cs typeface="Calibri"/>
              <a:sym typeface="Calibri"/>
            </a:endParaRPr>
          </a:p>
        </p:txBody>
      </p:sp>
      <p:sp>
        <p:nvSpPr>
          <p:cNvPr id="517" name="Google Shape;517;p14"/>
          <p:cNvSpPr/>
          <p:nvPr/>
        </p:nvSpPr>
        <p:spPr>
          <a:xfrm>
            <a:off x="11505895" y="6291072"/>
            <a:ext cx="384048" cy="384048"/>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4"/>
          <p:cNvSpPr/>
          <p:nvPr/>
        </p:nvSpPr>
        <p:spPr>
          <a:xfrm>
            <a:off x="11505895" y="629107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263A"/>
        </a:solidFill>
      </p:bgPr>
    </p:bg>
    <p:spTree>
      <p:nvGrpSpPr>
        <p:cNvPr id="523" name="Shape 523"/>
        <p:cNvGrpSpPr/>
        <p:nvPr/>
      </p:nvGrpSpPr>
      <p:grpSpPr>
        <a:xfrm>
          <a:off x="0" y="0"/>
          <a:ext cx="0" cy="0"/>
          <a:chOff x="0" y="0"/>
          <a:chExt cx="0" cy="0"/>
        </a:xfrm>
      </p:grpSpPr>
      <p:sp>
        <p:nvSpPr>
          <p:cNvPr id="524" name="Google Shape;524;p15"/>
          <p:cNvSpPr/>
          <p:nvPr/>
        </p:nvSpPr>
        <p:spPr>
          <a:xfrm>
            <a:off x="640080" y="384048"/>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300"/>
              <a:buFont typeface="Calibri"/>
              <a:buNone/>
            </a:pPr>
            <a:r>
              <a:rPr b="1" i="0" lang="en-US" sz="1300" u="none" cap="none" strike="noStrike">
                <a:solidFill>
                  <a:srgbClr val="FF7A00"/>
                </a:solidFill>
                <a:latin typeface="Calibri"/>
                <a:ea typeface="Calibri"/>
                <a:cs typeface="Calibri"/>
                <a:sym typeface="Calibri"/>
              </a:rPr>
              <a:t>07 · WRAP-UP</a:t>
            </a:r>
            <a:endParaRPr b="0" i="0" sz="1300" u="none" cap="none" strike="noStrike">
              <a:solidFill>
                <a:schemeClr val="dk1"/>
              </a:solidFill>
              <a:latin typeface="Calibri"/>
              <a:ea typeface="Calibri"/>
              <a:cs typeface="Calibri"/>
              <a:sym typeface="Calibri"/>
            </a:endParaRPr>
          </a:p>
        </p:txBody>
      </p:sp>
      <p:sp>
        <p:nvSpPr>
          <p:cNvPr id="525" name="Google Shape;525;p15"/>
          <p:cNvSpPr/>
          <p:nvPr/>
        </p:nvSpPr>
        <p:spPr>
          <a:xfrm>
            <a:off x="640080" y="676656"/>
            <a:ext cx="108813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Discussion &amp; Reflection</a:t>
            </a:r>
            <a:endParaRPr b="0" i="0" sz="3200" u="none" cap="none" strike="noStrike">
              <a:solidFill>
                <a:schemeClr val="dk1"/>
              </a:solidFill>
              <a:latin typeface="Calibri"/>
              <a:ea typeface="Calibri"/>
              <a:cs typeface="Calibri"/>
              <a:sym typeface="Calibri"/>
            </a:endParaRPr>
          </a:p>
        </p:txBody>
      </p:sp>
      <p:sp>
        <p:nvSpPr>
          <p:cNvPr id="526" name="Google Shape;526;p15"/>
          <p:cNvSpPr/>
          <p:nvPr/>
        </p:nvSpPr>
        <p:spPr>
          <a:xfrm>
            <a:off x="548640" y="638251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900"/>
              <a:buFont typeface="Calibri"/>
              <a:buNone/>
            </a:pPr>
            <a:r>
              <a:rPr b="0" i="0" lang="en-US" sz="900" u="none" cap="none" strike="noStrike">
                <a:solidFill>
                  <a:srgbClr val="CADCFC"/>
                </a:solidFill>
                <a:latin typeface="Calibri"/>
                <a:ea typeface="Calibri"/>
                <a:cs typeface="Calibri"/>
                <a:sym typeface="Calibri"/>
              </a:rPr>
              <a:t>SOFTWARE METRICS &amp; MEASUREMENT</a:t>
            </a:r>
            <a:endParaRPr b="0" i="0" sz="900" u="none" cap="none" strike="noStrike">
              <a:solidFill>
                <a:schemeClr val="dk1"/>
              </a:solidFill>
              <a:latin typeface="Calibri"/>
              <a:ea typeface="Calibri"/>
              <a:cs typeface="Calibri"/>
              <a:sym typeface="Calibri"/>
            </a:endParaRPr>
          </a:p>
        </p:txBody>
      </p:sp>
      <p:sp>
        <p:nvSpPr>
          <p:cNvPr id="527" name="Google Shape;527;p15"/>
          <p:cNvSpPr/>
          <p:nvPr/>
        </p:nvSpPr>
        <p:spPr>
          <a:xfrm>
            <a:off x="640080" y="132588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200"/>
              <a:buFont typeface="Calibri"/>
              <a:buNone/>
            </a:pPr>
            <a:r>
              <a:rPr b="1" i="0" lang="en-US" sz="1200" u="none" cap="none" strike="noStrike">
                <a:solidFill>
                  <a:srgbClr val="FF7A00"/>
                </a:solidFill>
                <a:latin typeface="Calibri"/>
                <a:ea typeface="Calibri"/>
                <a:cs typeface="Calibri"/>
                <a:sym typeface="Calibri"/>
              </a:rPr>
              <a:t>DISCUSSION QUESTIONS</a:t>
            </a:r>
            <a:endParaRPr b="0" i="0" sz="1200" u="none" cap="none" strike="noStrike">
              <a:solidFill>
                <a:schemeClr val="dk1"/>
              </a:solidFill>
              <a:latin typeface="Calibri"/>
              <a:ea typeface="Calibri"/>
              <a:cs typeface="Calibri"/>
              <a:sym typeface="Calibri"/>
            </a:endParaRPr>
          </a:p>
        </p:txBody>
      </p:sp>
      <p:sp>
        <p:nvSpPr>
          <p:cNvPr id="528" name="Google Shape;528;p15"/>
          <p:cNvSpPr/>
          <p:nvPr/>
        </p:nvSpPr>
        <p:spPr>
          <a:xfrm>
            <a:off x="640080" y="1691640"/>
            <a:ext cx="310896" cy="310896"/>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5"/>
          <p:cNvSpPr/>
          <p:nvPr/>
        </p:nvSpPr>
        <p:spPr>
          <a:xfrm>
            <a:off x="640080" y="1691640"/>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263A"/>
              </a:buClr>
              <a:buSzPts val="1300"/>
              <a:buFont typeface="Calibri"/>
              <a:buNone/>
            </a:pPr>
            <a:r>
              <a:rPr b="1" i="0" lang="en-US" sz="1300" u="none" cap="none" strike="noStrike">
                <a:solidFill>
                  <a:srgbClr val="12263A"/>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530" name="Google Shape;530;p15"/>
          <p:cNvSpPr/>
          <p:nvPr/>
        </p:nvSpPr>
        <p:spPr>
          <a:xfrm>
            <a:off x="1097280" y="1664208"/>
            <a:ext cx="5943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Which metric would you trust least, and why?</a:t>
            </a:r>
            <a:endParaRPr b="0" i="0" sz="1350" u="none" cap="none" strike="noStrike">
              <a:solidFill>
                <a:schemeClr val="dk1"/>
              </a:solidFill>
              <a:latin typeface="Calibri"/>
              <a:ea typeface="Calibri"/>
              <a:cs typeface="Calibri"/>
              <a:sym typeface="Calibri"/>
            </a:endParaRPr>
          </a:p>
        </p:txBody>
      </p:sp>
      <p:sp>
        <p:nvSpPr>
          <p:cNvPr id="531" name="Google Shape;531;p15"/>
          <p:cNvSpPr/>
          <p:nvPr/>
        </p:nvSpPr>
        <p:spPr>
          <a:xfrm>
            <a:off x="640080" y="2258568"/>
            <a:ext cx="310896" cy="310896"/>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5"/>
          <p:cNvSpPr/>
          <p:nvPr/>
        </p:nvSpPr>
        <p:spPr>
          <a:xfrm>
            <a:off x="640080" y="2258568"/>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263A"/>
              </a:buClr>
              <a:buSzPts val="1300"/>
              <a:buFont typeface="Calibri"/>
              <a:buNone/>
            </a:pPr>
            <a:r>
              <a:rPr b="1" i="0" lang="en-US" sz="1300" u="none" cap="none" strike="noStrike">
                <a:solidFill>
                  <a:srgbClr val="12263A"/>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533" name="Google Shape;533;p15"/>
          <p:cNvSpPr/>
          <p:nvPr/>
        </p:nvSpPr>
        <p:spPr>
          <a:xfrm>
            <a:off x="1097280" y="2231136"/>
            <a:ext cx="5943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How could a DORA metric be gamed by a team?</a:t>
            </a:r>
            <a:endParaRPr b="0" i="0" sz="1350" u="none" cap="none" strike="noStrike">
              <a:solidFill>
                <a:schemeClr val="dk1"/>
              </a:solidFill>
              <a:latin typeface="Calibri"/>
              <a:ea typeface="Calibri"/>
              <a:cs typeface="Calibri"/>
              <a:sym typeface="Calibri"/>
            </a:endParaRPr>
          </a:p>
        </p:txBody>
      </p:sp>
      <p:sp>
        <p:nvSpPr>
          <p:cNvPr id="534" name="Google Shape;534;p15"/>
          <p:cNvSpPr/>
          <p:nvPr/>
        </p:nvSpPr>
        <p:spPr>
          <a:xfrm>
            <a:off x="640080" y="2825496"/>
            <a:ext cx="310896" cy="310896"/>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5"/>
          <p:cNvSpPr/>
          <p:nvPr/>
        </p:nvSpPr>
        <p:spPr>
          <a:xfrm>
            <a:off x="640080" y="282549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263A"/>
              </a:buClr>
              <a:buSzPts val="1300"/>
              <a:buFont typeface="Calibri"/>
              <a:buNone/>
            </a:pPr>
            <a:r>
              <a:rPr b="1" i="0" lang="en-US" sz="1300" u="none" cap="none" strike="noStrike">
                <a:solidFill>
                  <a:srgbClr val="12263A"/>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536" name="Google Shape;536;p15"/>
          <p:cNvSpPr/>
          <p:nvPr/>
        </p:nvSpPr>
        <p:spPr>
          <a:xfrm>
            <a:off x="1097280" y="2798064"/>
            <a:ext cx="5943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Should AI-generated code be measured differently?</a:t>
            </a:r>
            <a:endParaRPr b="0" i="0" sz="1350" u="none" cap="none" strike="noStrike">
              <a:solidFill>
                <a:schemeClr val="dk1"/>
              </a:solidFill>
              <a:latin typeface="Calibri"/>
              <a:ea typeface="Calibri"/>
              <a:cs typeface="Calibri"/>
              <a:sym typeface="Calibri"/>
            </a:endParaRPr>
          </a:p>
        </p:txBody>
      </p:sp>
      <p:sp>
        <p:nvSpPr>
          <p:cNvPr id="537" name="Google Shape;537;p15"/>
          <p:cNvSpPr/>
          <p:nvPr/>
        </p:nvSpPr>
        <p:spPr>
          <a:xfrm>
            <a:off x="640080" y="3392424"/>
            <a:ext cx="310896" cy="310896"/>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5"/>
          <p:cNvSpPr/>
          <p:nvPr/>
        </p:nvSpPr>
        <p:spPr>
          <a:xfrm>
            <a:off x="640080" y="339242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263A"/>
              </a:buClr>
              <a:buSzPts val="1300"/>
              <a:buFont typeface="Calibri"/>
              <a:buNone/>
            </a:pPr>
            <a:r>
              <a:rPr b="1" i="0" lang="en-US" sz="1300" u="none" cap="none" strike="noStrike">
                <a:solidFill>
                  <a:srgbClr val="12263A"/>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539" name="Google Shape;539;p15"/>
          <p:cNvSpPr/>
          <p:nvPr/>
        </p:nvSpPr>
        <p:spPr>
          <a:xfrm>
            <a:off x="1097280" y="3364992"/>
            <a:ext cx="5943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What metric would you add for a startup versus a bank?</a:t>
            </a:r>
            <a:endParaRPr b="0" i="0" sz="1350" u="none" cap="none" strike="noStrike">
              <a:solidFill>
                <a:schemeClr val="dk1"/>
              </a:solidFill>
              <a:latin typeface="Calibri"/>
              <a:ea typeface="Calibri"/>
              <a:cs typeface="Calibri"/>
              <a:sym typeface="Calibri"/>
            </a:endParaRPr>
          </a:p>
        </p:txBody>
      </p:sp>
      <p:sp>
        <p:nvSpPr>
          <p:cNvPr id="540" name="Google Shape;540;p15"/>
          <p:cNvSpPr/>
          <p:nvPr/>
        </p:nvSpPr>
        <p:spPr>
          <a:xfrm>
            <a:off x="640080" y="3959352"/>
            <a:ext cx="310896" cy="310896"/>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5"/>
          <p:cNvSpPr/>
          <p:nvPr/>
        </p:nvSpPr>
        <p:spPr>
          <a:xfrm>
            <a:off x="640080" y="395935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263A"/>
              </a:buClr>
              <a:buSzPts val="1300"/>
              <a:buFont typeface="Calibri"/>
              <a:buNone/>
            </a:pPr>
            <a:r>
              <a:rPr b="1" i="0" lang="en-US" sz="1300" u="none" cap="none" strike="noStrike">
                <a:solidFill>
                  <a:srgbClr val="12263A"/>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542" name="Google Shape;542;p15"/>
          <p:cNvSpPr/>
          <p:nvPr/>
        </p:nvSpPr>
        <p:spPr>
          <a:xfrm>
            <a:off x="1097280" y="3931920"/>
            <a:ext cx="5943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When does measuring something make it worse?</a:t>
            </a:r>
            <a:endParaRPr b="0" i="0" sz="1350" u="none" cap="none" strike="noStrike">
              <a:solidFill>
                <a:schemeClr val="dk1"/>
              </a:solidFill>
              <a:latin typeface="Calibri"/>
              <a:ea typeface="Calibri"/>
              <a:cs typeface="Calibri"/>
              <a:sym typeface="Calibri"/>
            </a:endParaRPr>
          </a:p>
        </p:txBody>
      </p:sp>
      <p:sp>
        <p:nvSpPr>
          <p:cNvPr id="543" name="Google Shape;543;p15"/>
          <p:cNvSpPr/>
          <p:nvPr/>
        </p:nvSpPr>
        <p:spPr>
          <a:xfrm>
            <a:off x="7360920" y="1325880"/>
            <a:ext cx="4160520" cy="2331720"/>
          </a:xfrm>
          <a:prstGeom prst="roundRect">
            <a:avLst>
              <a:gd fmla="val 3137" name="adj"/>
            </a:avLst>
          </a:prstGeom>
          <a:solidFill>
            <a:srgbClr val="1B36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5"/>
          <p:cNvSpPr/>
          <p:nvPr/>
        </p:nvSpPr>
        <p:spPr>
          <a:xfrm>
            <a:off x="7589520" y="1536192"/>
            <a:ext cx="457200" cy="457200"/>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lightbulb_navy.png" id="545" name="Google Shape;545;p15"/>
          <p:cNvPicPr preferRelativeResize="0"/>
          <p:nvPr/>
        </p:nvPicPr>
        <p:blipFill rotWithShape="1">
          <a:blip r:embed="rId3">
            <a:alphaModFix/>
          </a:blip>
          <a:srcRect b="0" l="0" r="0" t="0"/>
          <a:stretch/>
        </p:blipFill>
        <p:spPr>
          <a:xfrm>
            <a:off x="7644384" y="1591056"/>
            <a:ext cx="347472" cy="347472"/>
          </a:xfrm>
          <a:prstGeom prst="rect">
            <a:avLst/>
          </a:prstGeom>
          <a:noFill/>
          <a:ln>
            <a:noFill/>
          </a:ln>
        </p:spPr>
      </p:pic>
      <p:sp>
        <p:nvSpPr>
          <p:cNvPr id="546" name="Google Shape;546;p15"/>
          <p:cNvSpPr/>
          <p:nvPr/>
        </p:nvSpPr>
        <p:spPr>
          <a:xfrm>
            <a:off x="8183880" y="160020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150"/>
              <a:buFont typeface="Calibri"/>
              <a:buNone/>
            </a:pPr>
            <a:r>
              <a:rPr b="1" i="0" lang="en-US" sz="1150" u="none" cap="none" strike="noStrike">
                <a:solidFill>
                  <a:srgbClr val="FF7A00"/>
                </a:solidFill>
                <a:latin typeface="Calibri"/>
                <a:ea typeface="Calibri"/>
                <a:cs typeface="Calibri"/>
                <a:sym typeface="Calibri"/>
              </a:rPr>
              <a:t>KEY TAKEAWAYS</a:t>
            </a:r>
            <a:endParaRPr b="0" i="0" sz="1150" u="none" cap="none" strike="noStrike">
              <a:solidFill>
                <a:schemeClr val="dk1"/>
              </a:solidFill>
              <a:latin typeface="Calibri"/>
              <a:ea typeface="Calibri"/>
              <a:cs typeface="Calibri"/>
              <a:sym typeface="Calibri"/>
            </a:endParaRPr>
          </a:p>
        </p:txBody>
      </p:sp>
      <p:sp>
        <p:nvSpPr>
          <p:cNvPr id="547" name="Google Shape;547;p15"/>
          <p:cNvSpPr/>
          <p:nvPr/>
        </p:nvSpPr>
        <p:spPr>
          <a:xfrm>
            <a:off x="7589520" y="2057400"/>
            <a:ext cx="370332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  Metrics support decisions — they never replace judgment.</a:t>
            </a:r>
            <a:endParaRPr b="0" i="0" sz="1200" u="none" cap="none" strike="noStrike">
              <a:solidFill>
                <a:schemeClr val="dk1"/>
              </a:solidFill>
              <a:latin typeface="Calibri"/>
              <a:ea typeface="Calibri"/>
              <a:cs typeface="Calibri"/>
              <a:sym typeface="Calibri"/>
            </a:endParaRPr>
          </a:p>
        </p:txBody>
      </p:sp>
      <p:sp>
        <p:nvSpPr>
          <p:cNvPr id="548" name="Google Shape;548;p15"/>
          <p:cNvSpPr/>
          <p:nvPr/>
        </p:nvSpPr>
        <p:spPr>
          <a:xfrm>
            <a:off x="7589520" y="2587752"/>
            <a:ext cx="370332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  Always pair a speed metric with a quality metric.</a:t>
            </a:r>
            <a:endParaRPr b="0" i="0" sz="1200" u="none" cap="none" strike="noStrike">
              <a:solidFill>
                <a:schemeClr val="dk1"/>
              </a:solidFill>
              <a:latin typeface="Calibri"/>
              <a:ea typeface="Calibri"/>
              <a:cs typeface="Calibri"/>
              <a:sym typeface="Calibri"/>
            </a:endParaRPr>
          </a:p>
        </p:txBody>
      </p:sp>
      <p:sp>
        <p:nvSpPr>
          <p:cNvPr id="549" name="Google Shape;549;p15"/>
          <p:cNvSpPr/>
          <p:nvPr/>
        </p:nvSpPr>
        <p:spPr>
          <a:xfrm>
            <a:off x="7589520" y="3118104"/>
            <a:ext cx="370332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  A measure used as a target stops measuring truth.</a:t>
            </a:r>
            <a:endParaRPr b="0" i="0" sz="1200" u="none" cap="none" strike="noStrike">
              <a:solidFill>
                <a:schemeClr val="dk1"/>
              </a:solidFill>
              <a:latin typeface="Calibri"/>
              <a:ea typeface="Calibri"/>
              <a:cs typeface="Calibri"/>
              <a:sym typeface="Calibri"/>
            </a:endParaRPr>
          </a:p>
        </p:txBody>
      </p:sp>
      <p:sp>
        <p:nvSpPr>
          <p:cNvPr id="550" name="Google Shape;550;p15"/>
          <p:cNvSpPr/>
          <p:nvPr/>
        </p:nvSpPr>
        <p:spPr>
          <a:xfrm>
            <a:off x="7360920" y="3840480"/>
            <a:ext cx="4160520" cy="1371600"/>
          </a:xfrm>
          <a:prstGeom prst="roundRect">
            <a:avLst>
              <a:gd fmla="val 5333" name="adj"/>
            </a:avLst>
          </a:prstGeom>
          <a:solidFill>
            <a:srgbClr val="1B36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5"/>
          <p:cNvSpPr/>
          <p:nvPr/>
        </p:nvSpPr>
        <p:spPr>
          <a:xfrm>
            <a:off x="7589520" y="4041648"/>
            <a:ext cx="457200" cy="457200"/>
          </a:xfrm>
          <a:prstGeom prst="ellipse">
            <a:avLst/>
          </a:prstGeom>
          <a:solidFill>
            <a:srgbClr val="FF7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hart_navy.png" id="552" name="Google Shape;552;p15"/>
          <p:cNvPicPr preferRelativeResize="0"/>
          <p:nvPr/>
        </p:nvPicPr>
        <p:blipFill rotWithShape="1">
          <a:blip r:embed="rId4">
            <a:alphaModFix/>
          </a:blip>
          <a:srcRect b="0" l="0" r="0" t="0"/>
          <a:stretch/>
        </p:blipFill>
        <p:spPr>
          <a:xfrm>
            <a:off x="7644384" y="4096512"/>
            <a:ext cx="347472" cy="347472"/>
          </a:xfrm>
          <a:prstGeom prst="rect">
            <a:avLst/>
          </a:prstGeom>
          <a:noFill/>
          <a:ln>
            <a:noFill/>
          </a:ln>
        </p:spPr>
      </p:pic>
      <p:sp>
        <p:nvSpPr>
          <p:cNvPr id="553" name="Google Shape;553;p15"/>
          <p:cNvSpPr/>
          <p:nvPr/>
        </p:nvSpPr>
        <p:spPr>
          <a:xfrm>
            <a:off x="8183880" y="4105656"/>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A00"/>
              </a:buClr>
              <a:buSzPts val="1050"/>
              <a:buFont typeface="Calibri"/>
              <a:buNone/>
            </a:pPr>
            <a:r>
              <a:rPr b="1" i="0" lang="en-US" sz="1050" u="none" cap="none" strike="noStrike">
                <a:solidFill>
                  <a:srgbClr val="FF7A00"/>
                </a:solidFill>
                <a:latin typeface="Calibri"/>
                <a:ea typeface="Calibri"/>
                <a:cs typeface="Calibri"/>
                <a:sym typeface="Calibri"/>
              </a:rPr>
              <a:t>INDUSTRY RELEVANCE (2026–2035)</a:t>
            </a:r>
            <a:endParaRPr b="0" i="0" sz="1050" u="none" cap="none" strike="noStrike">
              <a:solidFill>
                <a:schemeClr val="dk1"/>
              </a:solidFill>
              <a:latin typeface="Calibri"/>
              <a:ea typeface="Calibri"/>
              <a:cs typeface="Calibri"/>
              <a:sym typeface="Calibri"/>
            </a:endParaRPr>
          </a:p>
        </p:txBody>
      </p:sp>
      <p:sp>
        <p:nvSpPr>
          <p:cNvPr id="554" name="Google Shape;554;p15"/>
          <p:cNvSpPr/>
          <p:nvPr/>
        </p:nvSpPr>
        <p:spPr>
          <a:xfrm>
            <a:off x="7589520" y="4434840"/>
            <a:ext cx="3703320" cy="7315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From Google, Amazon, Microsoft, Netflix, GitHub, and Spotify — every major engineering org runs on measurement, and AI is expanding it, not replacing it.</a:t>
            </a:r>
            <a:endParaRPr b="0" i="0" sz="1100" u="none" cap="none" strike="noStrike">
              <a:solidFill>
                <a:schemeClr val="dk1"/>
              </a:solidFill>
              <a:latin typeface="Calibri"/>
              <a:ea typeface="Calibri"/>
              <a:cs typeface="Calibri"/>
              <a:sym typeface="Calibri"/>
            </a:endParaRPr>
          </a:p>
        </p:txBody>
      </p:sp>
      <p:sp>
        <p:nvSpPr>
          <p:cNvPr id="555" name="Google Shape;555;p15"/>
          <p:cNvSpPr/>
          <p:nvPr/>
        </p:nvSpPr>
        <p:spPr>
          <a:xfrm>
            <a:off x="640080" y="598932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600"/>
              <a:buFont typeface="Cambria"/>
              <a:buNone/>
            </a:pPr>
            <a:r>
              <a:rPr b="0" i="1" lang="en-US" sz="1600" u="none" cap="none" strike="noStrike">
                <a:solidFill>
                  <a:srgbClr val="CADCFC"/>
                </a:solidFill>
                <a:latin typeface="Cambria"/>
                <a:ea typeface="Cambria"/>
                <a:cs typeface="Cambria"/>
                <a:sym typeface="Cambria"/>
              </a:rPr>
              <a:t>Thank you — questions?</a:t>
            </a:r>
            <a:endParaRPr b="0" i="0" sz="1600" u="none" cap="none" strike="noStrike">
              <a:solidFill>
                <a:schemeClr val="dk1"/>
              </a:solidFill>
              <a:latin typeface="Calibri"/>
              <a:ea typeface="Calibri"/>
              <a:cs typeface="Calibri"/>
              <a:sym typeface="Calibri"/>
            </a:endParaRPr>
          </a:p>
        </p:txBody>
      </p:sp>
      <p:sp>
        <p:nvSpPr>
          <p:cNvPr id="556" name="Google Shape;556;p15"/>
          <p:cNvSpPr/>
          <p:nvPr/>
        </p:nvSpPr>
        <p:spPr>
          <a:xfrm>
            <a:off x="11505895" y="6291072"/>
            <a:ext cx="384048" cy="384048"/>
          </a:xfrm>
          <a:prstGeom prst="ellipse">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5"/>
          <p:cNvSpPr/>
          <p:nvPr/>
        </p:nvSpPr>
        <p:spPr>
          <a:xfrm>
            <a:off x="11505895" y="629107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15</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2026-09-20T04:13:16Z</dcterms:created>
  <dc:creator>PptxGenJS</dc:creator>
</cp:coreProperties>
</file>