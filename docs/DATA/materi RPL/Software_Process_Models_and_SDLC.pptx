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hsSbzGFwGR9BP51SDfZbTR133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E763DF-59A6-4D72-B765-AAB0D4DB4EBE}">
  <a:tblStyle styleId="{B1E763DF-59A6-4D72-B765-AAB0D4DB4E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students and introduce the course scope: how software teams organize work from idea to retirement. Emphasize that process choice is an engineering decision with real cost and quality consequences, not bureaucracy. Preview the roadmap: classic models first, then Agile and DevOps, then AI-assisted development and future trends. Close with the five learning outcomes so students know what they should be able to do by the end of the lecture.</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students to recall a software failure they have heard about before revealing examples. Explain that most failures trace back to process gaps: unclear requirements, uncontrolled scope, or skipped verification, not just bad coding. The Knight Capital incident is especially useful because it shows a deployment-process failure, foreshadowing the DevOps discussion later. Transition by asking: what exactly do we mean by a "software process"?</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software process is broader than "writing code" - it is the organizational recipe a team follows. Walk through the four cards: purpose, stakeholders, deliverables, and value. Emphasize that every process model we discuss today is really just a different way of arranging these same building blocks. This sets up the SDLC as the most common way to describe that recipe.</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SDLC is the master framework that every process model implements differently. Highlight that its real benefit is predictability: teams can plan budgets, staffing, and timelines because the phases are known in advance. Point out the mini diagram showing that software is never really "finished" - operation feeds back into new ideas. Next, we will see the full phase breakdown.</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left to right across the seven boxes and give a one-sentence description of each phase. Stress that this sequence is a conceptual map, not a mandate - Agile and DevOps will rearrange, overlap, and repeat these same phases rather than replace them. The dashed feedback arrow shows that maintenance is not the end of the story; it generates the next round of planning.</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Waterfall is the original SDLC model: each phase must be completed and signed off before the next begins. Its discipline produces strong documentation, which is why it is still used in regulated industries such as aerospace, medical devices, and government contracts. Its weakness is rigidity - because requirements are frozen early, expensive rework happens if the customer's needs change. Ask students to name a project type where this trade-off makes sense.</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Iterative and incremental development breaks the project into smaller cycles, each producing a working slice of the system. Unlike Waterfall, teams get real feedback after each cycle instead of waiting until the very end. This is the conceptual bridge to Agile - Agile is essentially iterative development with additional values and practices layered on top, which we will see in a few slides.</a:t>
            </a:r>
            <a:endParaRPr/>
          </a:p>
        </p:txBody>
      </p:sp>
      <p:sp>
        <p:nvSpPr>
          <p:cNvPr id="186" name="Google Shape;1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Spiral Model adds a formal risk-analysis step to iterative development, making it well suited for large, high-stakes systems where an undetected risk could be very costly. Each loop around the spiral repeats the same four activities but produces a progressively more complete and validated version of the system. It is less common today outside large enterprise and safety-critical domains, but the underlying idea - continuously reassessing risk - lives on inside modern Agile and DevOps practices.</a:t>
            </a:r>
            <a:endParaRPr/>
          </a:p>
        </p:txBody>
      </p:sp>
      <p:sp>
        <p:nvSpPr>
          <p:cNvPr id="205" name="Google Shape;2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Agile is not a single method but a set of shared values published in the 2001 Agile Manifesto. Walk through each "over" pairing and clarify that the item on the left is not discarded, it is simply valued less than the item on the right when trade-offs must be made. Emphasize adaptability: Agile teams expect requirements to change and build short feedback loops - via frequent releases - to respond quickly. Scrum, which we cover next, is the most widely used way to put these values into practice.</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Scrum is the most widely adopted Agile framework. Each sprint is a fixed time box, usually two to four weeks, that begins with planning, includes a short daily sync, and ends with a review and a retrospective. Point out that Scrum defines only roles, events, and artifacts - it deliberately leaves engineering practices like testing or deployment technique open, which is why teams often pair Scrum with DevOps, our next topic.</a:t>
            </a:r>
            <a:endParaRPr/>
          </a:p>
        </p:txBody>
      </p:sp>
      <p:sp>
        <p:nvSpPr>
          <p:cNvPr id="260" name="Google Shape;26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DevOps extends Agile thinking past coding into the full operational lifecycle: planning, building, testing, releasing, deploying, and monitoring form one continuous loop rather than separate silos owned by different teams. Automation and CI/CD pipelines are what make this loop practical at scale - Netflix’s ability to deploy thousands of times a day is only possible because verification and release are automated, not manual. This is also where the Knight Capital failure from slide two connects: better deployment automation could have prevented it.</a:t>
            </a:r>
            <a:endParaRPr/>
          </a:p>
        </p:txBody>
      </p:sp>
      <p:sp>
        <p:nvSpPr>
          <p:cNvPr id="284" name="Google Shape;2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table as a synthesis checkpoint before moving into AI. No single model wins on every dimension - Waterfall trades speed for predictability, Agile trades some risk control for adaptability, and DevOps pushes speed further by automating what used to be manual checks. Ask students which column matters most for a hospital records system versus a mobile game, to reinforce that model choice depends on context.</a:t>
            </a:r>
            <a:endParaRPr/>
          </a:p>
        </p:txBody>
      </p:sp>
      <p:sp>
        <p:nvSpPr>
          <p:cNvPr id="315" name="Google Shape;3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 tools now touch nearly every SDLC phase: requirements, coding, testing, and documentation. Stress that these are assistants, not replacements - the "Human Oversight" card is placed last deliberately, because engineers remain accountable for correctness, security, and design decisions. Ask students which of these five they have already used personally or in coursework.</a:t>
            </a:r>
            <a:endParaRPr/>
          </a:p>
        </p:txBody>
      </p:sp>
      <p:sp>
        <p:nvSpPr>
          <p:cNvPr id="326" name="Google Shape;3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trends will likely define the next decade of practice. AI-native engineering and agentic AI extend today’s coding assistants toward systems that plan and execute multi-step work with supervision. Platform engineering and cloud-native development reflect the industry’s push toward reusable, self-service infrastructure. Green software engineering reflects growing pressure - regulatory and reputational - to reduce the energy footprint of computing at scale.</a:t>
            </a:r>
            <a:endParaRPr/>
          </a:p>
        </p:txBody>
      </p:sp>
      <p:sp>
        <p:nvSpPr>
          <p:cNvPr id="360" name="Google Shape;36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Divide students into small groups and give them five to seven minutes on the five questions before a whole-class discussion. There is no single correct answer - the goal is to practice weighing trade-offs the way a technical lead would. Close the lecture by reading the three key takeaways aloud: process choice is contextual, modern practice blends multiple approaches, and AI now augments every model rather than replacing engineering judgment.</a:t>
            </a:r>
            <a:endParaRPr/>
          </a:p>
        </p:txBody>
      </p:sp>
      <p:sp>
        <p:nvSpPr>
          <p:cNvPr id="394" name="Google Shape;3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bg>
      <p:bgPr>
        <a:solidFill>
          <a:srgbClr val="F7F9FC"/>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20.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33F"/>
        </a:solidFill>
      </p:bgPr>
    </p:bg>
    <p:spTree>
      <p:nvGrpSpPr>
        <p:cNvPr id="16" name="Shape 16"/>
        <p:cNvGrpSpPr/>
        <p:nvPr/>
      </p:nvGrpSpPr>
      <p:grpSpPr>
        <a:xfrm>
          <a:off x="0" y="0"/>
          <a:ext cx="0" cy="0"/>
          <a:chOff x="0" y="0"/>
          <a:chExt cx="0" cy="0"/>
        </a:xfrm>
      </p:grpSpPr>
      <p:sp>
        <p:nvSpPr>
          <p:cNvPr id="17" name="Google Shape;17;p1"/>
          <p:cNvSpPr/>
          <p:nvPr/>
        </p:nvSpPr>
        <p:spPr>
          <a:xfrm>
            <a:off x="7863840" y="1097280"/>
            <a:ext cx="457200" cy="457200"/>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778240" y="2148840"/>
            <a:ext cx="457200" cy="457200"/>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9692640" y="3200400"/>
            <a:ext cx="457200" cy="457200"/>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0607040" y="4251960"/>
            <a:ext cx="457200" cy="457200"/>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1"/>
          <p:cNvCxnSpPr/>
          <p:nvPr/>
        </p:nvCxnSpPr>
        <p:spPr>
          <a:xfrm>
            <a:off x="8092440" y="1554480"/>
            <a:ext cx="0" cy="594360"/>
          </a:xfrm>
          <a:prstGeom prst="straightConnector1">
            <a:avLst/>
          </a:prstGeom>
          <a:noFill/>
          <a:ln cap="flat" cmpd="sng" w="19050">
            <a:solidFill>
              <a:srgbClr val="FFFFFF">
                <a:alpha val="45098"/>
              </a:srgbClr>
            </a:solidFill>
            <a:prstDash val="dash"/>
            <a:round/>
            <a:headEnd len="sm" w="sm" type="none"/>
            <a:tailEnd len="sm" w="sm" type="none"/>
          </a:ln>
        </p:spPr>
      </p:cxnSp>
      <p:cxnSp>
        <p:nvCxnSpPr>
          <p:cNvPr id="22" name="Google Shape;22;p1"/>
          <p:cNvCxnSpPr/>
          <p:nvPr/>
        </p:nvCxnSpPr>
        <p:spPr>
          <a:xfrm>
            <a:off x="9006840" y="2606040"/>
            <a:ext cx="0" cy="594360"/>
          </a:xfrm>
          <a:prstGeom prst="straightConnector1">
            <a:avLst/>
          </a:prstGeom>
          <a:noFill/>
          <a:ln cap="flat" cmpd="sng" w="19050">
            <a:solidFill>
              <a:srgbClr val="FFFFFF">
                <a:alpha val="45098"/>
              </a:srgbClr>
            </a:solidFill>
            <a:prstDash val="dash"/>
            <a:round/>
            <a:headEnd len="sm" w="sm" type="none"/>
            <a:tailEnd len="sm" w="sm" type="none"/>
          </a:ln>
        </p:spPr>
      </p:cxnSp>
      <p:cxnSp>
        <p:nvCxnSpPr>
          <p:cNvPr id="23" name="Google Shape;23;p1"/>
          <p:cNvCxnSpPr/>
          <p:nvPr/>
        </p:nvCxnSpPr>
        <p:spPr>
          <a:xfrm>
            <a:off x="9921240" y="3657600"/>
            <a:ext cx="0" cy="594360"/>
          </a:xfrm>
          <a:prstGeom prst="straightConnector1">
            <a:avLst/>
          </a:prstGeom>
          <a:noFill/>
          <a:ln cap="flat" cmpd="sng" w="19050">
            <a:solidFill>
              <a:srgbClr val="FFFFFF">
                <a:alpha val="45098"/>
              </a:srgbClr>
            </a:solidFill>
            <a:prstDash val="dash"/>
            <a:round/>
            <a:headEnd len="sm" w="sm" type="none"/>
            <a:tailEnd len="sm" w="sm" type="none"/>
          </a:ln>
        </p:spPr>
      </p:cxnSp>
      <p:sp>
        <p:nvSpPr>
          <p:cNvPr id="24" name="Google Shape;24;p1"/>
          <p:cNvSpPr/>
          <p:nvPr/>
        </p:nvSpPr>
        <p:spPr>
          <a:xfrm>
            <a:off x="822960" y="13716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300"/>
              <a:buFont typeface="Calibri"/>
              <a:buNone/>
            </a:pPr>
            <a:r>
              <a:rPr b="1" i="0" lang="en-US" sz="1300" u="none" cap="none" strike="noStrike">
                <a:solidFill>
                  <a:srgbClr val="F2994A"/>
                </a:solidFill>
                <a:latin typeface="Calibri"/>
                <a:ea typeface="Calibri"/>
                <a:cs typeface="Calibri"/>
                <a:sym typeface="Calibri"/>
              </a:rPr>
              <a:t>INTERNATIONAL LECTURE SERIES · COMPUTER SCIENCE</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822960" y="1828800"/>
            <a:ext cx="8778240" cy="1737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Software Process Models</a:t>
            </a:r>
            <a:endParaRPr b="0" i="0" sz="4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&amp; the Software Development Life Cycle</a:t>
            </a:r>
            <a:endParaRPr b="0" i="0" sz="4000" u="none" cap="none" strike="noStrike">
              <a:solidFill>
                <a:schemeClr val="dk1"/>
              </a:solidFill>
              <a:latin typeface="Calibri"/>
              <a:ea typeface="Calibri"/>
              <a:cs typeface="Calibri"/>
              <a:sym typeface="Calibri"/>
            </a:endParaRPr>
          </a:p>
        </p:txBody>
      </p:sp>
      <p:sp>
        <p:nvSpPr>
          <p:cNvPr id="26" name="Google Shape;26;p1"/>
          <p:cNvSpPr/>
          <p:nvPr/>
        </p:nvSpPr>
        <p:spPr>
          <a:xfrm>
            <a:off x="822960" y="3520440"/>
            <a:ext cx="8046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D1"/>
              </a:buClr>
              <a:buSzPts val="1600"/>
              <a:buFont typeface="Calibri"/>
              <a:buNone/>
            </a:pPr>
            <a:r>
              <a:rPr b="0" i="1" lang="en-US" sz="1600" u="none" cap="none" strike="noStrike">
                <a:solidFill>
                  <a:srgbClr val="9FB3D1"/>
                </a:solidFill>
                <a:latin typeface="Calibri"/>
                <a:ea typeface="Calibri"/>
                <a:cs typeface="Calibri"/>
                <a:sym typeface="Calibri"/>
              </a:rPr>
              <a:t>From Waterfall discipline to Agile, DevOps, and AI-assisted engineering</a:t>
            </a:r>
            <a:endParaRPr b="0" i="0" sz="1600" u="none" cap="none" strike="noStrike">
              <a:solidFill>
                <a:schemeClr val="dk1"/>
              </a:solidFill>
              <a:latin typeface="Calibri"/>
              <a:ea typeface="Calibri"/>
              <a:cs typeface="Calibri"/>
              <a:sym typeface="Calibri"/>
            </a:endParaRPr>
          </a:p>
        </p:txBody>
      </p:sp>
      <p:sp>
        <p:nvSpPr>
          <p:cNvPr id="27" name="Google Shape;27;p1"/>
          <p:cNvSpPr/>
          <p:nvPr/>
        </p:nvSpPr>
        <p:spPr>
          <a:xfrm>
            <a:off x="777272" y="4091900"/>
            <a:ext cx="8138100" cy="2148900"/>
          </a:xfrm>
          <a:prstGeom prst="roundRect">
            <a:avLst>
              <a:gd fmla="val 3404" name="adj"/>
            </a:avLst>
          </a:prstGeom>
          <a:solidFill>
            <a:srgbClr val="16305A"/>
          </a:solidFill>
          <a:ln cap="flat" cmpd="sng" w="12700">
            <a:solidFill>
              <a:srgbClr val="2A4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051560" y="426110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LEARNING OUTCOMES</a:t>
            </a:r>
            <a:endParaRPr b="0" i="0" sz="1200" u="none" cap="none" strike="noStrike">
              <a:solidFill>
                <a:schemeClr val="dk1"/>
              </a:solidFill>
              <a:latin typeface="Calibri"/>
              <a:ea typeface="Calibri"/>
              <a:cs typeface="Calibri"/>
              <a:sym typeface="Calibri"/>
            </a:endParaRPr>
          </a:p>
        </p:txBody>
      </p:sp>
      <p:sp>
        <p:nvSpPr>
          <p:cNvPr id="29" name="Google Shape;29;p1"/>
          <p:cNvSpPr/>
          <p:nvPr/>
        </p:nvSpPr>
        <p:spPr>
          <a:xfrm>
            <a:off x="1051550" y="4572000"/>
            <a:ext cx="7680900" cy="1539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Explain core SDLC phases and their purpose</a:t>
            </a:r>
            <a:endParaRPr b="0" i="0" sz="1350" u="none" cap="none" strike="noStrike">
              <a:solidFill>
                <a:schemeClr val="dk1"/>
              </a:solidFill>
              <a:latin typeface="Calibri"/>
              <a:ea typeface="Calibri"/>
              <a:cs typeface="Calibri"/>
              <a:sym typeface="Calibri"/>
            </a:endParaRPr>
          </a:p>
          <a:p>
            <a:pPr indent="-228600" lvl="0" marL="228600" marR="0" rtl="0" algn="l">
              <a:spcBef>
                <a:spcPts val="7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Compare Waterfall, Iterative, Spiral, and Agile models</a:t>
            </a:r>
            <a:endParaRPr b="0" i="0" sz="1350" u="none" cap="none" strike="noStrike">
              <a:solidFill>
                <a:schemeClr val="dk1"/>
              </a:solidFill>
              <a:latin typeface="Calibri"/>
              <a:ea typeface="Calibri"/>
              <a:cs typeface="Calibri"/>
              <a:sym typeface="Calibri"/>
            </a:endParaRPr>
          </a:p>
          <a:p>
            <a:pPr indent="-228600" lvl="0" marL="228600" marR="0" rtl="0" algn="l">
              <a:spcBef>
                <a:spcPts val="7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Connect DevOps and CI/CD to continuous delivery</a:t>
            </a:r>
            <a:endParaRPr b="0" i="0" sz="1350" u="none" cap="none" strike="noStrike">
              <a:solidFill>
                <a:schemeClr val="dk1"/>
              </a:solidFill>
              <a:latin typeface="Calibri"/>
              <a:ea typeface="Calibri"/>
              <a:cs typeface="Calibri"/>
              <a:sym typeface="Calibri"/>
            </a:endParaRPr>
          </a:p>
          <a:p>
            <a:pPr indent="-228600" lvl="0" marL="228600" marR="0" rtl="0" algn="l">
              <a:spcBef>
                <a:spcPts val="7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Assess the role of AI across the lifecycle</a:t>
            </a:r>
            <a:endParaRPr b="0" i="0" sz="1350" u="none" cap="none" strike="noStrike">
              <a:solidFill>
                <a:schemeClr val="dk1"/>
              </a:solidFill>
              <a:latin typeface="Calibri"/>
              <a:ea typeface="Calibri"/>
              <a:cs typeface="Calibri"/>
              <a:sym typeface="Calibri"/>
            </a:endParaRPr>
          </a:p>
          <a:p>
            <a:pPr indent="-228600" lvl="0" marL="228600" marR="0" rtl="0" algn="l">
              <a:spcBef>
                <a:spcPts val="7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Apply process thinking to a real case study</a:t>
            </a:r>
            <a:endParaRPr b="0" i="0" sz="1350" u="none" cap="none" strike="noStrike">
              <a:solidFill>
                <a:schemeClr val="dk1"/>
              </a:solidFill>
              <a:latin typeface="Calibri"/>
              <a:ea typeface="Calibri"/>
              <a:cs typeface="Calibri"/>
              <a:sym typeface="Calibri"/>
            </a:endParaRPr>
          </a:p>
        </p:txBody>
      </p:sp>
      <p:sp>
        <p:nvSpPr>
          <p:cNvPr id="30" name="Google Shape;30;p1"/>
          <p:cNvSpPr/>
          <p:nvPr/>
        </p:nvSpPr>
        <p:spPr>
          <a:xfrm>
            <a:off x="822960" y="63550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3B5"/>
              </a:buClr>
              <a:buSzPts val="1050"/>
              <a:buFont typeface="Calibri"/>
              <a:buNone/>
            </a:pPr>
            <a:r>
              <a:rPr b="0" i="0" lang="en-US" sz="1050" u="none" cap="none" strike="noStrike">
                <a:solidFill>
                  <a:srgbClr val="7E93B5"/>
                </a:solidFill>
                <a:latin typeface="Calibri"/>
                <a:ea typeface="Calibri"/>
                <a:cs typeface="Calibri"/>
                <a:sym typeface="Calibri"/>
              </a:rPr>
              <a:t>Instructor Name  ·  Software Engineering Department  ·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MOTIVATION</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Why Software Projects Fail</a:t>
            </a:r>
            <a:endParaRPr b="0" i="0" sz="3200" u="none" cap="none" strike="noStrike">
              <a:solidFill>
                <a:schemeClr val="dk1"/>
              </a:solidFill>
              <a:latin typeface="Calibri"/>
              <a:ea typeface="Calibri"/>
              <a:cs typeface="Calibri"/>
              <a:sym typeface="Calibri"/>
            </a:endParaRPr>
          </a:p>
        </p:txBody>
      </p:sp>
      <p:sp>
        <p:nvSpPr>
          <p:cNvPr id="38" name="Google Shape;38;p2"/>
          <p:cNvSpPr/>
          <p:nvPr/>
        </p:nvSpPr>
        <p:spPr>
          <a:xfrm>
            <a:off x="548640" y="1554480"/>
            <a:ext cx="6309360" cy="32918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Poor requirements gathering causes most failures</a:t>
            </a:r>
            <a:endParaRPr b="0" i="0" sz="1550" u="none" cap="none" strike="noStrike">
              <a:solidFill>
                <a:schemeClr val="dk1"/>
              </a:solidFill>
              <a:latin typeface="Calibri"/>
              <a:ea typeface="Calibri"/>
              <a:cs typeface="Calibri"/>
              <a:sym typeface="Calibri"/>
            </a:endParaRPr>
          </a:p>
          <a:p>
            <a:pPr indent="-228600" lvl="0" marL="228600" marR="0" rtl="0" algn="l">
              <a:spcBef>
                <a:spcPts val="16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Scope creep and unclear goals delay delivery</a:t>
            </a:r>
            <a:endParaRPr b="0" i="0" sz="1550" u="none" cap="none" strike="noStrike">
              <a:solidFill>
                <a:schemeClr val="dk1"/>
              </a:solidFill>
              <a:latin typeface="Calibri"/>
              <a:ea typeface="Calibri"/>
              <a:cs typeface="Calibri"/>
              <a:sym typeface="Calibri"/>
            </a:endParaRPr>
          </a:p>
          <a:p>
            <a:pPr indent="-228600" lvl="0" marL="228600" marR="0" rtl="0" algn="l">
              <a:spcBef>
                <a:spcPts val="16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Weak process discipline increases cost and risk</a:t>
            </a:r>
            <a:endParaRPr b="0" i="0" sz="1550" u="none" cap="none" strike="noStrike">
              <a:solidFill>
                <a:schemeClr val="dk1"/>
              </a:solidFill>
              <a:latin typeface="Calibri"/>
              <a:ea typeface="Calibri"/>
              <a:cs typeface="Calibri"/>
              <a:sym typeface="Calibri"/>
            </a:endParaRPr>
          </a:p>
          <a:p>
            <a:pPr indent="-228600" lvl="0" marL="228600" marR="0" rtl="0" algn="l">
              <a:spcBef>
                <a:spcPts val="16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Late testing lets critical defects reach users</a:t>
            </a:r>
            <a:endParaRPr b="0" i="0" sz="1550" u="none" cap="none" strike="noStrike">
              <a:solidFill>
                <a:schemeClr val="dk1"/>
              </a:solidFill>
              <a:latin typeface="Calibri"/>
              <a:ea typeface="Calibri"/>
              <a:cs typeface="Calibri"/>
              <a:sym typeface="Calibri"/>
            </a:endParaRPr>
          </a:p>
          <a:p>
            <a:pPr indent="-228600" lvl="0" marL="228600" marR="0" rtl="0" algn="l">
              <a:spcBef>
                <a:spcPts val="16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Structured process models exist to reduce these risks</a:t>
            </a:r>
            <a:endParaRPr b="0" i="0" sz="1550" u="none" cap="none" strike="noStrike">
              <a:solidFill>
                <a:schemeClr val="dk1"/>
              </a:solidFill>
              <a:latin typeface="Calibri"/>
              <a:ea typeface="Calibri"/>
              <a:cs typeface="Calibri"/>
              <a:sym typeface="Calibri"/>
            </a:endParaRPr>
          </a:p>
        </p:txBody>
      </p:sp>
      <p:sp>
        <p:nvSpPr>
          <p:cNvPr id="39" name="Google Shape;39;p2"/>
          <p:cNvSpPr/>
          <p:nvPr/>
        </p:nvSpPr>
        <p:spPr>
          <a:xfrm>
            <a:off x="1344168" y="507492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search.png" id="40" name="Google Shape;40;p2"/>
          <p:cNvPicPr preferRelativeResize="0"/>
          <p:nvPr/>
        </p:nvPicPr>
        <p:blipFill rotWithShape="1">
          <a:blip r:embed="rId3">
            <a:alphaModFix/>
          </a:blip>
          <a:srcRect b="0" l="0" r="0" t="0"/>
          <a:stretch/>
        </p:blipFill>
        <p:spPr>
          <a:xfrm>
            <a:off x="1456822" y="5187574"/>
            <a:ext cx="286756" cy="286756"/>
          </a:xfrm>
          <a:prstGeom prst="rect">
            <a:avLst/>
          </a:prstGeom>
          <a:noFill/>
          <a:ln>
            <a:noFill/>
          </a:ln>
        </p:spPr>
      </p:pic>
      <p:sp>
        <p:nvSpPr>
          <p:cNvPr id="41" name="Google Shape;41;p2"/>
          <p:cNvSpPr/>
          <p:nvPr/>
        </p:nvSpPr>
        <p:spPr>
          <a:xfrm>
            <a:off x="640080" y="5660136"/>
            <a:ext cx="192024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Requirements</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3447288" y="507492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tasks.png" id="43" name="Google Shape;43;p2"/>
          <p:cNvPicPr preferRelativeResize="0"/>
          <p:nvPr/>
        </p:nvPicPr>
        <p:blipFill rotWithShape="1">
          <a:blip r:embed="rId4">
            <a:alphaModFix/>
          </a:blip>
          <a:srcRect b="0" l="0" r="0" t="0"/>
          <a:stretch/>
        </p:blipFill>
        <p:spPr>
          <a:xfrm>
            <a:off x="3559942" y="5187574"/>
            <a:ext cx="286756" cy="286756"/>
          </a:xfrm>
          <a:prstGeom prst="rect">
            <a:avLst/>
          </a:prstGeom>
          <a:noFill/>
          <a:ln>
            <a:noFill/>
          </a:ln>
        </p:spPr>
      </p:pic>
      <p:sp>
        <p:nvSpPr>
          <p:cNvPr id="44" name="Google Shape;44;p2"/>
          <p:cNvSpPr/>
          <p:nvPr/>
        </p:nvSpPr>
        <p:spPr>
          <a:xfrm>
            <a:off x="2743200" y="5660136"/>
            <a:ext cx="192024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Scope Control</a:t>
            </a:r>
            <a:endParaRPr b="0" i="0" sz="1200" u="none" cap="none" strike="noStrike">
              <a:solidFill>
                <a:schemeClr val="dk1"/>
              </a:solidFill>
              <a:latin typeface="Calibri"/>
              <a:ea typeface="Calibri"/>
              <a:cs typeface="Calibri"/>
              <a:sym typeface="Calibri"/>
            </a:endParaRPr>
          </a:p>
        </p:txBody>
      </p:sp>
      <p:sp>
        <p:nvSpPr>
          <p:cNvPr id="45" name="Google Shape;45;p2"/>
          <p:cNvSpPr/>
          <p:nvPr/>
        </p:nvSpPr>
        <p:spPr>
          <a:xfrm>
            <a:off x="5550408" y="507492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checkcircle.png" id="46" name="Google Shape;46;p2"/>
          <p:cNvPicPr preferRelativeResize="0"/>
          <p:nvPr/>
        </p:nvPicPr>
        <p:blipFill rotWithShape="1">
          <a:blip r:embed="rId5">
            <a:alphaModFix/>
          </a:blip>
          <a:srcRect b="0" l="0" r="0" t="0"/>
          <a:stretch/>
        </p:blipFill>
        <p:spPr>
          <a:xfrm>
            <a:off x="5663062" y="5187574"/>
            <a:ext cx="286756" cy="286756"/>
          </a:xfrm>
          <a:prstGeom prst="rect">
            <a:avLst/>
          </a:prstGeom>
          <a:noFill/>
          <a:ln>
            <a:noFill/>
          </a:ln>
        </p:spPr>
      </p:pic>
      <p:sp>
        <p:nvSpPr>
          <p:cNvPr id="47" name="Google Shape;47;p2"/>
          <p:cNvSpPr/>
          <p:nvPr/>
        </p:nvSpPr>
        <p:spPr>
          <a:xfrm>
            <a:off x="4846320" y="5660136"/>
            <a:ext cx="192024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Verification</a:t>
            </a:r>
            <a:endParaRPr b="0" i="0" sz="1200" u="none" cap="none" strike="noStrike">
              <a:solidFill>
                <a:schemeClr val="dk1"/>
              </a:solidFill>
              <a:latin typeface="Calibri"/>
              <a:ea typeface="Calibri"/>
              <a:cs typeface="Calibri"/>
              <a:sym typeface="Calibri"/>
            </a:endParaRPr>
          </a:p>
        </p:txBody>
      </p:sp>
      <p:sp>
        <p:nvSpPr>
          <p:cNvPr id="48" name="Google Shape;48;p2"/>
          <p:cNvSpPr/>
          <p:nvPr/>
        </p:nvSpPr>
        <p:spPr>
          <a:xfrm>
            <a:off x="7178040" y="1554480"/>
            <a:ext cx="4480560" cy="3749040"/>
          </a:xfrm>
          <a:prstGeom prst="roundRect">
            <a:avLst>
              <a:gd fmla="val 1951" name="adj"/>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452360" y="1810512"/>
            <a:ext cx="548640" cy="548640"/>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warning.png" id="50" name="Google Shape;50;p2"/>
          <p:cNvPicPr preferRelativeResize="0"/>
          <p:nvPr/>
        </p:nvPicPr>
        <p:blipFill rotWithShape="1">
          <a:blip r:embed="rId6">
            <a:alphaModFix/>
          </a:blip>
          <a:srcRect b="0" l="0" r="0" t="0"/>
          <a:stretch/>
        </p:blipFill>
        <p:spPr>
          <a:xfrm>
            <a:off x="7573061" y="1931213"/>
            <a:ext cx="307238" cy="307238"/>
          </a:xfrm>
          <a:prstGeom prst="rect">
            <a:avLst/>
          </a:prstGeom>
          <a:noFill/>
          <a:ln>
            <a:noFill/>
          </a:ln>
        </p:spPr>
      </p:pic>
      <p:sp>
        <p:nvSpPr>
          <p:cNvPr id="51" name="Google Shape;51;p2"/>
          <p:cNvSpPr/>
          <p:nvPr/>
        </p:nvSpPr>
        <p:spPr>
          <a:xfrm>
            <a:off x="8138160" y="1847088"/>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100"/>
              <a:buFont typeface="Calibri"/>
              <a:buNone/>
            </a:pPr>
            <a:r>
              <a:rPr b="1" i="0" lang="en-US" sz="1100" u="none" cap="none" strike="noStrike">
                <a:solidFill>
                  <a:srgbClr val="F2994A"/>
                </a:solidFill>
                <a:latin typeface="Calibri"/>
                <a:ea typeface="Calibri"/>
                <a:cs typeface="Calibri"/>
                <a:sym typeface="Calibri"/>
              </a:rPr>
              <a:t>CASE IN POINT</a:t>
            </a:r>
            <a:endParaRPr b="0" i="0" sz="1100" u="none" cap="none" strike="noStrike">
              <a:solidFill>
                <a:schemeClr val="dk1"/>
              </a:solidFill>
              <a:latin typeface="Calibri"/>
              <a:ea typeface="Calibri"/>
              <a:cs typeface="Calibri"/>
              <a:sym typeface="Calibri"/>
            </a:endParaRPr>
          </a:p>
        </p:txBody>
      </p:sp>
      <p:sp>
        <p:nvSpPr>
          <p:cNvPr id="52" name="Google Shape;52;p2"/>
          <p:cNvSpPr/>
          <p:nvPr/>
        </p:nvSpPr>
        <p:spPr>
          <a:xfrm>
            <a:off x="8138160" y="208483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Knight Capital</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7452360" y="2606040"/>
            <a:ext cx="39319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$440M</a:t>
            </a:r>
            <a:endParaRPr b="0" i="0" sz="4600" u="none" cap="none" strike="noStrike">
              <a:solidFill>
                <a:schemeClr val="dk1"/>
              </a:solidFill>
              <a:latin typeface="Calibri"/>
              <a:ea typeface="Calibri"/>
              <a:cs typeface="Calibri"/>
              <a:sym typeface="Calibri"/>
            </a:endParaRPr>
          </a:p>
        </p:txBody>
      </p:sp>
      <p:sp>
        <p:nvSpPr>
          <p:cNvPr id="54" name="Google Shape;54;p2"/>
          <p:cNvSpPr/>
          <p:nvPr/>
        </p:nvSpPr>
        <p:spPr>
          <a:xfrm>
            <a:off x="7452360" y="3429000"/>
            <a:ext cx="393192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7D3E8"/>
              </a:buClr>
              <a:buSzPts val="1250"/>
              <a:buFont typeface="Calibri"/>
              <a:buNone/>
            </a:pPr>
            <a:r>
              <a:rPr b="0" i="0" lang="en-US" sz="1250" u="none" cap="none" strike="noStrike">
                <a:solidFill>
                  <a:srgbClr val="C7D3E8"/>
                </a:solidFill>
                <a:latin typeface="Calibri"/>
                <a:ea typeface="Calibri"/>
                <a:cs typeface="Calibri"/>
                <a:sym typeface="Calibri"/>
              </a:rPr>
              <a:t>lost in 45 minutes after an untested deployment process released flawed trading code.</a:t>
            </a:r>
            <a:endParaRPr b="0" i="0" sz="1250" u="none" cap="none" strike="noStrike">
              <a:solidFill>
                <a:schemeClr val="dk1"/>
              </a:solidFill>
              <a:latin typeface="Calibri"/>
              <a:ea typeface="Calibri"/>
              <a:cs typeface="Calibri"/>
              <a:sym typeface="Calibri"/>
            </a:endParaRPr>
          </a:p>
        </p:txBody>
      </p:sp>
      <p:cxnSp>
        <p:nvCxnSpPr>
          <p:cNvPr id="55" name="Google Shape;55;p2"/>
          <p:cNvCxnSpPr/>
          <p:nvPr/>
        </p:nvCxnSpPr>
        <p:spPr>
          <a:xfrm>
            <a:off x="7452360" y="4434840"/>
            <a:ext cx="3931920" cy="0"/>
          </a:xfrm>
          <a:prstGeom prst="straightConnector1">
            <a:avLst/>
          </a:prstGeom>
          <a:noFill/>
          <a:ln cap="flat" cmpd="sng" w="12700">
            <a:solidFill>
              <a:srgbClr val="2A4A7A"/>
            </a:solidFill>
            <a:prstDash val="solid"/>
            <a:round/>
            <a:headEnd len="sm" w="sm" type="none"/>
            <a:tailEnd len="sm" w="sm" type="none"/>
          </a:ln>
        </p:spPr>
      </p:cxnSp>
      <p:sp>
        <p:nvSpPr>
          <p:cNvPr id="56" name="Google Shape;56;p2"/>
          <p:cNvSpPr/>
          <p:nvPr/>
        </p:nvSpPr>
        <p:spPr>
          <a:xfrm>
            <a:off x="7452360" y="457200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FB3D1"/>
              </a:buClr>
              <a:buSzPts val="1100"/>
              <a:buFont typeface="Calibri"/>
              <a:buNone/>
            </a:pPr>
            <a:r>
              <a:rPr b="0" i="1" lang="en-US" sz="1100" u="none" cap="none" strike="noStrike">
                <a:solidFill>
                  <a:srgbClr val="9FB3D1"/>
                </a:solidFill>
                <a:latin typeface="Calibri"/>
                <a:ea typeface="Calibri"/>
                <a:cs typeface="Calibri"/>
                <a:sym typeface="Calibri"/>
              </a:rPr>
              <a:t>Other well-known cases: Healthcare.gov (2013) and the Denver Airport baggage system.</a:t>
            </a:r>
            <a:endParaRPr b="0" i="0" sz="1100" u="none" cap="none" strike="noStrike">
              <a:solidFill>
                <a:schemeClr val="dk1"/>
              </a:solidFill>
              <a:latin typeface="Calibri"/>
              <a:ea typeface="Calibri"/>
              <a:cs typeface="Calibri"/>
              <a:sym typeface="Calibri"/>
            </a:endParaRPr>
          </a:p>
        </p:txBody>
      </p:sp>
      <p:sp>
        <p:nvSpPr>
          <p:cNvPr id="57" name="Google Shape;57;p2"/>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58" name="Google Shape;58;p2"/>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FOUNDATIONS</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What is a Software Process?</a:t>
            </a:r>
            <a:endParaRPr b="0" i="0" sz="3200" u="none" cap="none" strike="noStrike">
              <a:solidFill>
                <a:schemeClr val="dk1"/>
              </a:solidFill>
              <a:latin typeface="Calibri"/>
              <a:ea typeface="Calibri"/>
              <a:cs typeface="Calibri"/>
              <a:sym typeface="Calibri"/>
            </a:endParaRPr>
          </a:p>
        </p:txBody>
      </p:sp>
      <p:sp>
        <p:nvSpPr>
          <p:cNvPr id="66" name="Google Shape;66;p3"/>
          <p:cNvSpPr/>
          <p:nvPr/>
        </p:nvSpPr>
        <p:spPr>
          <a:xfrm>
            <a:off x="548640" y="1481328"/>
            <a:ext cx="10515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B6F"/>
              </a:buClr>
              <a:buSzPts val="1550"/>
              <a:buFont typeface="Calibri"/>
              <a:buNone/>
            </a:pPr>
            <a:r>
              <a:rPr b="0" i="1" lang="en-US" sz="1550" u="none" cap="none" strike="noStrike">
                <a:solidFill>
                  <a:srgbClr val="1B3B6F"/>
                </a:solidFill>
                <a:latin typeface="Calibri"/>
                <a:ea typeface="Calibri"/>
                <a:cs typeface="Calibri"/>
                <a:sym typeface="Calibri"/>
              </a:rPr>
              <a:t>A structured set of activities that transforms a user need into a working software product.</a:t>
            </a:r>
            <a:endParaRPr b="0" i="0" sz="1550" u="none" cap="none" strike="noStrike">
              <a:solidFill>
                <a:schemeClr val="dk1"/>
              </a:solidFill>
              <a:latin typeface="Calibri"/>
              <a:ea typeface="Calibri"/>
              <a:cs typeface="Calibri"/>
              <a:sym typeface="Calibri"/>
            </a:endParaRPr>
          </a:p>
        </p:txBody>
      </p:sp>
      <p:sp>
        <p:nvSpPr>
          <p:cNvPr id="67" name="Google Shape;67;p3"/>
          <p:cNvSpPr/>
          <p:nvPr/>
        </p:nvSpPr>
        <p:spPr>
          <a:xfrm>
            <a:off x="548640" y="2331720"/>
            <a:ext cx="2606040" cy="2834640"/>
          </a:xfrm>
          <a:prstGeom prst="roundRect">
            <a:avLst>
              <a:gd fmla="val 2807"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1540764" y="2651760"/>
            <a:ext cx="621792" cy="621792"/>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cogs.png" id="69" name="Google Shape;69;p3"/>
          <p:cNvPicPr preferRelativeResize="0"/>
          <p:nvPr/>
        </p:nvPicPr>
        <p:blipFill rotWithShape="1">
          <a:blip r:embed="rId3">
            <a:alphaModFix/>
          </a:blip>
          <a:srcRect b="0" l="0" r="0" t="0"/>
          <a:stretch/>
        </p:blipFill>
        <p:spPr>
          <a:xfrm>
            <a:off x="1677558" y="2788554"/>
            <a:ext cx="348204" cy="348204"/>
          </a:xfrm>
          <a:prstGeom prst="rect">
            <a:avLst/>
          </a:prstGeom>
          <a:noFill/>
          <a:ln>
            <a:noFill/>
          </a:ln>
        </p:spPr>
      </p:pic>
      <p:sp>
        <p:nvSpPr>
          <p:cNvPr id="70" name="Google Shape;70;p3"/>
          <p:cNvSpPr/>
          <p:nvPr/>
        </p:nvSpPr>
        <p:spPr>
          <a:xfrm>
            <a:off x="685800" y="34747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500"/>
              <a:buFont typeface="Calibri"/>
              <a:buNone/>
            </a:pPr>
            <a:r>
              <a:rPr b="1" i="0" lang="en-US" sz="1500" u="none" cap="none" strike="noStrike">
                <a:solidFill>
                  <a:srgbClr val="10233F"/>
                </a:solidFill>
                <a:latin typeface="Calibri"/>
                <a:ea typeface="Calibri"/>
                <a:cs typeface="Calibri"/>
                <a:sym typeface="Calibri"/>
              </a:rPr>
              <a:t>Purpose</a:t>
            </a:r>
            <a:endParaRPr b="0" i="0" sz="1500" u="none" cap="none" strike="noStrike">
              <a:solidFill>
                <a:schemeClr val="dk1"/>
              </a:solidFill>
              <a:latin typeface="Calibri"/>
              <a:ea typeface="Calibri"/>
              <a:cs typeface="Calibri"/>
              <a:sym typeface="Calibri"/>
            </a:endParaRPr>
          </a:p>
        </p:txBody>
      </p:sp>
      <p:sp>
        <p:nvSpPr>
          <p:cNvPr id="71" name="Google Shape;71;p3"/>
          <p:cNvSpPr/>
          <p:nvPr/>
        </p:nvSpPr>
        <p:spPr>
          <a:xfrm>
            <a:off x="777240" y="3840480"/>
            <a:ext cx="2148840" cy="11887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5B6B85"/>
              </a:buClr>
              <a:buSzPts val="1200"/>
              <a:buFont typeface="Calibri"/>
              <a:buNone/>
            </a:pPr>
            <a:r>
              <a:rPr b="0" i="0" lang="en-US" sz="1200" u="none" cap="none" strike="noStrike">
                <a:solidFill>
                  <a:srgbClr val="5B6B85"/>
                </a:solidFill>
                <a:latin typeface="Calibri"/>
                <a:ea typeface="Calibri"/>
                <a:cs typeface="Calibri"/>
                <a:sym typeface="Calibri"/>
              </a:rPr>
              <a:t>Defines who does what, when, and in what order.</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3383280" y="2331720"/>
            <a:ext cx="2606040" cy="2834640"/>
          </a:xfrm>
          <a:prstGeom prst="roundRect">
            <a:avLst>
              <a:gd fmla="val 2807"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375404" y="2651760"/>
            <a:ext cx="621792" cy="621792"/>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users.png" id="74" name="Google Shape;74;p3"/>
          <p:cNvPicPr preferRelativeResize="0"/>
          <p:nvPr/>
        </p:nvPicPr>
        <p:blipFill rotWithShape="1">
          <a:blip r:embed="rId4">
            <a:alphaModFix/>
          </a:blip>
          <a:srcRect b="0" l="0" r="0" t="0"/>
          <a:stretch/>
        </p:blipFill>
        <p:spPr>
          <a:xfrm>
            <a:off x="4512198" y="2788554"/>
            <a:ext cx="348204" cy="348204"/>
          </a:xfrm>
          <a:prstGeom prst="rect">
            <a:avLst/>
          </a:prstGeom>
          <a:noFill/>
          <a:ln>
            <a:noFill/>
          </a:ln>
        </p:spPr>
      </p:pic>
      <p:sp>
        <p:nvSpPr>
          <p:cNvPr id="75" name="Google Shape;75;p3"/>
          <p:cNvSpPr/>
          <p:nvPr/>
        </p:nvSpPr>
        <p:spPr>
          <a:xfrm>
            <a:off x="3520440" y="34747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500"/>
              <a:buFont typeface="Calibri"/>
              <a:buNone/>
            </a:pPr>
            <a:r>
              <a:rPr b="1" i="0" lang="en-US" sz="1500" u="none" cap="none" strike="noStrike">
                <a:solidFill>
                  <a:srgbClr val="10233F"/>
                </a:solidFill>
                <a:latin typeface="Calibri"/>
                <a:ea typeface="Calibri"/>
                <a:cs typeface="Calibri"/>
                <a:sym typeface="Calibri"/>
              </a:rPr>
              <a:t>Stakeholders</a:t>
            </a:r>
            <a:endParaRPr b="0" i="0" sz="1500" u="none" cap="none" strike="noStrike">
              <a:solidFill>
                <a:schemeClr val="dk1"/>
              </a:solidFill>
              <a:latin typeface="Calibri"/>
              <a:ea typeface="Calibri"/>
              <a:cs typeface="Calibri"/>
              <a:sym typeface="Calibri"/>
            </a:endParaRPr>
          </a:p>
        </p:txBody>
      </p:sp>
      <p:sp>
        <p:nvSpPr>
          <p:cNvPr id="76" name="Google Shape;76;p3"/>
          <p:cNvSpPr/>
          <p:nvPr/>
        </p:nvSpPr>
        <p:spPr>
          <a:xfrm>
            <a:off x="3611880" y="3840480"/>
            <a:ext cx="2148840" cy="11887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5B6B85"/>
              </a:buClr>
              <a:buSzPts val="1200"/>
              <a:buFont typeface="Calibri"/>
              <a:buNone/>
            </a:pPr>
            <a:r>
              <a:rPr b="0" i="0" lang="en-US" sz="1200" u="none" cap="none" strike="noStrike">
                <a:solidFill>
                  <a:srgbClr val="5B6B85"/>
                </a:solidFill>
                <a:latin typeface="Calibri"/>
                <a:ea typeface="Calibri"/>
                <a:cs typeface="Calibri"/>
                <a:sym typeface="Calibri"/>
              </a:rPr>
              <a:t>Developers, testers, users, managers, and clients.</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6217920" y="2331720"/>
            <a:ext cx="2606040" cy="2834640"/>
          </a:xfrm>
          <a:prstGeom prst="roundRect">
            <a:avLst>
              <a:gd fmla="val 2807"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210044" y="2651760"/>
            <a:ext cx="621792" cy="621792"/>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file.png" id="79" name="Google Shape;79;p3"/>
          <p:cNvPicPr preferRelativeResize="0"/>
          <p:nvPr/>
        </p:nvPicPr>
        <p:blipFill rotWithShape="1">
          <a:blip r:embed="rId5">
            <a:alphaModFix/>
          </a:blip>
          <a:srcRect b="0" l="0" r="0" t="0"/>
          <a:stretch/>
        </p:blipFill>
        <p:spPr>
          <a:xfrm>
            <a:off x="7346838" y="2788554"/>
            <a:ext cx="348204" cy="348204"/>
          </a:xfrm>
          <a:prstGeom prst="rect">
            <a:avLst/>
          </a:prstGeom>
          <a:noFill/>
          <a:ln>
            <a:noFill/>
          </a:ln>
        </p:spPr>
      </p:pic>
      <p:sp>
        <p:nvSpPr>
          <p:cNvPr id="80" name="Google Shape;80;p3"/>
          <p:cNvSpPr/>
          <p:nvPr/>
        </p:nvSpPr>
        <p:spPr>
          <a:xfrm>
            <a:off x="6355080" y="34747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500"/>
              <a:buFont typeface="Calibri"/>
              <a:buNone/>
            </a:pPr>
            <a:r>
              <a:rPr b="1" i="0" lang="en-US" sz="1500" u="none" cap="none" strike="noStrike">
                <a:solidFill>
                  <a:srgbClr val="10233F"/>
                </a:solidFill>
                <a:latin typeface="Calibri"/>
                <a:ea typeface="Calibri"/>
                <a:cs typeface="Calibri"/>
                <a:sym typeface="Calibri"/>
              </a:rPr>
              <a:t>Deliverables</a:t>
            </a:r>
            <a:endParaRPr b="0" i="0" sz="1500" u="none" cap="none" strike="noStrike">
              <a:solidFill>
                <a:schemeClr val="dk1"/>
              </a:solidFill>
              <a:latin typeface="Calibri"/>
              <a:ea typeface="Calibri"/>
              <a:cs typeface="Calibri"/>
              <a:sym typeface="Calibri"/>
            </a:endParaRPr>
          </a:p>
        </p:txBody>
      </p:sp>
      <p:sp>
        <p:nvSpPr>
          <p:cNvPr id="81" name="Google Shape;81;p3"/>
          <p:cNvSpPr/>
          <p:nvPr/>
        </p:nvSpPr>
        <p:spPr>
          <a:xfrm>
            <a:off x="6446520" y="3840480"/>
            <a:ext cx="2148840" cy="11887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5B6B85"/>
              </a:buClr>
              <a:buSzPts val="1200"/>
              <a:buFont typeface="Calibri"/>
              <a:buNone/>
            </a:pPr>
            <a:r>
              <a:rPr b="0" i="0" lang="en-US" sz="1200" u="none" cap="none" strike="noStrike">
                <a:solidFill>
                  <a:srgbClr val="5B6B85"/>
                </a:solidFill>
                <a:latin typeface="Calibri"/>
                <a:ea typeface="Calibri"/>
                <a:cs typeface="Calibri"/>
                <a:sym typeface="Calibri"/>
              </a:rPr>
              <a:t>Requirements docs, source code, and test reports.</a:t>
            </a:r>
            <a:endParaRPr b="0" i="0" sz="1200" u="none" cap="none" strike="noStrike">
              <a:solidFill>
                <a:schemeClr val="dk1"/>
              </a:solidFill>
              <a:latin typeface="Calibri"/>
              <a:ea typeface="Calibri"/>
              <a:cs typeface="Calibri"/>
              <a:sym typeface="Calibri"/>
            </a:endParaRPr>
          </a:p>
        </p:txBody>
      </p:sp>
      <p:sp>
        <p:nvSpPr>
          <p:cNvPr id="82" name="Google Shape;82;p3"/>
          <p:cNvSpPr/>
          <p:nvPr/>
        </p:nvSpPr>
        <p:spPr>
          <a:xfrm>
            <a:off x="9052560" y="2331720"/>
            <a:ext cx="2606040" cy="2834640"/>
          </a:xfrm>
          <a:prstGeom prst="roundRect">
            <a:avLst>
              <a:gd fmla="val 2807"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0044684" y="2651760"/>
            <a:ext cx="621792" cy="621792"/>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shield.png" id="84" name="Google Shape;84;p3"/>
          <p:cNvPicPr preferRelativeResize="0"/>
          <p:nvPr/>
        </p:nvPicPr>
        <p:blipFill rotWithShape="1">
          <a:blip r:embed="rId6">
            <a:alphaModFix/>
          </a:blip>
          <a:srcRect b="0" l="0" r="0" t="0"/>
          <a:stretch/>
        </p:blipFill>
        <p:spPr>
          <a:xfrm>
            <a:off x="10181478" y="2788554"/>
            <a:ext cx="348204" cy="348204"/>
          </a:xfrm>
          <a:prstGeom prst="rect">
            <a:avLst/>
          </a:prstGeom>
          <a:noFill/>
          <a:ln>
            <a:noFill/>
          </a:ln>
        </p:spPr>
      </p:pic>
      <p:sp>
        <p:nvSpPr>
          <p:cNvPr id="85" name="Google Shape;85;p3"/>
          <p:cNvSpPr/>
          <p:nvPr/>
        </p:nvSpPr>
        <p:spPr>
          <a:xfrm>
            <a:off x="9189720" y="34747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500"/>
              <a:buFont typeface="Calibri"/>
              <a:buNone/>
            </a:pPr>
            <a:r>
              <a:rPr b="1" i="0" lang="en-US" sz="1500" u="none" cap="none" strike="noStrike">
                <a:solidFill>
                  <a:srgbClr val="10233F"/>
                </a:solidFill>
                <a:latin typeface="Calibri"/>
                <a:ea typeface="Calibri"/>
                <a:cs typeface="Calibri"/>
                <a:sym typeface="Calibri"/>
              </a:rPr>
              <a:t>Value</a:t>
            </a:r>
            <a:endParaRPr b="0" i="0" sz="1500" u="none" cap="none" strike="noStrike">
              <a:solidFill>
                <a:schemeClr val="dk1"/>
              </a:solidFill>
              <a:latin typeface="Calibri"/>
              <a:ea typeface="Calibri"/>
              <a:cs typeface="Calibri"/>
              <a:sym typeface="Calibri"/>
            </a:endParaRPr>
          </a:p>
        </p:txBody>
      </p:sp>
      <p:sp>
        <p:nvSpPr>
          <p:cNvPr id="86" name="Google Shape;86;p3"/>
          <p:cNvSpPr/>
          <p:nvPr/>
        </p:nvSpPr>
        <p:spPr>
          <a:xfrm>
            <a:off x="9281160" y="3840480"/>
            <a:ext cx="2148840" cy="11887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5B6B85"/>
              </a:buClr>
              <a:buSzPts val="1200"/>
              <a:buFont typeface="Calibri"/>
              <a:buNone/>
            </a:pPr>
            <a:r>
              <a:rPr b="0" i="0" lang="en-US" sz="1200" u="none" cap="none" strike="noStrike">
                <a:solidFill>
                  <a:srgbClr val="5B6B85"/>
                </a:solidFill>
                <a:latin typeface="Calibri"/>
                <a:ea typeface="Calibri"/>
                <a:cs typeface="Calibri"/>
                <a:sym typeface="Calibri"/>
              </a:rPr>
              <a:t>Manages complexity and helps ensure quality.</a:t>
            </a:r>
            <a:endParaRPr b="0" i="0" sz="1200" u="none" cap="none" strike="noStrike">
              <a:solidFill>
                <a:schemeClr val="dk1"/>
              </a:solidFill>
              <a:latin typeface="Calibri"/>
              <a:ea typeface="Calibri"/>
              <a:cs typeface="Calibri"/>
              <a:sym typeface="Calibri"/>
            </a:endParaRPr>
          </a:p>
        </p:txBody>
      </p:sp>
      <p:sp>
        <p:nvSpPr>
          <p:cNvPr id="87" name="Google Shape;87;p3"/>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88" name="Google Shape;88;p3"/>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FOUNDATIONS</a:t>
            </a:r>
            <a:endParaRPr b="0" i="0" sz="1200" u="none" cap="none" strike="noStrike">
              <a:solidFill>
                <a:schemeClr val="dk1"/>
              </a:solidFill>
              <a:latin typeface="Calibri"/>
              <a:ea typeface="Calibri"/>
              <a:cs typeface="Calibri"/>
              <a:sym typeface="Calibri"/>
            </a:endParaRPr>
          </a:p>
        </p:txBody>
      </p:sp>
      <p:sp>
        <p:nvSpPr>
          <p:cNvPr id="95" name="Google Shape;95;p4"/>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Understanding the SDLC</a:t>
            </a:r>
            <a:endParaRPr b="0" i="0" sz="3200" u="none" cap="none" strike="noStrike">
              <a:solidFill>
                <a:schemeClr val="dk1"/>
              </a:solidFill>
              <a:latin typeface="Calibri"/>
              <a:ea typeface="Calibri"/>
              <a:cs typeface="Calibri"/>
              <a:sym typeface="Calibri"/>
            </a:endParaRPr>
          </a:p>
        </p:txBody>
      </p:sp>
      <p:sp>
        <p:nvSpPr>
          <p:cNvPr id="96" name="Google Shape;96;p4"/>
          <p:cNvSpPr/>
          <p:nvPr/>
        </p:nvSpPr>
        <p:spPr>
          <a:xfrm>
            <a:off x="548640" y="1691640"/>
            <a:ext cx="6035040" cy="347472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600"/>
              <a:buFont typeface="Calibri"/>
              <a:buChar char="▪"/>
            </a:pPr>
            <a:r>
              <a:rPr b="0" i="0" lang="en-US" sz="1600" u="none" cap="none" strike="noStrike">
                <a:solidFill>
                  <a:srgbClr val="212A3B"/>
                </a:solidFill>
                <a:latin typeface="Calibri"/>
                <a:ea typeface="Calibri"/>
                <a:cs typeface="Calibri"/>
                <a:sym typeface="Calibri"/>
              </a:rPr>
              <a:t>A systematic framework guiding software from idea to retirement</a:t>
            </a:r>
            <a:endParaRPr b="0" i="0" sz="1600" u="none" cap="none" strike="noStrike">
              <a:solidFill>
                <a:schemeClr val="dk1"/>
              </a:solidFill>
              <a:latin typeface="Calibri"/>
              <a:ea typeface="Calibri"/>
              <a:cs typeface="Calibri"/>
              <a:sym typeface="Calibri"/>
            </a:endParaRPr>
          </a:p>
          <a:p>
            <a:pPr indent="-228600" lvl="0" marL="228600" marR="0" rtl="0" algn="l">
              <a:spcBef>
                <a:spcPts val="2000"/>
              </a:spcBef>
              <a:spcAft>
                <a:spcPts val="0"/>
              </a:spcAft>
              <a:buClr>
                <a:srgbClr val="212A3B"/>
              </a:buClr>
              <a:buSzPts val="1600"/>
              <a:buFont typeface="Calibri"/>
              <a:buChar char="▪"/>
            </a:pPr>
            <a:r>
              <a:rPr b="0" i="0" lang="en-US" sz="1600" u="none" cap="none" strike="noStrike">
                <a:solidFill>
                  <a:srgbClr val="212A3B"/>
                </a:solidFill>
                <a:latin typeface="Calibri"/>
                <a:ea typeface="Calibri"/>
                <a:cs typeface="Calibri"/>
                <a:sym typeface="Calibri"/>
              </a:rPr>
              <a:t>Goal: deliver quality software on time and within budget</a:t>
            </a:r>
            <a:endParaRPr b="0" i="0" sz="1600" u="none" cap="none" strike="noStrike">
              <a:solidFill>
                <a:schemeClr val="dk1"/>
              </a:solidFill>
              <a:latin typeface="Calibri"/>
              <a:ea typeface="Calibri"/>
              <a:cs typeface="Calibri"/>
              <a:sym typeface="Calibri"/>
            </a:endParaRPr>
          </a:p>
          <a:p>
            <a:pPr indent="-228600" lvl="0" marL="228600" marR="0" rtl="0" algn="l">
              <a:spcBef>
                <a:spcPts val="2000"/>
              </a:spcBef>
              <a:spcAft>
                <a:spcPts val="0"/>
              </a:spcAft>
              <a:buClr>
                <a:srgbClr val="212A3B"/>
              </a:buClr>
              <a:buSzPts val="1600"/>
              <a:buFont typeface="Calibri"/>
              <a:buChar char="▪"/>
            </a:pPr>
            <a:r>
              <a:rPr b="0" i="0" lang="en-US" sz="1600" u="none" cap="none" strike="noStrike">
                <a:solidFill>
                  <a:srgbClr val="212A3B"/>
                </a:solidFill>
                <a:latin typeface="Calibri"/>
                <a:ea typeface="Calibri"/>
                <a:cs typeface="Calibri"/>
                <a:sym typeface="Calibri"/>
              </a:rPr>
              <a:t>Benefits: predictability, better planning, and risk control</a:t>
            </a:r>
            <a:endParaRPr b="0" i="0" sz="1600" u="none" cap="none" strike="noStrike">
              <a:solidFill>
                <a:schemeClr val="dk1"/>
              </a:solidFill>
              <a:latin typeface="Calibri"/>
              <a:ea typeface="Calibri"/>
              <a:cs typeface="Calibri"/>
              <a:sym typeface="Calibri"/>
            </a:endParaRPr>
          </a:p>
          <a:p>
            <a:pPr indent="-228600" lvl="0" marL="228600" marR="0" rtl="0" algn="l">
              <a:spcBef>
                <a:spcPts val="2000"/>
              </a:spcBef>
              <a:spcAft>
                <a:spcPts val="0"/>
              </a:spcAft>
              <a:buClr>
                <a:srgbClr val="212A3B"/>
              </a:buClr>
              <a:buSzPts val="1600"/>
              <a:buFont typeface="Calibri"/>
              <a:buChar char="▪"/>
            </a:pPr>
            <a:r>
              <a:rPr b="0" i="0" lang="en-US" sz="1600" u="none" cap="none" strike="noStrike">
                <a:solidFill>
                  <a:srgbClr val="212A3B"/>
                </a:solidFill>
                <a:latin typeface="Calibri"/>
                <a:ea typeface="Calibri"/>
                <a:cs typeface="Calibri"/>
                <a:sym typeface="Calibri"/>
              </a:rPr>
              <a:t>Provides a shared vocabulary across engineering teams</a:t>
            </a:r>
            <a:endParaRPr b="0" i="0" sz="1600" u="none" cap="none" strike="noStrike">
              <a:solidFill>
                <a:schemeClr val="dk1"/>
              </a:solidFill>
              <a:latin typeface="Calibri"/>
              <a:ea typeface="Calibri"/>
              <a:cs typeface="Calibri"/>
              <a:sym typeface="Calibri"/>
            </a:endParaRPr>
          </a:p>
          <a:p>
            <a:pPr indent="-228600" lvl="0" marL="228600" marR="0" rtl="0" algn="l">
              <a:spcBef>
                <a:spcPts val="2000"/>
              </a:spcBef>
              <a:spcAft>
                <a:spcPts val="0"/>
              </a:spcAft>
              <a:buClr>
                <a:srgbClr val="212A3B"/>
              </a:buClr>
              <a:buSzPts val="1600"/>
              <a:buFont typeface="Calibri"/>
              <a:buChar char="▪"/>
            </a:pPr>
            <a:r>
              <a:rPr b="0" i="0" lang="en-US" sz="1600" u="none" cap="none" strike="noStrike">
                <a:solidFill>
                  <a:srgbClr val="212A3B"/>
                </a:solidFill>
                <a:latin typeface="Calibri"/>
                <a:ea typeface="Calibri"/>
                <a:cs typeface="Calibri"/>
                <a:sym typeface="Calibri"/>
              </a:rPr>
              <a:t>Forms the foundation for every model discussed today</a:t>
            </a:r>
            <a:endParaRPr b="0" i="0" sz="1600" u="none" cap="none" strike="noStrike">
              <a:solidFill>
                <a:schemeClr val="dk1"/>
              </a:solidFill>
              <a:latin typeface="Calibri"/>
              <a:ea typeface="Calibri"/>
              <a:cs typeface="Calibri"/>
              <a:sym typeface="Calibri"/>
            </a:endParaRPr>
          </a:p>
        </p:txBody>
      </p:sp>
      <p:sp>
        <p:nvSpPr>
          <p:cNvPr id="97" name="Google Shape;97;p4"/>
          <p:cNvSpPr/>
          <p:nvPr/>
        </p:nvSpPr>
        <p:spPr>
          <a:xfrm>
            <a:off x="1298448" y="498348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chart.png" id="98" name="Google Shape;98;p4"/>
          <p:cNvPicPr preferRelativeResize="0"/>
          <p:nvPr/>
        </p:nvPicPr>
        <p:blipFill rotWithShape="1">
          <a:blip r:embed="rId3">
            <a:alphaModFix/>
          </a:blip>
          <a:srcRect b="0" l="0" r="0" t="0"/>
          <a:stretch/>
        </p:blipFill>
        <p:spPr>
          <a:xfrm>
            <a:off x="1411102" y="5096134"/>
            <a:ext cx="286756" cy="286756"/>
          </a:xfrm>
          <a:prstGeom prst="rect">
            <a:avLst/>
          </a:prstGeom>
          <a:noFill/>
          <a:ln>
            <a:noFill/>
          </a:ln>
        </p:spPr>
      </p:pic>
      <p:sp>
        <p:nvSpPr>
          <p:cNvPr id="99" name="Google Shape;99;p4"/>
          <p:cNvSpPr/>
          <p:nvPr/>
        </p:nvSpPr>
        <p:spPr>
          <a:xfrm>
            <a:off x="640080" y="5568696"/>
            <a:ext cx="182880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Predictability</a:t>
            </a:r>
            <a:endParaRPr b="0" i="0" sz="1200" u="none" cap="none" strike="noStrike">
              <a:solidFill>
                <a:schemeClr val="dk1"/>
              </a:solidFill>
              <a:latin typeface="Calibri"/>
              <a:ea typeface="Calibri"/>
              <a:cs typeface="Calibri"/>
              <a:sym typeface="Calibri"/>
            </a:endParaRPr>
          </a:p>
        </p:txBody>
      </p:sp>
      <p:sp>
        <p:nvSpPr>
          <p:cNvPr id="100" name="Google Shape;100;p4"/>
          <p:cNvSpPr/>
          <p:nvPr/>
        </p:nvSpPr>
        <p:spPr>
          <a:xfrm>
            <a:off x="3310128" y="498348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tasks.png" id="101" name="Google Shape;101;p4"/>
          <p:cNvPicPr preferRelativeResize="0"/>
          <p:nvPr/>
        </p:nvPicPr>
        <p:blipFill rotWithShape="1">
          <a:blip r:embed="rId4">
            <a:alphaModFix/>
          </a:blip>
          <a:srcRect b="0" l="0" r="0" t="0"/>
          <a:stretch/>
        </p:blipFill>
        <p:spPr>
          <a:xfrm>
            <a:off x="3422782" y="5096134"/>
            <a:ext cx="286756" cy="286756"/>
          </a:xfrm>
          <a:prstGeom prst="rect">
            <a:avLst/>
          </a:prstGeom>
          <a:noFill/>
          <a:ln>
            <a:noFill/>
          </a:ln>
        </p:spPr>
      </p:pic>
      <p:sp>
        <p:nvSpPr>
          <p:cNvPr id="102" name="Google Shape;102;p4"/>
          <p:cNvSpPr/>
          <p:nvPr/>
        </p:nvSpPr>
        <p:spPr>
          <a:xfrm>
            <a:off x="2651760" y="5568696"/>
            <a:ext cx="182880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Better Planning</a:t>
            </a:r>
            <a:endParaRPr b="0" i="0" sz="1200" u="none" cap="none" strike="noStrike">
              <a:solidFill>
                <a:schemeClr val="dk1"/>
              </a:solidFill>
              <a:latin typeface="Calibri"/>
              <a:ea typeface="Calibri"/>
              <a:cs typeface="Calibri"/>
              <a:sym typeface="Calibri"/>
            </a:endParaRPr>
          </a:p>
        </p:txBody>
      </p:sp>
      <p:sp>
        <p:nvSpPr>
          <p:cNvPr id="103" name="Google Shape;103;p4"/>
          <p:cNvSpPr/>
          <p:nvPr/>
        </p:nvSpPr>
        <p:spPr>
          <a:xfrm>
            <a:off x="5321808" y="4983480"/>
            <a:ext cx="512064" cy="512064"/>
          </a:xfrm>
          <a:prstGeom prst="ellipse">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shield.png" id="104" name="Google Shape;104;p4"/>
          <p:cNvPicPr preferRelativeResize="0"/>
          <p:nvPr/>
        </p:nvPicPr>
        <p:blipFill rotWithShape="1">
          <a:blip r:embed="rId5">
            <a:alphaModFix/>
          </a:blip>
          <a:srcRect b="0" l="0" r="0" t="0"/>
          <a:stretch/>
        </p:blipFill>
        <p:spPr>
          <a:xfrm>
            <a:off x="5434462" y="5096134"/>
            <a:ext cx="286756" cy="286756"/>
          </a:xfrm>
          <a:prstGeom prst="rect">
            <a:avLst/>
          </a:prstGeom>
          <a:noFill/>
          <a:ln>
            <a:noFill/>
          </a:ln>
        </p:spPr>
      </p:pic>
      <p:sp>
        <p:nvSpPr>
          <p:cNvPr id="105" name="Google Shape;105;p4"/>
          <p:cNvSpPr/>
          <p:nvPr/>
        </p:nvSpPr>
        <p:spPr>
          <a:xfrm>
            <a:off x="4663440" y="5568696"/>
            <a:ext cx="182880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200"/>
              <a:buFont typeface="Calibri"/>
              <a:buNone/>
            </a:pPr>
            <a:r>
              <a:rPr b="1" i="0" lang="en-US" sz="1200" u="none" cap="none" strike="noStrike">
                <a:solidFill>
                  <a:srgbClr val="10233F"/>
                </a:solidFill>
                <a:latin typeface="Calibri"/>
                <a:ea typeface="Calibri"/>
                <a:cs typeface="Calibri"/>
                <a:sym typeface="Calibri"/>
              </a:rPr>
              <a:t>Risk Control</a:t>
            </a:r>
            <a:endParaRPr b="0" i="0" sz="1200" u="none" cap="none" strike="noStrike">
              <a:solidFill>
                <a:schemeClr val="dk1"/>
              </a:solidFill>
              <a:latin typeface="Calibri"/>
              <a:ea typeface="Calibri"/>
              <a:cs typeface="Calibri"/>
              <a:sym typeface="Calibri"/>
            </a:endParaRPr>
          </a:p>
        </p:txBody>
      </p:sp>
      <p:cxnSp>
        <p:nvCxnSpPr>
          <p:cNvPr id="106" name="Google Shape;106;p4"/>
          <p:cNvCxnSpPr/>
          <p:nvPr/>
        </p:nvCxnSpPr>
        <p:spPr>
          <a:xfrm flipH="1" rot="10800000">
            <a:off x="8138160" y="2194560"/>
            <a:ext cx="1097280" cy="640080"/>
          </a:xfrm>
          <a:prstGeom prst="straightConnector1">
            <a:avLst/>
          </a:prstGeom>
          <a:noFill/>
          <a:ln cap="flat" cmpd="sng" w="31750">
            <a:solidFill>
              <a:srgbClr val="2D82B7"/>
            </a:solidFill>
            <a:prstDash val="solid"/>
            <a:round/>
            <a:headEnd len="sm" w="sm" type="none"/>
            <a:tailEnd len="sm" w="sm" type="none"/>
          </a:ln>
        </p:spPr>
      </p:cxnSp>
      <p:cxnSp>
        <p:nvCxnSpPr>
          <p:cNvPr id="107" name="Google Shape;107;p4"/>
          <p:cNvCxnSpPr/>
          <p:nvPr/>
        </p:nvCxnSpPr>
        <p:spPr>
          <a:xfrm>
            <a:off x="9601200" y="2651760"/>
            <a:ext cx="1097280" cy="640080"/>
          </a:xfrm>
          <a:prstGeom prst="straightConnector1">
            <a:avLst/>
          </a:prstGeom>
          <a:noFill/>
          <a:ln cap="flat" cmpd="sng" w="31750">
            <a:solidFill>
              <a:srgbClr val="2D82B7"/>
            </a:solidFill>
            <a:prstDash val="solid"/>
            <a:round/>
            <a:headEnd len="sm" w="sm" type="none"/>
            <a:tailEnd len="sm" w="sm" type="none"/>
          </a:ln>
        </p:spPr>
      </p:cxnSp>
      <p:sp>
        <p:nvSpPr>
          <p:cNvPr id="108" name="Google Shape;108;p4"/>
          <p:cNvSpPr/>
          <p:nvPr/>
        </p:nvSpPr>
        <p:spPr>
          <a:xfrm>
            <a:off x="7772400" y="2743200"/>
            <a:ext cx="731520" cy="731520"/>
          </a:xfrm>
          <a:prstGeom prst="ellipse">
            <a:avLst/>
          </a:prstGeom>
          <a:solidFill>
            <a:srgbClr val="1B3B6F"/>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7315200" y="352044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233F"/>
              </a:buClr>
              <a:buSzPts val="1100"/>
              <a:buFont typeface="Calibri"/>
              <a:buNone/>
            </a:pPr>
            <a:r>
              <a:rPr b="1" i="0" lang="en-US" sz="1100" u="none" cap="none" strike="noStrike">
                <a:solidFill>
                  <a:srgbClr val="10233F"/>
                </a:solidFill>
                <a:latin typeface="Calibri"/>
                <a:ea typeface="Calibri"/>
                <a:cs typeface="Calibri"/>
                <a:sym typeface="Calibri"/>
              </a:rPr>
              <a:t>Idea</a:t>
            </a:r>
            <a:endParaRPr b="0" i="0" sz="1100" u="none" cap="none" strike="noStrike">
              <a:solidFill>
                <a:schemeClr val="dk1"/>
              </a:solidFill>
              <a:latin typeface="Calibri"/>
              <a:ea typeface="Calibri"/>
              <a:cs typeface="Calibri"/>
              <a:sym typeface="Calibri"/>
            </a:endParaRPr>
          </a:p>
        </p:txBody>
      </p:sp>
      <p:sp>
        <p:nvSpPr>
          <p:cNvPr id="110" name="Google Shape;110;p4"/>
          <p:cNvSpPr/>
          <p:nvPr/>
        </p:nvSpPr>
        <p:spPr>
          <a:xfrm>
            <a:off x="9235440" y="2011680"/>
            <a:ext cx="731520" cy="731520"/>
          </a:xfrm>
          <a:prstGeom prst="ellipse">
            <a:avLst/>
          </a:prstGeom>
          <a:solidFill>
            <a:srgbClr val="F2994A"/>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8778240" y="278892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233F"/>
              </a:buClr>
              <a:buSzPts val="1100"/>
              <a:buFont typeface="Calibri"/>
              <a:buNone/>
            </a:pPr>
            <a:r>
              <a:rPr b="1" i="0" lang="en-US" sz="1100" u="none" cap="none" strike="noStrike">
                <a:solidFill>
                  <a:srgbClr val="10233F"/>
                </a:solidFill>
                <a:latin typeface="Calibri"/>
                <a:ea typeface="Calibri"/>
                <a:cs typeface="Calibri"/>
                <a:sym typeface="Calibri"/>
              </a:rPr>
              <a:t>Develop &amp;</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0233F"/>
              </a:buClr>
              <a:buSzPts val="1100"/>
              <a:buFont typeface="Calibri"/>
              <a:buNone/>
            </a:pPr>
            <a:r>
              <a:rPr b="1" i="0" lang="en-US" sz="1100" u="none" cap="none" strike="noStrike">
                <a:solidFill>
                  <a:srgbClr val="10233F"/>
                </a:solidFill>
                <a:latin typeface="Calibri"/>
                <a:ea typeface="Calibri"/>
                <a:cs typeface="Calibri"/>
                <a:sym typeface="Calibri"/>
              </a:rPr>
              <a:t>Operate</a:t>
            </a:r>
            <a:endParaRPr b="0" i="0" sz="1100" u="none" cap="none" strike="noStrike">
              <a:solidFill>
                <a:schemeClr val="dk1"/>
              </a:solidFill>
              <a:latin typeface="Calibri"/>
              <a:ea typeface="Calibri"/>
              <a:cs typeface="Calibri"/>
              <a:sym typeface="Calibri"/>
            </a:endParaRPr>
          </a:p>
        </p:txBody>
      </p:sp>
      <p:sp>
        <p:nvSpPr>
          <p:cNvPr id="112" name="Google Shape;112;p4"/>
          <p:cNvSpPr/>
          <p:nvPr/>
        </p:nvSpPr>
        <p:spPr>
          <a:xfrm>
            <a:off x="10698480" y="2743200"/>
            <a:ext cx="731520" cy="731520"/>
          </a:xfrm>
          <a:prstGeom prst="ellipse">
            <a:avLst/>
          </a:prstGeom>
          <a:solidFill>
            <a:srgbClr val="1B3B6F"/>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0241280" y="352044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233F"/>
              </a:buClr>
              <a:buSzPts val="1100"/>
              <a:buFont typeface="Calibri"/>
              <a:buNone/>
            </a:pPr>
            <a:r>
              <a:rPr b="1" i="0" lang="en-US" sz="1100" u="none" cap="none" strike="noStrike">
                <a:solidFill>
                  <a:srgbClr val="10233F"/>
                </a:solidFill>
                <a:latin typeface="Calibri"/>
                <a:ea typeface="Calibri"/>
                <a:cs typeface="Calibri"/>
                <a:sym typeface="Calibri"/>
              </a:rPr>
              <a:t>Retire</a:t>
            </a:r>
            <a:endParaRPr b="0" i="0" sz="1100" u="none" cap="none" strike="noStrike">
              <a:solidFill>
                <a:schemeClr val="dk1"/>
              </a:solidFill>
              <a:latin typeface="Calibri"/>
              <a:ea typeface="Calibri"/>
              <a:cs typeface="Calibri"/>
              <a:sym typeface="Calibri"/>
            </a:endParaRPr>
          </a:p>
        </p:txBody>
      </p:sp>
      <p:sp>
        <p:nvSpPr>
          <p:cNvPr id="114" name="Google Shape;114;p4"/>
          <p:cNvSpPr/>
          <p:nvPr/>
        </p:nvSpPr>
        <p:spPr>
          <a:xfrm>
            <a:off x="7223760" y="4434840"/>
            <a:ext cx="4206240" cy="1051560"/>
          </a:xfrm>
          <a:prstGeom prst="roundRect">
            <a:avLst>
              <a:gd fmla="val 6957" name="adj"/>
            </a:avLst>
          </a:prstGeom>
          <a:solidFill>
            <a:srgbClr val="EEF2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7452360" y="4572000"/>
            <a:ext cx="3749040" cy="7772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B3B6F"/>
              </a:buClr>
              <a:buSzPts val="1250"/>
              <a:buFont typeface="Calibri"/>
              <a:buNone/>
            </a:pPr>
            <a:r>
              <a:rPr b="0" i="1" lang="en-US" sz="1250" u="none" cap="none" strike="noStrike">
                <a:solidFill>
                  <a:srgbClr val="1B3B6F"/>
                </a:solidFill>
                <a:latin typeface="Calibri"/>
                <a:ea typeface="Calibri"/>
                <a:cs typeface="Calibri"/>
                <a:sym typeface="Calibri"/>
              </a:rPr>
              <a:t>The SDLC treats software as a continuous loop, not a one-time delivery.</a:t>
            </a:r>
            <a:endParaRPr b="0" i="0" sz="1250" u="none" cap="none" strike="noStrike">
              <a:solidFill>
                <a:schemeClr val="dk1"/>
              </a:solidFill>
              <a:latin typeface="Calibri"/>
              <a:ea typeface="Calibri"/>
              <a:cs typeface="Calibri"/>
              <a:sym typeface="Calibri"/>
            </a:endParaRPr>
          </a:p>
        </p:txBody>
      </p:sp>
      <p:sp>
        <p:nvSpPr>
          <p:cNvPr id="116" name="Google Shape;116;p4"/>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117" name="Google Shape;117;p4"/>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FOUNDATIONS</a:t>
            </a:r>
            <a:endParaRPr b="0" i="0" sz="1200" u="none" cap="none" strike="noStrike">
              <a:solidFill>
                <a:schemeClr val="dk1"/>
              </a:solidFill>
              <a:latin typeface="Calibri"/>
              <a:ea typeface="Calibri"/>
              <a:cs typeface="Calibri"/>
              <a:sym typeface="Calibri"/>
            </a:endParaRPr>
          </a:p>
        </p:txBody>
      </p:sp>
      <p:sp>
        <p:nvSpPr>
          <p:cNvPr id="124" name="Google Shape;124;p5"/>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The SDLC Phases</a:t>
            </a:r>
            <a:endParaRPr b="0" i="0" sz="3200" u="none" cap="none" strike="noStrike">
              <a:solidFill>
                <a:schemeClr val="dk1"/>
              </a:solidFill>
              <a:latin typeface="Calibri"/>
              <a:ea typeface="Calibri"/>
              <a:cs typeface="Calibri"/>
              <a:sym typeface="Calibri"/>
            </a:endParaRPr>
          </a:p>
        </p:txBody>
      </p:sp>
      <p:sp>
        <p:nvSpPr>
          <p:cNvPr id="125" name="Google Shape;125;p5"/>
          <p:cNvSpPr/>
          <p:nvPr/>
        </p:nvSpPr>
        <p:spPr>
          <a:xfrm>
            <a:off x="502920" y="2377440"/>
            <a:ext cx="1488251" cy="1143000"/>
          </a:xfrm>
          <a:prstGeom prst="roundRect">
            <a:avLst>
              <a:gd fmla="val 4800"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576072"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127" name="Google Shape;127;p5"/>
          <p:cNvSpPr/>
          <p:nvPr/>
        </p:nvSpPr>
        <p:spPr>
          <a:xfrm>
            <a:off x="548640"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Planning</a:t>
            </a:r>
            <a:endParaRPr b="0" i="0" sz="1250" u="none" cap="none" strike="noStrike">
              <a:solidFill>
                <a:schemeClr val="dk1"/>
              </a:solidFill>
              <a:latin typeface="Calibri"/>
              <a:ea typeface="Calibri"/>
              <a:cs typeface="Calibri"/>
              <a:sym typeface="Calibri"/>
            </a:endParaRPr>
          </a:p>
        </p:txBody>
      </p:sp>
      <p:sp>
        <p:nvSpPr>
          <p:cNvPr id="128" name="Google Shape;128;p5"/>
          <p:cNvSpPr/>
          <p:nvPr/>
        </p:nvSpPr>
        <p:spPr>
          <a:xfrm>
            <a:off x="1972883"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2119187" y="2377440"/>
            <a:ext cx="1488251" cy="1143000"/>
          </a:xfrm>
          <a:prstGeom prst="roundRect">
            <a:avLst>
              <a:gd fmla="val 4800"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2192339"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131" name="Google Shape;131;p5"/>
          <p:cNvSpPr/>
          <p:nvPr/>
        </p:nvSpPr>
        <p:spPr>
          <a:xfrm>
            <a:off x="2164907"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Requirements</a:t>
            </a:r>
            <a:endParaRPr b="0" i="0" sz="1250" u="none" cap="none" strike="noStrike">
              <a:solidFill>
                <a:schemeClr val="dk1"/>
              </a:solidFill>
              <a:latin typeface="Calibri"/>
              <a:ea typeface="Calibri"/>
              <a:cs typeface="Calibri"/>
              <a:sym typeface="Calibri"/>
            </a:endParaRPr>
          </a:p>
        </p:txBody>
      </p:sp>
      <p:sp>
        <p:nvSpPr>
          <p:cNvPr id="132" name="Google Shape;132;p5"/>
          <p:cNvSpPr/>
          <p:nvPr/>
        </p:nvSpPr>
        <p:spPr>
          <a:xfrm>
            <a:off x="3589151"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3735455" y="2377440"/>
            <a:ext cx="1488251" cy="1143000"/>
          </a:xfrm>
          <a:prstGeom prst="roundRect">
            <a:avLst>
              <a:gd fmla="val 4800"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3808607"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35" name="Google Shape;135;p5"/>
          <p:cNvSpPr/>
          <p:nvPr/>
        </p:nvSpPr>
        <p:spPr>
          <a:xfrm>
            <a:off x="3781175"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Design</a:t>
            </a:r>
            <a:endParaRPr b="0" i="0" sz="1250" u="none" cap="none" strike="noStrike">
              <a:solidFill>
                <a:schemeClr val="dk1"/>
              </a:solidFill>
              <a:latin typeface="Calibri"/>
              <a:ea typeface="Calibri"/>
              <a:cs typeface="Calibri"/>
              <a:sym typeface="Calibri"/>
            </a:endParaRPr>
          </a:p>
        </p:txBody>
      </p:sp>
      <p:sp>
        <p:nvSpPr>
          <p:cNvPr id="136" name="Google Shape;136;p5"/>
          <p:cNvSpPr/>
          <p:nvPr/>
        </p:nvSpPr>
        <p:spPr>
          <a:xfrm>
            <a:off x="5205418"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5351722" y="2377440"/>
            <a:ext cx="1488251" cy="1143000"/>
          </a:xfrm>
          <a:prstGeom prst="roundRect">
            <a:avLst>
              <a:gd fmla="val 4800"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5424874"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139" name="Google Shape;139;p5"/>
          <p:cNvSpPr/>
          <p:nvPr/>
        </p:nvSpPr>
        <p:spPr>
          <a:xfrm>
            <a:off x="5397442"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Development</a:t>
            </a:r>
            <a:endParaRPr b="0" i="0" sz="1250" u="none" cap="none" strike="noStrike">
              <a:solidFill>
                <a:schemeClr val="dk1"/>
              </a:solidFill>
              <a:latin typeface="Calibri"/>
              <a:ea typeface="Calibri"/>
              <a:cs typeface="Calibri"/>
              <a:sym typeface="Calibri"/>
            </a:endParaRPr>
          </a:p>
        </p:txBody>
      </p:sp>
      <p:sp>
        <p:nvSpPr>
          <p:cNvPr id="140" name="Google Shape;140;p5"/>
          <p:cNvSpPr/>
          <p:nvPr/>
        </p:nvSpPr>
        <p:spPr>
          <a:xfrm>
            <a:off x="6821685"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6967989" y="2377440"/>
            <a:ext cx="1488251" cy="1143000"/>
          </a:xfrm>
          <a:prstGeom prst="roundRect">
            <a:avLst>
              <a:gd fmla="val 4800" name="adj"/>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7041141"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143" name="Google Shape;143;p5"/>
          <p:cNvSpPr/>
          <p:nvPr/>
        </p:nvSpPr>
        <p:spPr>
          <a:xfrm>
            <a:off x="7013709"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Testing</a:t>
            </a:r>
            <a:endParaRPr b="0" i="0" sz="1250" u="none" cap="none" strike="noStrike">
              <a:solidFill>
                <a:schemeClr val="dk1"/>
              </a:solidFill>
              <a:latin typeface="Calibri"/>
              <a:ea typeface="Calibri"/>
              <a:cs typeface="Calibri"/>
              <a:sym typeface="Calibri"/>
            </a:endParaRPr>
          </a:p>
        </p:txBody>
      </p:sp>
      <p:sp>
        <p:nvSpPr>
          <p:cNvPr id="144" name="Google Shape;144;p5"/>
          <p:cNvSpPr/>
          <p:nvPr/>
        </p:nvSpPr>
        <p:spPr>
          <a:xfrm>
            <a:off x="8437953"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8584257" y="2377440"/>
            <a:ext cx="1488251" cy="1143000"/>
          </a:xfrm>
          <a:prstGeom prst="roundRect">
            <a:avLst>
              <a:gd fmla="val 4800" name="adj"/>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8657409"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147" name="Google Shape;147;p5"/>
          <p:cNvSpPr/>
          <p:nvPr/>
        </p:nvSpPr>
        <p:spPr>
          <a:xfrm>
            <a:off x="8629977"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Deployment</a:t>
            </a:r>
            <a:endParaRPr b="0" i="0" sz="1250" u="none" cap="none" strike="noStrike">
              <a:solidFill>
                <a:schemeClr val="dk1"/>
              </a:solidFill>
              <a:latin typeface="Calibri"/>
              <a:ea typeface="Calibri"/>
              <a:cs typeface="Calibri"/>
              <a:sym typeface="Calibri"/>
            </a:endParaRPr>
          </a:p>
        </p:txBody>
      </p:sp>
      <p:sp>
        <p:nvSpPr>
          <p:cNvPr id="148" name="Google Shape;148;p5"/>
          <p:cNvSpPr/>
          <p:nvPr/>
        </p:nvSpPr>
        <p:spPr>
          <a:xfrm>
            <a:off x="10054220" y="2866644"/>
            <a:ext cx="274320" cy="164592"/>
          </a:xfrm>
          <a:prstGeom prst="rightArrow">
            <a:avLst>
              <a:gd fmla="val 50000" name="adj1"/>
              <a:gd fmla="val 50000" name="adj2"/>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10200524" y="2377440"/>
            <a:ext cx="1488251" cy="1143000"/>
          </a:xfrm>
          <a:prstGeom prst="roundRect">
            <a:avLst>
              <a:gd fmla="val 4800"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10273676" y="2432304"/>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7</a:t>
            </a:r>
            <a:endParaRPr b="0" i="0" sz="1500" u="none" cap="none" strike="noStrike">
              <a:solidFill>
                <a:schemeClr val="dk1"/>
              </a:solidFill>
              <a:latin typeface="Calibri"/>
              <a:ea typeface="Calibri"/>
              <a:cs typeface="Calibri"/>
              <a:sym typeface="Calibri"/>
            </a:endParaRPr>
          </a:p>
        </p:txBody>
      </p:sp>
      <p:sp>
        <p:nvSpPr>
          <p:cNvPr id="151" name="Google Shape;151;p5"/>
          <p:cNvSpPr/>
          <p:nvPr/>
        </p:nvSpPr>
        <p:spPr>
          <a:xfrm>
            <a:off x="10246244" y="2743200"/>
            <a:ext cx="1396811"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Maintenance</a:t>
            </a:r>
            <a:endParaRPr b="0" i="0" sz="1250" u="none" cap="none" strike="noStrike">
              <a:solidFill>
                <a:schemeClr val="dk1"/>
              </a:solidFill>
              <a:latin typeface="Calibri"/>
              <a:ea typeface="Calibri"/>
              <a:cs typeface="Calibri"/>
              <a:sym typeface="Calibri"/>
            </a:endParaRPr>
          </a:p>
        </p:txBody>
      </p:sp>
      <p:cxnSp>
        <p:nvCxnSpPr>
          <p:cNvPr id="152" name="Google Shape;152;p5"/>
          <p:cNvCxnSpPr/>
          <p:nvPr/>
        </p:nvCxnSpPr>
        <p:spPr>
          <a:xfrm>
            <a:off x="1247046" y="3840480"/>
            <a:ext cx="9697604" cy="0"/>
          </a:xfrm>
          <a:prstGeom prst="straightConnector1">
            <a:avLst/>
          </a:prstGeom>
          <a:noFill/>
          <a:ln cap="flat" cmpd="sng" w="25400">
            <a:solidFill>
              <a:srgbClr val="F2994A"/>
            </a:solidFill>
            <a:prstDash val="dash"/>
            <a:round/>
            <a:headEnd len="med" w="med" type="triangle"/>
            <a:tailEnd len="med" w="med" type="triangle"/>
          </a:ln>
        </p:spPr>
      </p:cxnSp>
      <p:cxnSp>
        <p:nvCxnSpPr>
          <p:cNvPr id="153" name="Google Shape;153;p5"/>
          <p:cNvCxnSpPr/>
          <p:nvPr/>
        </p:nvCxnSpPr>
        <p:spPr>
          <a:xfrm>
            <a:off x="1247046" y="3520440"/>
            <a:ext cx="0" cy="320040"/>
          </a:xfrm>
          <a:prstGeom prst="straightConnector1">
            <a:avLst/>
          </a:prstGeom>
          <a:noFill/>
          <a:ln cap="flat" cmpd="sng" w="25400">
            <a:solidFill>
              <a:srgbClr val="F2994A"/>
            </a:solidFill>
            <a:prstDash val="solid"/>
            <a:round/>
            <a:headEnd len="sm" w="sm" type="none"/>
            <a:tailEnd len="sm" w="sm" type="none"/>
          </a:ln>
        </p:spPr>
      </p:cxnSp>
      <p:cxnSp>
        <p:nvCxnSpPr>
          <p:cNvPr id="154" name="Google Shape;154;p5"/>
          <p:cNvCxnSpPr/>
          <p:nvPr/>
        </p:nvCxnSpPr>
        <p:spPr>
          <a:xfrm>
            <a:off x="10944650" y="3520440"/>
            <a:ext cx="0" cy="320040"/>
          </a:xfrm>
          <a:prstGeom prst="straightConnector1">
            <a:avLst/>
          </a:prstGeom>
          <a:noFill/>
          <a:ln cap="flat" cmpd="sng" w="25400">
            <a:solidFill>
              <a:srgbClr val="F2994A"/>
            </a:solidFill>
            <a:prstDash val="solid"/>
            <a:round/>
            <a:headEnd len="sm" w="sm" type="none"/>
            <a:tailEnd len="sm" w="sm" type="none"/>
          </a:ln>
        </p:spPr>
      </p:cxnSp>
      <p:sp>
        <p:nvSpPr>
          <p:cNvPr id="155" name="Google Shape;155;p5"/>
          <p:cNvSpPr/>
          <p:nvPr/>
        </p:nvSpPr>
        <p:spPr>
          <a:xfrm>
            <a:off x="3352648" y="4023360"/>
            <a:ext cx="5486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200"/>
              <a:buFont typeface="Calibri"/>
              <a:buNone/>
            </a:pPr>
            <a:r>
              <a:rPr b="0" i="1" lang="en-US" sz="1200" u="none" cap="none" strike="noStrike">
                <a:solidFill>
                  <a:srgbClr val="5B6B85"/>
                </a:solidFill>
                <a:latin typeface="Calibri"/>
                <a:ea typeface="Calibri"/>
                <a:cs typeface="Calibri"/>
                <a:sym typeface="Calibri"/>
              </a:rPr>
              <a:t>Maintenance feeds insights back into future Planning</a:t>
            </a:r>
            <a:endParaRPr b="0" i="0" sz="1200" u="none" cap="none" strike="noStrike">
              <a:solidFill>
                <a:schemeClr val="dk1"/>
              </a:solidFill>
              <a:latin typeface="Calibri"/>
              <a:ea typeface="Calibri"/>
              <a:cs typeface="Calibri"/>
              <a:sym typeface="Calibri"/>
            </a:endParaRPr>
          </a:p>
        </p:txBody>
      </p:sp>
      <p:sp>
        <p:nvSpPr>
          <p:cNvPr id="156" name="Google Shape;156;p5"/>
          <p:cNvSpPr/>
          <p:nvPr/>
        </p:nvSpPr>
        <p:spPr>
          <a:xfrm>
            <a:off x="548640" y="4709160"/>
            <a:ext cx="10881360" cy="118872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400"/>
              <a:buFont typeface="Calibri"/>
              <a:buChar char="▪"/>
            </a:pPr>
            <a:r>
              <a:rPr b="0" i="0" lang="en-US" sz="1400" u="none" cap="none" strike="noStrike">
                <a:solidFill>
                  <a:srgbClr val="212A3B"/>
                </a:solidFill>
                <a:latin typeface="Calibri"/>
                <a:ea typeface="Calibri"/>
                <a:cs typeface="Calibri"/>
                <a:sym typeface="Calibri"/>
              </a:rPr>
              <a:t>Seven interconnected phases, not strictly linear</a:t>
            </a:r>
            <a:endParaRPr b="0" i="0" sz="14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212A3B"/>
              </a:buClr>
              <a:buSzPts val="1400"/>
              <a:buFont typeface="Calibri"/>
              <a:buChar char="▪"/>
            </a:pPr>
            <a:r>
              <a:rPr b="0" i="0" lang="en-US" sz="1400" u="none" cap="none" strike="noStrike">
                <a:solidFill>
                  <a:srgbClr val="212A3B"/>
                </a:solidFill>
                <a:latin typeface="Calibri"/>
                <a:ea typeface="Calibri"/>
                <a:cs typeface="Calibri"/>
                <a:sym typeface="Calibri"/>
              </a:rPr>
              <a:t>Every process model reorganizes these same phases</a:t>
            </a:r>
            <a:endParaRPr b="0" i="0" sz="14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212A3B"/>
              </a:buClr>
              <a:buSzPts val="1400"/>
              <a:buFont typeface="Calibri"/>
              <a:buChar char="▪"/>
            </a:pPr>
            <a:r>
              <a:rPr b="0" i="0" lang="en-US" sz="1400" u="none" cap="none" strike="noStrike">
                <a:solidFill>
                  <a:srgbClr val="212A3B"/>
                </a:solidFill>
                <a:latin typeface="Calibri"/>
                <a:ea typeface="Calibri"/>
                <a:cs typeface="Calibri"/>
                <a:sym typeface="Calibri"/>
              </a:rPr>
              <a:t>Overlap and repetition across phases are common</a:t>
            </a:r>
            <a:endParaRPr b="0" i="0" sz="1400" u="none" cap="none" strike="noStrike">
              <a:solidFill>
                <a:schemeClr val="dk1"/>
              </a:solidFill>
              <a:latin typeface="Calibri"/>
              <a:ea typeface="Calibri"/>
              <a:cs typeface="Calibri"/>
              <a:sym typeface="Calibri"/>
            </a:endParaRPr>
          </a:p>
        </p:txBody>
      </p:sp>
      <p:sp>
        <p:nvSpPr>
          <p:cNvPr id="157" name="Google Shape;157;p5"/>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158" name="Google Shape;158;p5"/>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CLASSIC PROCESS MODELS</a:t>
            </a:r>
            <a:endParaRPr b="0" i="0" sz="1200" u="none" cap="none" strike="noStrike">
              <a:solidFill>
                <a:schemeClr val="dk1"/>
              </a:solidFill>
              <a:latin typeface="Calibri"/>
              <a:ea typeface="Calibri"/>
              <a:cs typeface="Calibri"/>
              <a:sym typeface="Calibri"/>
            </a:endParaRPr>
          </a:p>
        </p:txBody>
      </p:sp>
      <p:sp>
        <p:nvSpPr>
          <p:cNvPr id="165" name="Google Shape;165;p6"/>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The Waterfall Model</a:t>
            </a:r>
            <a:endParaRPr b="0" i="0" sz="3200" u="none" cap="none" strike="noStrike">
              <a:solidFill>
                <a:schemeClr val="dk1"/>
              </a:solidFill>
              <a:latin typeface="Calibri"/>
              <a:ea typeface="Calibri"/>
              <a:cs typeface="Calibri"/>
              <a:sym typeface="Calibri"/>
            </a:endParaRPr>
          </a:p>
        </p:txBody>
      </p:sp>
      <p:sp>
        <p:nvSpPr>
          <p:cNvPr id="166" name="Google Shape;166;p6"/>
          <p:cNvSpPr/>
          <p:nvPr/>
        </p:nvSpPr>
        <p:spPr>
          <a:xfrm>
            <a:off x="548640" y="1691640"/>
            <a:ext cx="2743200" cy="566928"/>
          </a:xfrm>
          <a:prstGeom prst="roundRect">
            <a:avLst>
              <a:gd fmla="val 8065"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548640" y="1691640"/>
            <a:ext cx="2743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Requirements</a:t>
            </a:r>
            <a:endParaRPr b="0" i="0" sz="1300" u="none" cap="none" strike="noStrike">
              <a:solidFill>
                <a:schemeClr val="dk1"/>
              </a:solidFill>
              <a:latin typeface="Calibri"/>
              <a:ea typeface="Calibri"/>
              <a:cs typeface="Calibri"/>
              <a:sym typeface="Calibri"/>
            </a:endParaRPr>
          </a:p>
        </p:txBody>
      </p:sp>
      <p:cxnSp>
        <p:nvCxnSpPr>
          <p:cNvPr id="168" name="Google Shape;168;p6"/>
          <p:cNvCxnSpPr/>
          <p:nvPr/>
        </p:nvCxnSpPr>
        <p:spPr>
          <a:xfrm>
            <a:off x="1920240" y="2258568"/>
            <a:ext cx="292608" cy="274320"/>
          </a:xfrm>
          <a:prstGeom prst="straightConnector1">
            <a:avLst/>
          </a:prstGeom>
          <a:noFill/>
          <a:ln cap="flat" cmpd="sng" w="22225">
            <a:solidFill>
              <a:srgbClr val="5B6B85"/>
            </a:solidFill>
            <a:prstDash val="solid"/>
            <a:round/>
            <a:headEnd len="sm" w="sm" type="none"/>
            <a:tailEnd len="med" w="med" type="triangle"/>
          </a:ln>
        </p:spPr>
      </p:cxnSp>
      <p:sp>
        <p:nvSpPr>
          <p:cNvPr id="169" name="Google Shape;169;p6"/>
          <p:cNvSpPr/>
          <p:nvPr/>
        </p:nvSpPr>
        <p:spPr>
          <a:xfrm>
            <a:off x="841248" y="2532888"/>
            <a:ext cx="2743200" cy="566928"/>
          </a:xfrm>
          <a:prstGeom prst="roundRect">
            <a:avLst>
              <a:gd fmla="val 8065"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841248" y="2532888"/>
            <a:ext cx="2743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System Design</a:t>
            </a:r>
            <a:endParaRPr b="0" i="0" sz="1300" u="none" cap="none" strike="noStrike">
              <a:solidFill>
                <a:schemeClr val="dk1"/>
              </a:solidFill>
              <a:latin typeface="Calibri"/>
              <a:ea typeface="Calibri"/>
              <a:cs typeface="Calibri"/>
              <a:sym typeface="Calibri"/>
            </a:endParaRPr>
          </a:p>
        </p:txBody>
      </p:sp>
      <p:cxnSp>
        <p:nvCxnSpPr>
          <p:cNvPr id="171" name="Google Shape;171;p6"/>
          <p:cNvCxnSpPr/>
          <p:nvPr/>
        </p:nvCxnSpPr>
        <p:spPr>
          <a:xfrm>
            <a:off x="2212848" y="3099816"/>
            <a:ext cx="292608" cy="274320"/>
          </a:xfrm>
          <a:prstGeom prst="straightConnector1">
            <a:avLst/>
          </a:prstGeom>
          <a:noFill/>
          <a:ln cap="flat" cmpd="sng" w="22225">
            <a:solidFill>
              <a:srgbClr val="5B6B85"/>
            </a:solidFill>
            <a:prstDash val="solid"/>
            <a:round/>
            <a:headEnd len="sm" w="sm" type="none"/>
            <a:tailEnd len="med" w="med" type="triangle"/>
          </a:ln>
        </p:spPr>
      </p:cxnSp>
      <p:sp>
        <p:nvSpPr>
          <p:cNvPr id="172" name="Google Shape;172;p6"/>
          <p:cNvSpPr/>
          <p:nvPr/>
        </p:nvSpPr>
        <p:spPr>
          <a:xfrm>
            <a:off x="1133856" y="3374136"/>
            <a:ext cx="2743200" cy="566928"/>
          </a:xfrm>
          <a:prstGeom prst="roundRect">
            <a:avLst>
              <a:gd fmla="val 8065"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1133856" y="3374136"/>
            <a:ext cx="2743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Implementation</a:t>
            </a:r>
            <a:endParaRPr b="0" i="0" sz="1300" u="none" cap="none" strike="noStrike">
              <a:solidFill>
                <a:schemeClr val="dk1"/>
              </a:solidFill>
              <a:latin typeface="Calibri"/>
              <a:ea typeface="Calibri"/>
              <a:cs typeface="Calibri"/>
              <a:sym typeface="Calibri"/>
            </a:endParaRPr>
          </a:p>
        </p:txBody>
      </p:sp>
      <p:cxnSp>
        <p:nvCxnSpPr>
          <p:cNvPr id="174" name="Google Shape;174;p6"/>
          <p:cNvCxnSpPr/>
          <p:nvPr/>
        </p:nvCxnSpPr>
        <p:spPr>
          <a:xfrm>
            <a:off x="2505456" y="3941064"/>
            <a:ext cx="292608" cy="274320"/>
          </a:xfrm>
          <a:prstGeom prst="straightConnector1">
            <a:avLst/>
          </a:prstGeom>
          <a:noFill/>
          <a:ln cap="flat" cmpd="sng" w="22225">
            <a:solidFill>
              <a:srgbClr val="5B6B85"/>
            </a:solidFill>
            <a:prstDash val="solid"/>
            <a:round/>
            <a:headEnd len="sm" w="sm" type="none"/>
            <a:tailEnd len="med" w="med" type="triangle"/>
          </a:ln>
        </p:spPr>
      </p:cxnSp>
      <p:sp>
        <p:nvSpPr>
          <p:cNvPr id="175" name="Google Shape;175;p6"/>
          <p:cNvSpPr/>
          <p:nvPr/>
        </p:nvSpPr>
        <p:spPr>
          <a:xfrm>
            <a:off x="1426464" y="4215384"/>
            <a:ext cx="2743200" cy="566928"/>
          </a:xfrm>
          <a:prstGeom prst="roundRect">
            <a:avLst>
              <a:gd fmla="val 8065"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1426464" y="4215384"/>
            <a:ext cx="2743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Verification</a:t>
            </a:r>
            <a:endParaRPr b="0" i="0" sz="1300" u="none" cap="none" strike="noStrike">
              <a:solidFill>
                <a:schemeClr val="dk1"/>
              </a:solidFill>
              <a:latin typeface="Calibri"/>
              <a:ea typeface="Calibri"/>
              <a:cs typeface="Calibri"/>
              <a:sym typeface="Calibri"/>
            </a:endParaRPr>
          </a:p>
        </p:txBody>
      </p:sp>
      <p:cxnSp>
        <p:nvCxnSpPr>
          <p:cNvPr id="177" name="Google Shape;177;p6"/>
          <p:cNvCxnSpPr/>
          <p:nvPr/>
        </p:nvCxnSpPr>
        <p:spPr>
          <a:xfrm>
            <a:off x="2798064" y="4782312"/>
            <a:ext cx="292608" cy="274320"/>
          </a:xfrm>
          <a:prstGeom prst="straightConnector1">
            <a:avLst/>
          </a:prstGeom>
          <a:noFill/>
          <a:ln cap="flat" cmpd="sng" w="22225">
            <a:solidFill>
              <a:srgbClr val="5B6B85"/>
            </a:solidFill>
            <a:prstDash val="solid"/>
            <a:round/>
            <a:headEnd len="sm" w="sm" type="none"/>
            <a:tailEnd len="med" w="med" type="triangle"/>
          </a:ln>
        </p:spPr>
      </p:cxnSp>
      <p:sp>
        <p:nvSpPr>
          <p:cNvPr id="178" name="Google Shape;178;p6"/>
          <p:cNvSpPr/>
          <p:nvPr/>
        </p:nvSpPr>
        <p:spPr>
          <a:xfrm>
            <a:off x="1719072" y="5056632"/>
            <a:ext cx="2743200" cy="566928"/>
          </a:xfrm>
          <a:prstGeom prst="roundRect">
            <a:avLst>
              <a:gd fmla="val 8065"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1719072" y="5056632"/>
            <a:ext cx="27432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Maintenance</a:t>
            </a:r>
            <a:endParaRPr b="0" i="0" sz="1300" u="none" cap="none" strike="noStrike">
              <a:solidFill>
                <a:schemeClr val="dk1"/>
              </a:solidFill>
              <a:latin typeface="Calibri"/>
              <a:ea typeface="Calibri"/>
              <a:cs typeface="Calibri"/>
              <a:sym typeface="Calibri"/>
            </a:endParaRPr>
          </a:p>
        </p:txBody>
      </p:sp>
      <p:sp>
        <p:nvSpPr>
          <p:cNvPr id="180" name="Google Shape;180;p6"/>
          <p:cNvSpPr/>
          <p:nvPr/>
        </p:nvSpPr>
        <p:spPr>
          <a:xfrm>
            <a:off x="6263640" y="1783080"/>
            <a:ext cx="5394960" cy="356616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Sequential phases completed one after another</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Strength: clear structure and thorough documentation</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Limitation: costly to change after design</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Limitation: defects often surface late in testing</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Best fit: fixed-scope, regulatory-compliance projects</a:t>
            </a:r>
            <a:endParaRPr b="0" i="0" sz="1500" u="none" cap="none" strike="noStrike">
              <a:solidFill>
                <a:schemeClr val="dk1"/>
              </a:solidFill>
              <a:latin typeface="Calibri"/>
              <a:ea typeface="Calibri"/>
              <a:cs typeface="Calibri"/>
              <a:sym typeface="Calibri"/>
            </a:endParaRPr>
          </a:p>
        </p:txBody>
      </p:sp>
      <p:sp>
        <p:nvSpPr>
          <p:cNvPr id="181" name="Google Shape;181;p6"/>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182" name="Google Shape;182;p6"/>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7"/>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CLASSIC PROCESS MODELS</a:t>
            </a:r>
            <a:endParaRPr b="0" i="0" sz="1200" u="none" cap="none" strike="noStrike">
              <a:solidFill>
                <a:schemeClr val="dk1"/>
              </a:solidFill>
              <a:latin typeface="Calibri"/>
              <a:ea typeface="Calibri"/>
              <a:cs typeface="Calibri"/>
              <a:sym typeface="Calibri"/>
            </a:endParaRPr>
          </a:p>
        </p:txBody>
      </p:sp>
      <p:sp>
        <p:nvSpPr>
          <p:cNvPr id="189" name="Google Shape;189;p7"/>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Iterative &amp; Incremental Models</a:t>
            </a:r>
            <a:endParaRPr b="0" i="0" sz="3200" u="none" cap="none" strike="noStrike">
              <a:solidFill>
                <a:schemeClr val="dk1"/>
              </a:solidFill>
              <a:latin typeface="Calibri"/>
              <a:ea typeface="Calibri"/>
              <a:cs typeface="Calibri"/>
              <a:sym typeface="Calibri"/>
            </a:endParaRPr>
          </a:p>
        </p:txBody>
      </p:sp>
      <p:sp>
        <p:nvSpPr>
          <p:cNvPr id="190" name="Google Shape;190;p7"/>
          <p:cNvSpPr/>
          <p:nvPr/>
        </p:nvSpPr>
        <p:spPr>
          <a:xfrm>
            <a:off x="548640" y="1783080"/>
            <a:ext cx="5760600" cy="35661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Software built in small, repeated cycles</a:t>
            </a:r>
            <a:endParaRPr b="0" i="0" sz="155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Each iteration adds working, testable functionality</a:t>
            </a:r>
            <a:endParaRPr b="0" i="0" sz="155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Enables early feedback and course correction</a:t>
            </a:r>
            <a:endParaRPr b="0" i="0" sz="155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Reduces risk compared to one large release</a:t>
            </a:r>
            <a:endParaRPr b="0" i="0" sz="155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50"/>
              <a:buFont typeface="Calibri"/>
              <a:buChar char="▪"/>
            </a:pPr>
            <a:r>
              <a:rPr b="0" i="0" lang="en-US" sz="1550" u="none" cap="none" strike="noStrike">
                <a:solidFill>
                  <a:srgbClr val="212A3B"/>
                </a:solidFill>
                <a:latin typeface="Calibri"/>
                <a:ea typeface="Calibri"/>
                <a:cs typeface="Calibri"/>
                <a:sym typeface="Calibri"/>
              </a:rPr>
              <a:t>Example: Microsoft Office’s phased feature rollouts</a:t>
            </a:r>
            <a:endParaRPr b="0" i="0" sz="1550" u="none" cap="none" strike="noStrike">
              <a:solidFill>
                <a:schemeClr val="dk1"/>
              </a:solidFill>
              <a:latin typeface="Calibri"/>
              <a:ea typeface="Calibri"/>
              <a:cs typeface="Calibri"/>
              <a:sym typeface="Calibri"/>
            </a:endParaRPr>
          </a:p>
        </p:txBody>
      </p:sp>
      <p:sp>
        <p:nvSpPr>
          <p:cNvPr id="191" name="Google Shape;191;p7"/>
          <p:cNvSpPr/>
          <p:nvPr/>
        </p:nvSpPr>
        <p:spPr>
          <a:xfrm>
            <a:off x="7040880" y="4114800"/>
            <a:ext cx="914400" cy="777240"/>
          </a:xfrm>
          <a:prstGeom prst="roundRect">
            <a:avLst>
              <a:gd fmla="val 4706"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6903720" y="4965192"/>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050"/>
              <a:buFont typeface="Calibri"/>
              <a:buNone/>
            </a:pPr>
            <a:r>
              <a:rPr b="0" i="0" lang="en-US" sz="1050" u="none" cap="none" strike="noStrike">
                <a:solidFill>
                  <a:srgbClr val="5B6B85"/>
                </a:solidFill>
                <a:latin typeface="Calibri"/>
                <a:ea typeface="Calibri"/>
                <a:cs typeface="Calibri"/>
                <a:sym typeface="Calibri"/>
              </a:rPr>
              <a:t>Iteration 1</a:t>
            </a:r>
            <a:endParaRPr b="0" i="0" sz="1050" u="none" cap="none" strike="noStrike">
              <a:solidFill>
                <a:schemeClr val="dk1"/>
              </a:solidFill>
              <a:latin typeface="Calibri"/>
              <a:ea typeface="Calibri"/>
              <a:cs typeface="Calibri"/>
              <a:sym typeface="Calibri"/>
            </a:endParaRPr>
          </a:p>
        </p:txBody>
      </p:sp>
      <p:sp>
        <p:nvSpPr>
          <p:cNvPr id="193" name="Google Shape;193;p7"/>
          <p:cNvSpPr/>
          <p:nvPr/>
        </p:nvSpPr>
        <p:spPr>
          <a:xfrm>
            <a:off x="8275320" y="3657600"/>
            <a:ext cx="914400" cy="1234440"/>
          </a:xfrm>
          <a:prstGeom prst="roundRect">
            <a:avLst>
              <a:gd fmla="val 4000"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8138160" y="4965192"/>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050"/>
              <a:buFont typeface="Calibri"/>
              <a:buNone/>
            </a:pPr>
            <a:r>
              <a:rPr b="0" i="0" lang="en-US" sz="1050" u="none" cap="none" strike="noStrike">
                <a:solidFill>
                  <a:srgbClr val="5B6B85"/>
                </a:solidFill>
                <a:latin typeface="Calibri"/>
                <a:ea typeface="Calibri"/>
                <a:cs typeface="Calibri"/>
                <a:sym typeface="Calibri"/>
              </a:rPr>
              <a:t>Iteration 2</a:t>
            </a:r>
            <a:endParaRPr b="0" i="0" sz="1050" u="none" cap="none" strike="noStrike">
              <a:solidFill>
                <a:schemeClr val="dk1"/>
              </a:solidFill>
              <a:latin typeface="Calibri"/>
              <a:ea typeface="Calibri"/>
              <a:cs typeface="Calibri"/>
              <a:sym typeface="Calibri"/>
            </a:endParaRPr>
          </a:p>
        </p:txBody>
      </p:sp>
      <p:sp>
        <p:nvSpPr>
          <p:cNvPr id="195" name="Google Shape;195;p7"/>
          <p:cNvSpPr/>
          <p:nvPr/>
        </p:nvSpPr>
        <p:spPr>
          <a:xfrm>
            <a:off x="9509760" y="3154680"/>
            <a:ext cx="914400" cy="1737360"/>
          </a:xfrm>
          <a:prstGeom prst="roundRect">
            <a:avLst>
              <a:gd fmla="val 4000" name="adj"/>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9372600" y="4965192"/>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050"/>
              <a:buFont typeface="Calibri"/>
              <a:buNone/>
            </a:pPr>
            <a:r>
              <a:rPr b="0" i="0" lang="en-US" sz="1050" u="none" cap="none" strike="noStrike">
                <a:solidFill>
                  <a:srgbClr val="5B6B85"/>
                </a:solidFill>
                <a:latin typeface="Calibri"/>
                <a:ea typeface="Calibri"/>
                <a:cs typeface="Calibri"/>
                <a:sym typeface="Calibri"/>
              </a:rPr>
              <a:t>Iteration 3</a:t>
            </a:r>
            <a:endParaRPr b="0" i="0" sz="1050" u="none" cap="none" strike="noStrike">
              <a:solidFill>
                <a:schemeClr val="dk1"/>
              </a:solidFill>
              <a:latin typeface="Calibri"/>
              <a:ea typeface="Calibri"/>
              <a:cs typeface="Calibri"/>
              <a:sym typeface="Calibri"/>
            </a:endParaRPr>
          </a:p>
        </p:txBody>
      </p:sp>
      <p:cxnSp>
        <p:nvCxnSpPr>
          <p:cNvPr id="197" name="Google Shape;197;p7"/>
          <p:cNvCxnSpPr/>
          <p:nvPr/>
        </p:nvCxnSpPr>
        <p:spPr>
          <a:xfrm>
            <a:off x="7498080" y="2331720"/>
            <a:ext cx="2926080" cy="0"/>
          </a:xfrm>
          <a:prstGeom prst="straightConnector1">
            <a:avLst/>
          </a:prstGeom>
          <a:noFill/>
          <a:ln cap="flat" cmpd="sng" w="25400">
            <a:solidFill>
              <a:srgbClr val="F2994A"/>
            </a:solidFill>
            <a:prstDash val="dash"/>
            <a:round/>
            <a:headEnd len="med" w="med" type="triangle"/>
            <a:tailEnd len="med" w="med" type="triangle"/>
          </a:ln>
        </p:spPr>
      </p:cxnSp>
      <p:sp>
        <p:nvSpPr>
          <p:cNvPr id="198" name="Google Shape;198;p7"/>
          <p:cNvSpPr/>
          <p:nvPr/>
        </p:nvSpPr>
        <p:spPr>
          <a:xfrm>
            <a:off x="6309360" y="1965960"/>
            <a:ext cx="4754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B6F"/>
              </a:buClr>
              <a:buSzPts val="1150"/>
              <a:buFont typeface="Calibri"/>
              <a:buNone/>
            </a:pPr>
            <a:r>
              <a:rPr b="0" i="1" lang="en-US" sz="1150" u="none" cap="none" strike="noStrike">
                <a:solidFill>
                  <a:srgbClr val="1B3B6F"/>
                </a:solidFill>
                <a:latin typeface="Calibri"/>
                <a:ea typeface="Calibri"/>
                <a:cs typeface="Calibri"/>
                <a:sym typeface="Calibri"/>
              </a:rPr>
              <a:t>Repeat with customer feedback each cycle</a:t>
            </a:r>
            <a:endParaRPr b="0" i="0" sz="1150" u="none" cap="none" strike="noStrike">
              <a:solidFill>
                <a:schemeClr val="dk1"/>
              </a:solidFill>
              <a:latin typeface="Calibri"/>
              <a:ea typeface="Calibri"/>
              <a:cs typeface="Calibri"/>
              <a:sym typeface="Calibri"/>
            </a:endParaRPr>
          </a:p>
        </p:txBody>
      </p:sp>
      <p:sp>
        <p:nvSpPr>
          <p:cNvPr id="199" name="Google Shape;199;p7"/>
          <p:cNvSpPr/>
          <p:nvPr/>
        </p:nvSpPr>
        <p:spPr>
          <a:xfrm>
            <a:off x="6309360" y="5394960"/>
            <a:ext cx="4754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Functionality grows with every iteration</a:t>
            </a:r>
            <a:endParaRPr b="0" i="0" sz="1150" u="none" cap="none" strike="noStrike">
              <a:solidFill>
                <a:schemeClr val="dk1"/>
              </a:solidFill>
              <a:latin typeface="Calibri"/>
              <a:ea typeface="Calibri"/>
              <a:cs typeface="Calibri"/>
              <a:sym typeface="Calibri"/>
            </a:endParaRPr>
          </a:p>
        </p:txBody>
      </p:sp>
      <p:sp>
        <p:nvSpPr>
          <p:cNvPr id="200" name="Google Shape;200;p7"/>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201" name="Google Shape;201;p7"/>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8"/>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CLASSIC PROCESS MODELS</a:t>
            </a:r>
            <a:endParaRPr b="0" i="0" sz="1200" u="none" cap="none" strike="noStrike">
              <a:solidFill>
                <a:schemeClr val="dk1"/>
              </a:solidFill>
              <a:latin typeface="Calibri"/>
              <a:ea typeface="Calibri"/>
              <a:cs typeface="Calibri"/>
              <a:sym typeface="Calibri"/>
            </a:endParaRPr>
          </a:p>
        </p:txBody>
      </p:sp>
      <p:sp>
        <p:nvSpPr>
          <p:cNvPr id="208" name="Google Shape;208;p8"/>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The Spiral Model</a:t>
            </a:r>
            <a:endParaRPr b="0" i="0" sz="3200" u="none" cap="none" strike="noStrike">
              <a:solidFill>
                <a:schemeClr val="dk1"/>
              </a:solidFill>
              <a:latin typeface="Calibri"/>
              <a:ea typeface="Calibri"/>
              <a:cs typeface="Calibri"/>
              <a:sym typeface="Calibri"/>
            </a:endParaRPr>
          </a:p>
        </p:txBody>
      </p:sp>
      <p:sp>
        <p:nvSpPr>
          <p:cNvPr id="209" name="Google Shape;209;p8"/>
          <p:cNvSpPr/>
          <p:nvPr/>
        </p:nvSpPr>
        <p:spPr>
          <a:xfrm>
            <a:off x="2606040" y="3154680"/>
            <a:ext cx="822960" cy="822960"/>
          </a:xfrm>
          <a:prstGeom prst="ellipse">
            <a:avLst/>
          </a:prstGeom>
          <a:solidFill>
            <a:srgbClr val="F2994A"/>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2606040" y="31546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100"/>
              <a:buFont typeface="Calibri"/>
              <a:buNone/>
            </a:pPr>
            <a:r>
              <a:rPr b="1" i="0" lang="en-US" sz="1100" u="none" cap="none" strike="noStrike">
                <a:solidFill>
                  <a:srgbClr val="10233F"/>
                </a:solidFill>
                <a:latin typeface="Calibri"/>
                <a:ea typeface="Calibri"/>
                <a:cs typeface="Calibri"/>
                <a:sym typeface="Calibri"/>
              </a:rPr>
              <a:t>RISK</a:t>
            </a:r>
            <a:endParaRPr b="0" i="0" sz="1100" u="none" cap="none" strike="noStrike">
              <a:solidFill>
                <a:schemeClr val="dk1"/>
              </a:solidFill>
              <a:latin typeface="Calibri"/>
              <a:ea typeface="Calibri"/>
              <a:cs typeface="Calibri"/>
              <a:sym typeface="Calibri"/>
            </a:endParaRPr>
          </a:p>
        </p:txBody>
      </p:sp>
      <p:sp>
        <p:nvSpPr>
          <p:cNvPr id="211" name="Google Shape;211;p8"/>
          <p:cNvSpPr/>
          <p:nvPr/>
        </p:nvSpPr>
        <p:spPr>
          <a:xfrm>
            <a:off x="2217420" y="1577340"/>
            <a:ext cx="1600200" cy="777240"/>
          </a:xfrm>
          <a:prstGeom prst="roundRect">
            <a:avLst>
              <a:gd fmla="val 7059"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2217420" y="1577340"/>
            <a:ext cx="160020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Determine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Objectives</a:t>
            </a:r>
            <a:endParaRPr b="0" i="0" sz="1100" u="none" cap="none" strike="noStrike">
              <a:solidFill>
                <a:schemeClr val="dk1"/>
              </a:solidFill>
              <a:latin typeface="Calibri"/>
              <a:ea typeface="Calibri"/>
              <a:cs typeface="Calibri"/>
              <a:sym typeface="Calibri"/>
            </a:endParaRPr>
          </a:p>
        </p:txBody>
      </p:sp>
      <p:sp>
        <p:nvSpPr>
          <p:cNvPr id="213" name="Google Shape;213;p8"/>
          <p:cNvSpPr/>
          <p:nvPr/>
        </p:nvSpPr>
        <p:spPr>
          <a:xfrm>
            <a:off x="3817620" y="3177540"/>
            <a:ext cx="1600200" cy="777240"/>
          </a:xfrm>
          <a:prstGeom prst="roundRect">
            <a:avLst>
              <a:gd fmla="val 7059"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3817620" y="3177540"/>
            <a:ext cx="160020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Identify &amp;</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Resolve Risks</a:t>
            </a:r>
            <a:endParaRPr b="0" i="0" sz="1100" u="none" cap="none" strike="noStrike">
              <a:solidFill>
                <a:schemeClr val="dk1"/>
              </a:solidFill>
              <a:latin typeface="Calibri"/>
              <a:ea typeface="Calibri"/>
              <a:cs typeface="Calibri"/>
              <a:sym typeface="Calibri"/>
            </a:endParaRPr>
          </a:p>
        </p:txBody>
      </p:sp>
      <p:sp>
        <p:nvSpPr>
          <p:cNvPr id="215" name="Google Shape;215;p8"/>
          <p:cNvSpPr/>
          <p:nvPr/>
        </p:nvSpPr>
        <p:spPr>
          <a:xfrm>
            <a:off x="2217420" y="4777740"/>
            <a:ext cx="1600200" cy="777240"/>
          </a:xfrm>
          <a:prstGeom prst="roundRect">
            <a:avLst>
              <a:gd fmla="val 7059"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2217420" y="4777740"/>
            <a:ext cx="160020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Develop &amp;</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Test</a:t>
            </a:r>
            <a:endParaRPr b="0" i="0" sz="1100" u="none" cap="none" strike="noStrike">
              <a:solidFill>
                <a:schemeClr val="dk1"/>
              </a:solidFill>
              <a:latin typeface="Calibri"/>
              <a:ea typeface="Calibri"/>
              <a:cs typeface="Calibri"/>
              <a:sym typeface="Calibri"/>
            </a:endParaRPr>
          </a:p>
        </p:txBody>
      </p:sp>
      <p:sp>
        <p:nvSpPr>
          <p:cNvPr id="217" name="Google Shape;217;p8"/>
          <p:cNvSpPr/>
          <p:nvPr/>
        </p:nvSpPr>
        <p:spPr>
          <a:xfrm>
            <a:off x="617220" y="3177540"/>
            <a:ext cx="1600200" cy="777240"/>
          </a:xfrm>
          <a:prstGeom prst="roundRect">
            <a:avLst>
              <a:gd fmla="val 7059"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617220" y="3177540"/>
            <a:ext cx="160020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Plan Next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Iteration</a:t>
            </a:r>
            <a:endParaRPr b="0" i="0" sz="1100" u="none" cap="none" strike="noStrike">
              <a:solidFill>
                <a:schemeClr val="dk1"/>
              </a:solidFill>
              <a:latin typeface="Calibri"/>
              <a:ea typeface="Calibri"/>
              <a:cs typeface="Calibri"/>
              <a:sym typeface="Calibri"/>
            </a:endParaRPr>
          </a:p>
        </p:txBody>
      </p:sp>
      <p:cxnSp>
        <p:nvCxnSpPr>
          <p:cNvPr id="219" name="Google Shape;219;p8"/>
          <p:cNvCxnSpPr/>
          <p:nvPr/>
        </p:nvCxnSpPr>
        <p:spPr>
          <a:xfrm>
            <a:off x="3566160" y="2377440"/>
            <a:ext cx="502920" cy="822960"/>
          </a:xfrm>
          <a:prstGeom prst="straightConnector1">
            <a:avLst/>
          </a:prstGeom>
          <a:noFill/>
          <a:ln cap="flat" cmpd="sng" w="25400">
            <a:solidFill>
              <a:srgbClr val="F2994A"/>
            </a:solidFill>
            <a:prstDash val="solid"/>
            <a:round/>
            <a:headEnd len="sm" w="sm" type="none"/>
            <a:tailEnd len="med" w="med" type="triangle"/>
          </a:ln>
        </p:spPr>
      </p:cxnSp>
      <p:cxnSp>
        <p:nvCxnSpPr>
          <p:cNvPr id="220" name="Google Shape;220;p8"/>
          <p:cNvCxnSpPr/>
          <p:nvPr/>
        </p:nvCxnSpPr>
        <p:spPr>
          <a:xfrm flipH="1">
            <a:off x="3566160" y="3931920"/>
            <a:ext cx="502920" cy="822960"/>
          </a:xfrm>
          <a:prstGeom prst="straightConnector1">
            <a:avLst/>
          </a:prstGeom>
          <a:noFill/>
          <a:ln cap="flat" cmpd="sng" w="25400">
            <a:solidFill>
              <a:srgbClr val="F2994A"/>
            </a:solidFill>
            <a:prstDash val="solid"/>
            <a:round/>
            <a:headEnd len="sm" w="sm" type="none"/>
            <a:tailEnd len="med" w="med" type="triangle"/>
          </a:ln>
        </p:spPr>
      </p:cxnSp>
      <p:cxnSp>
        <p:nvCxnSpPr>
          <p:cNvPr id="221" name="Google Shape;221;p8"/>
          <p:cNvCxnSpPr/>
          <p:nvPr/>
        </p:nvCxnSpPr>
        <p:spPr>
          <a:xfrm rot="10800000">
            <a:off x="1965960" y="3931920"/>
            <a:ext cx="502920" cy="822960"/>
          </a:xfrm>
          <a:prstGeom prst="straightConnector1">
            <a:avLst/>
          </a:prstGeom>
          <a:noFill/>
          <a:ln cap="flat" cmpd="sng" w="25400">
            <a:solidFill>
              <a:srgbClr val="F2994A"/>
            </a:solidFill>
            <a:prstDash val="solid"/>
            <a:round/>
            <a:headEnd len="sm" w="sm" type="none"/>
            <a:tailEnd len="med" w="med" type="triangle"/>
          </a:ln>
        </p:spPr>
      </p:cxnSp>
      <p:cxnSp>
        <p:nvCxnSpPr>
          <p:cNvPr id="222" name="Google Shape;222;p8"/>
          <p:cNvCxnSpPr/>
          <p:nvPr/>
        </p:nvCxnSpPr>
        <p:spPr>
          <a:xfrm flipH="1" rot="10800000">
            <a:off x="1965960" y="2377440"/>
            <a:ext cx="502920" cy="822960"/>
          </a:xfrm>
          <a:prstGeom prst="straightConnector1">
            <a:avLst/>
          </a:prstGeom>
          <a:noFill/>
          <a:ln cap="flat" cmpd="sng" w="25400">
            <a:solidFill>
              <a:srgbClr val="F2994A"/>
            </a:solidFill>
            <a:prstDash val="solid"/>
            <a:round/>
            <a:headEnd len="sm" w="sm" type="none"/>
            <a:tailEnd len="med" w="med" type="triangle"/>
          </a:ln>
        </p:spPr>
      </p:cxnSp>
      <p:sp>
        <p:nvSpPr>
          <p:cNvPr id="223" name="Google Shape;223;p8"/>
          <p:cNvSpPr/>
          <p:nvPr/>
        </p:nvSpPr>
        <p:spPr>
          <a:xfrm>
            <a:off x="365760" y="5806440"/>
            <a:ext cx="56692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1" lang="en-US" sz="1150" u="none" cap="none" strike="noStrike">
                <a:solidFill>
                  <a:srgbClr val="5B6B85"/>
                </a:solidFill>
                <a:latin typeface="Calibri"/>
                <a:ea typeface="Calibri"/>
                <a:cs typeface="Calibri"/>
                <a:sym typeface="Calibri"/>
              </a:rPr>
              <a:t>Each loop repeats all four activities, producing a more refined system.</a:t>
            </a:r>
            <a:endParaRPr b="0" i="0" sz="1150" u="none" cap="none" strike="noStrike">
              <a:solidFill>
                <a:schemeClr val="dk1"/>
              </a:solidFill>
              <a:latin typeface="Calibri"/>
              <a:ea typeface="Calibri"/>
              <a:cs typeface="Calibri"/>
              <a:sym typeface="Calibri"/>
            </a:endParaRPr>
          </a:p>
        </p:txBody>
      </p:sp>
      <p:sp>
        <p:nvSpPr>
          <p:cNvPr id="224" name="Google Shape;224;p8"/>
          <p:cNvSpPr/>
          <p:nvPr/>
        </p:nvSpPr>
        <p:spPr>
          <a:xfrm>
            <a:off x="6263640" y="1828800"/>
            <a:ext cx="5394960" cy="356616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Combines iterative development with risk analysis</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Each loop plans, analyzes risk, builds, and reviews</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Best suited for large, high-risk systems</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Example: enterprise banking and aerospace software</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Risk assessment repeats on every single cycle</a:t>
            </a:r>
            <a:endParaRPr b="0" i="0" sz="1500" u="none" cap="none" strike="noStrike">
              <a:solidFill>
                <a:schemeClr val="dk1"/>
              </a:solidFill>
              <a:latin typeface="Calibri"/>
              <a:ea typeface="Calibri"/>
              <a:cs typeface="Calibri"/>
              <a:sym typeface="Calibri"/>
            </a:endParaRPr>
          </a:p>
        </p:txBody>
      </p:sp>
      <p:sp>
        <p:nvSpPr>
          <p:cNvPr id="225" name="Google Shape;225;p8"/>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226" name="Google Shape;226;p8"/>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9"/>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MODERN PROCESS MODELS</a:t>
            </a:r>
            <a:endParaRPr b="0" i="0" sz="1200" u="none" cap="none" strike="noStrike">
              <a:solidFill>
                <a:schemeClr val="dk1"/>
              </a:solidFill>
              <a:latin typeface="Calibri"/>
              <a:ea typeface="Calibri"/>
              <a:cs typeface="Calibri"/>
              <a:sym typeface="Calibri"/>
            </a:endParaRPr>
          </a:p>
        </p:txBody>
      </p:sp>
      <p:sp>
        <p:nvSpPr>
          <p:cNvPr id="233" name="Google Shape;233;p9"/>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Agile Development</a:t>
            </a:r>
            <a:endParaRPr b="0" i="0" sz="3200" u="none" cap="none" strike="noStrike">
              <a:solidFill>
                <a:schemeClr val="dk1"/>
              </a:solidFill>
              <a:latin typeface="Calibri"/>
              <a:ea typeface="Calibri"/>
              <a:cs typeface="Calibri"/>
              <a:sym typeface="Calibri"/>
            </a:endParaRPr>
          </a:p>
        </p:txBody>
      </p:sp>
      <p:sp>
        <p:nvSpPr>
          <p:cNvPr id="234" name="Google Shape;234;p9"/>
          <p:cNvSpPr/>
          <p:nvPr/>
        </p:nvSpPr>
        <p:spPr>
          <a:xfrm>
            <a:off x="548640" y="141732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350"/>
              <a:buFont typeface="Calibri"/>
              <a:buNone/>
            </a:pPr>
            <a:r>
              <a:rPr b="0" i="1" lang="en-US" sz="1350" u="none" cap="none" strike="noStrike">
                <a:solidFill>
                  <a:srgbClr val="5B6B85"/>
                </a:solidFill>
                <a:latin typeface="Calibri"/>
                <a:ea typeface="Calibri"/>
                <a:cs typeface="Calibri"/>
                <a:sym typeface="Calibri"/>
              </a:rPr>
              <a:t>The Agile Manifesto values the item on the right more than the item on the left:</a:t>
            </a:r>
            <a:endParaRPr b="0" i="0" sz="1350" u="none" cap="none" strike="noStrike">
              <a:solidFill>
                <a:schemeClr val="dk1"/>
              </a:solidFill>
              <a:latin typeface="Calibri"/>
              <a:ea typeface="Calibri"/>
              <a:cs typeface="Calibri"/>
              <a:sym typeface="Calibri"/>
            </a:endParaRPr>
          </a:p>
        </p:txBody>
      </p:sp>
      <p:sp>
        <p:nvSpPr>
          <p:cNvPr id="235" name="Google Shape;235;p9"/>
          <p:cNvSpPr/>
          <p:nvPr/>
        </p:nvSpPr>
        <p:spPr>
          <a:xfrm>
            <a:off x="548640" y="1965960"/>
            <a:ext cx="10881360" cy="530352"/>
          </a:xfrm>
          <a:prstGeom prst="roundRect">
            <a:avLst>
              <a:gd fmla="val 8621" name="adj"/>
            </a:avLst>
          </a:prstGeom>
          <a:solidFill>
            <a:srgbClr val="FFFFFF"/>
          </a:solidFill>
          <a:ln cap="flat" cmpd="sng" w="9525">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822960" y="1965960"/>
            <a:ext cx="448056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1400"/>
              <a:buFont typeface="Calibri"/>
              <a:buNone/>
            </a:pPr>
            <a:r>
              <a:rPr b="0" i="0" lang="en-US" sz="1400" u="none" cap="none" strike="noStrike">
                <a:solidFill>
                  <a:srgbClr val="5B6B85"/>
                </a:solidFill>
                <a:latin typeface="Calibri"/>
                <a:ea typeface="Calibri"/>
                <a:cs typeface="Calibri"/>
                <a:sym typeface="Calibri"/>
              </a:rPr>
              <a:t>Processes and tools</a:t>
            </a:r>
            <a:endParaRPr b="0" i="0" sz="1400" u="none" cap="none" strike="noStrike">
              <a:solidFill>
                <a:schemeClr val="dk1"/>
              </a:solidFill>
              <a:latin typeface="Calibri"/>
              <a:ea typeface="Calibri"/>
              <a:cs typeface="Calibri"/>
              <a:sym typeface="Calibri"/>
            </a:endParaRPr>
          </a:p>
        </p:txBody>
      </p:sp>
      <p:sp>
        <p:nvSpPr>
          <p:cNvPr id="237" name="Google Shape;237;p9"/>
          <p:cNvSpPr/>
          <p:nvPr/>
        </p:nvSpPr>
        <p:spPr>
          <a:xfrm>
            <a:off x="5394960" y="1965960"/>
            <a:ext cx="100584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994A"/>
              </a:buClr>
              <a:buSzPts val="1250"/>
              <a:buFont typeface="Calibri"/>
              <a:buNone/>
            </a:pPr>
            <a:r>
              <a:rPr b="1" i="1" lang="en-US" sz="1250" u="none" cap="none" strike="noStrike">
                <a:solidFill>
                  <a:srgbClr val="F2994A"/>
                </a:solidFill>
                <a:latin typeface="Calibri"/>
                <a:ea typeface="Calibri"/>
                <a:cs typeface="Calibri"/>
                <a:sym typeface="Calibri"/>
              </a:rPr>
              <a:t>over</a:t>
            </a:r>
            <a:endParaRPr b="0" i="0" sz="1250" u="none" cap="none" strike="noStrike">
              <a:solidFill>
                <a:schemeClr val="dk1"/>
              </a:solidFill>
              <a:latin typeface="Calibri"/>
              <a:ea typeface="Calibri"/>
              <a:cs typeface="Calibri"/>
              <a:sym typeface="Calibri"/>
            </a:endParaRPr>
          </a:p>
        </p:txBody>
      </p:sp>
      <p:sp>
        <p:nvSpPr>
          <p:cNvPr id="238" name="Google Shape;238;p9"/>
          <p:cNvSpPr/>
          <p:nvPr/>
        </p:nvSpPr>
        <p:spPr>
          <a:xfrm>
            <a:off x="6492240" y="1965960"/>
            <a:ext cx="4709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1450"/>
              <a:buFont typeface="Calibri"/>
              <a:buNone/>
            </a:pPr>
            <a:r>
              <a:rPr b="1" i="0" lang="en-US" sz="1450" u="none" cap="none" strike="noStrike">
                <a:solidFill>
                  <a:srgbClr val="10233F"/>
                </a:solidFill>
                <a:latin typeface="Calibri"/>
                <a:ea typeface="Calibri"/>
                <a:cs typeface="Calibri"/>
                <a:sym typeface="Calibri"/>
              </a:rPr>
              <a:t>Individuals and interactions</a:t>
            </a:r>
            <a:endParaRPr b="0" i="0" sz="1450" u="none" cap="none" strike="noStrike">
              <a:solidFill>
                <a:schemeClr val="dk1"/>
              </a:solidFill>
              <a:latin typeface="Calibri"/>
              <a:ea typeface="Calibri"/>
              <a:cs typeface="Calibri"/>
              <a:sym typeface="Calibri"/>
            </a:endParaRPr>
          </a:p>
        </p:txBody>
      </p:sp>
      <p:sp>
        <p:nvSpPr>
          <p:cNvPr id="239" name="Google Shape;239;p9"/>
          <p:cNvSpPr/>
          <p:nvPr/>
        </p:nvSpPr>
        <p:spPr>
          <a:xfrm>
            <a:off x="548640" y="2624328"/>
            <a:ext cx="10881360" cy="530352"/>
          </a:xfrm>
          <a:prstGeom prst="roundRect">
            <a:avLst>
              <a:gd fmla="val 8621" name="adj"/>
            </a:avLst>
          </a:prstGeom>
          <a:solidFill>
            <a:srgbClr val="EEF2F9"/>
          </a:solidFill>
          <a:ln cap="flat" cmpd="sng" w="9525">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822960" y="2624328"/>
            <a:ext cx="448056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1400"/>
              <a:buFont typeface="Calibri"/>
              <a:buNone/>
            </a:pPr>
            <a:r>
              <a:rPr b="0" i="0" lang="en-US" sz="1400" u="none" cap="none" strike="noStrike">
                <a:solidFill>
                  <a:srgbClr val="5B6B85"/>
                </a:solidFill>
                <a:latin typeface="Calibri"/>
                <a:ea typeface="Calibri"/>
                <a:cs typeface="Calibri"/>
                <a:sym typeface="Calibri"/>
              </a:rPr>
              <a:t>Comprehensive documentation</a:t>
            </a:r>
            <a:endParaRPr b="0" i="0" sz="1400" u="none" cap="none" strike="noStrike">
              <a:solidFill>
                <a:schemeClr val="dk1"/>
              </a:solidFill>
              <a:latin typeface="Calibri"/>
              <a:ea typeface="Calibri"/>
              <a:cs typeface="Calibri"/>
              <a:sym typeface="Calibri"/>
            </a:endParaRPr>
          </a:p>
        </p:txBody>
      </p:sp>
      <p:sp>
        <p:nvSpPr>
          <p:cNvPr id="241" name="Google Shape;241;p9"/>
          <p:cNvSpPr/>
          <p:nvPr/>
        </p:nvSpPr>
        <p:spPr>
          <a:xfrm>
            <a:off x="5394960" y="2624328"/>
            <a:ext cx="100584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994A"/>
              </a:buClr>
              <a:buSzPts val="1250"/>
              <a:buFont typeface="Calibri"/>
              <a:buNone/>
            </a:pPr>
            <a:r>
              <a:rPr b="1" i="1" lang="en-US" sz="1250" u="none" cap="none" strike="noStrike">
                <a:solidFill>
                  <a:srgbClr val="F2994A"/>
                </a:solidFill>
                <a:latin typeface="Calibri"/>
                <a:ea typeface="Calibri"/>
                <a:cs typeface="Calibri"/>
                <a:sym typeface="Calibri"/>
              </a:rPr>
              <a:t>over</a:t>
            </a:r>
            <a:endParaRPr b="0" i="0" sz="1250" u="none" cap="none" strike="noStrike">
              <a:solidFill>
                <a:schemeClr val="dk1"/>
              </a:solidFill>
              <a:latin typeface="Calibri"/>
              <a:ea typeface="Calibri"/>
              <a:cs typeface="Calibri"/>
              <a:sym typeface="Calibri"/>
            </a:endParaRPr>
          </a:p>
        </p:txBody>
      </p:sp>
      <p:sp>
        <p:nvSpPr>
          <p:cNvPr id="242" name="Google Shape;242;p9"/>
          <p:cNvSpPr/>
          <p:nvPr/>
        </p:nvSpPr>
        <p:spPr>
          <a:xfrm>
            <a:off x="6492240" y="2624328"/>
            <a:ext cx="4709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1450"/>
              <a:buFont typeface="Calibri"/>
              <a:buNone/>
            </a:pPr>
            <a:r>
              <a:rPr b="1" i="0" lang="en-US" sz="1450" u="none" cap="none" strike="noStrike">
                <a:solidFill>
                  <a:srgbClr val="10233F"/>
                </a:solidFill>
                <a:latin typeface="Calibri"/>
                <a:ea typeface="Calibri"/>
                <a:cs typeface="Calibri"/>
                <a:sym typeface="Calibri"/>
              </a:rPr>
              <a:t>Working software</a:t>
            </a:r>
            <a:endParaRPr b="0" i="0" sz="1450" u="none" cap="none" strike="noStrike">
              <a:solidFill>
                <a:schemeClr val="dk1"/>
              </a:solidFill>
              <a:latin typeface="Calibri"/>
              <a:ea typeface="Calibri"/>
              <a:cs typeface="Calibri"/>
              <a:sym typeface="Calibri"/>
            </a:endParaRPr>
          </a:p>
        </p:txBody>
      </p:sp>
      <p:sp>
        <p:nvSpPr>
          <p:cNvPr id="243" name="Google Shape;243;p9"/>
          <p:cNvSpPr/>
          <p:nvPr/>
        </p:nvSpPr>
        <p:spPr>
          <a:xfrm>
            <a:off x="548640" y="3282696"/>
            <a:ext cx="10881360" cy="530352"/>
          </a:xfrm>
          <a:prstGeom prst="roundRect">
            <a:avLst>
              <a:gd fmla="val 8621" name="adj"/>
            </a:avLst>
          </a:prstGeom>
          <a:solidFill>
            <a:srgbClr val="FFFFFF"/>
          </a:solidFill>
          <a:ln cap="flat" cmpd="sng" w="9525">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822960" y="3282696"/>
            <a:ext cx="448056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1400"/>
              <a:buFont typeface="Calibri"/>
              <a:buNone/>
            </a:pPr>
            <a:r>
              <a:rPr b="0" i="0" lang="en-US" sz="1400" u="none" cap="none" strike="noStrike">
                <a:solidFill>
                  <a:srgbClr val="5B6B85"/>
                </a:solidFill>
                <a:latin typeface="Calibri"/>
                <a:ea typeface="Calibri"/>
                <a:cs typeface="Calibri"/>
                <a:sym typeface="Calibri"/>
              </a:rPr>
              <a:t>Contract negotiation</a:t>
            </a:r>
            <a:endParaRPr b="0" i="0" sz="1400" u="none" cap="none" strike="noStrike">
              <a:solidFill>
                <a:schemeClr val="dk1"/>
              </a:solidFill>
              <a:latin typeface="Calibri"/>
              <a:ea typeface="Calibri"/>
              <a:cs typeface="Calibri"/>
              <a:sym typeface="Calibri"/>
            </a:endParaRPr>
          </a:p>
        </p:txBody>
      </p:sp>
      <p:sp>
        <p:nvSpPr>
          <p:cNvPr id="245" name="Google Shape;245;p9"/>
          <p:cNvSpPr/>
          <p:nvPr/>
        </p:nvSpPr>
        <p:spPr>
          <a:xfrm>
            <a:off x="5394960" y="3282696"/>
            <a:ext cx="100584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994A"/>
              </a:buClr>
              <a:buSzPts val="1250"/>
              <a:buFont typeface="Calibri"/>
              <a:buNone/>
            </a:pPr>
            <a:r>
              <a:rPr b="1" i="1" lang="en-US" sz="1250" u="none" cap="none" strike="noStrike">
                <a:solidFill>
                  <a:srgbClr val="F2994A"/>
                </a:solidFill>
                <a:latin typeface="Calibri"/>
                <a:ea typeface="Calibri"/>
                <a:cs typeface="Calibri"/>
                <a:sym typeface="Calibri"/>
              </a:rPr>
              <a:t>over</a:t>
            </a:r>
            <a:endParaRPr b="0" i="0" sz="1250" u="none" cap="none" strike="noStrike">
              <a:solidFill>
                <a:schemeClr val="dk1"/>
              </a:solidFill>
              <a:latin typeface="Calibri"/>
              <a:ea typeface="Calibri"/>
              <a:cs typeface="Calibri"/>
              <a:sym typeface="Calibri"/>
            </a:endParaRPr>
          </a:p>
        </p:txBody>
      </p:sp>
      <p:sp>
        <p:nvSpPr>
          <p:cNvPr id="246" name="Google Shape;246;p9"/>
          <p:cNvSpPr/>
          <p:nvPr/>
        </p:nvSpPr>
        <p:spPr>
          <a:xfrm>
            <a:off x="6492240" y="3282696"/>
            <a:ext cx="4709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1450"/>
              <a:buFont typeface="Calibri"/>
              <a:buNone/>
            </a:pPr>
            <a:r>
              <a:rPr b="1" i="0" lang="en-US" sz="1450" u="none" cap="none" strike="noStrike">
                <a:solidFill>
                  <a:srgbClr val="10233F"/>
                </a:solidFill>
                <a:latin typeface="Calibri"/>
                <a:ea typeface="Calibri"/>
                <a:cs typeface="Calibri"/>
                <a:sym typeface="Calibri"/>
              </a:rPr>
              <a:t>Customer collaboration</a:t>
            </a:r>
            <a:endParaRPr b="0" i="0" sz="1450" u="none" cap="none" strike="noStrike">
              <a:solidFill>
                <a:schemeClr val="dk1"/>
              </a:solidFill>
              <a:latin typeface="Calibri"/>
              <a:ea typeface="Calibri"/>
              <a:cs typeface="Calibri"/>
              <a:sym typeface="Calibri"/>
            </a:endParaRPr>
          </a:p>
        </p:txBody>
      </p:sp>
      <p:sp>
        <p:nvSpPr>
          <p:cNvPr id="247" name="Google Shape;247;p9"/>
          <p:cNvSpPr/>
          <p:nvPr/>
        </p:nvSpPr>
        <p:spPr>
          <a:xfrm>
            <a:off x="548640" y="3941064"/>
            <a:ext cx="10881360" cy="530352"/>
          </a:xfrm>
          <a:prstGeom prst="roundRect">
            <a:avLst>
              <a:gd fmla="val 8621" name="adj"/>
            </a:avLst>
          </a:prstGeom>
          <a:solidFill>
            <a:srgbClr val="EEF2F9"/>
          </a:solidFill>
          <a:ln cap="flat" cmpd="sng" w="9525">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822960" y="3941064"/>
            <a:ext cx="448056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1400"/>
              <a:buFont typeface="Calibri"/>
              <a:buNone/>
            </a:pPr>
            <a:r>
              <a:rPr b="0" i="0" lang="en-US" sz="1400" u="none" cap="none" strike="noStrike">
                <a:solidFill>
                  <a:srgbClr val="5B6B85"/>
                </a:solidFill>
                <a:latin typeface="Calibri"/>
                <a:ea typeface="Calibri"/>
                <a:cs typeface="Calibri"/>
                <a:sym typeface="Calibri"/>
              </a:rPr>
              <a:t>Following a plan</a:t>
            </a:r>
            <a:endParaRPr b="0" i="0" sz="1400" u="none" cap="none" strike="noStrike">
              <a:solidFill>
                <a:schemeClr val="dk1"/>
              </a:solidFill>
              <a:latin typeface="Calibri"/>
              <a:ea typeface="Calibri"/>
              <a:cs typeface="Calibri"/>
              <a:sym typeface="Calibri"/>
            </a:endParaRPr>
          </a:p>
        </p:txBody>
      </p:sp>
      <p:sp>
        <p:nvSpPr>
          <p:cNvPr id="249" name="Google Shape;249;p9"/>
          <p:cNvSpPr/>
          <p:nvPr/>
        </p:nvSpPr>
        <p:spPr>
          <a:xfrm>
            <a:off x="5394960" y="3941064"/>
            <a:ext cx="100584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994A"/>
              </a:buClr>
              <a:buSzPts val="1250"/>
              <a:buFont typeface="Calibri"/>
              <a:buNone/>
            </a:pPr>
            <a:r>
              <a:rPr b="1" i="1" lang="en-US" sz="1250" u="none" cap="none" strike="noStrike">
                <a:solidFill>
                  <a:srgbClr val="F2994A"/>
                </a:solidFill>
                <a:latin typeface="Calibri"/>
                <a:ea typeface="Calibri"/>
                <a:cs typeface="Calibri"/>
                <a:sym typeface="Calibri"/>
              </a:rPr>
              <a:t>over</a:t>
            </a:r>
            <a:endParaRPr b="0" i="0" sz="1250" u="none" cap="none" strike="noStrike">
              <a:solidFill>
                <a:schemeClr val="dk1"/>
              </a:solidFill>
              <a:latin typeface="Calibri"/>
              <a:ea typeface="Calibri"/>
              <a:cs typeface="Calibri"/>
              <a:sym typeface="Calibri"/>
            </a:endParaRPr>
          </a:p>
        </p:txBody>
      </p:sp>
      <p:sp>
        <p:nvSpPr>
          <p:cNvPr id="250" name="Google Shape;250;p9"/>
          <p:cNvSpPr/>
          <p:nvPr/>
        </p:nvSpPr>
        <p:spPr>
          <a:xfrm>
            <a:off x="6492240" y="3941064"/>
            <a:ext cx="47091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1450"/>
              <a:buFont typeface="Calibri"/>
              <a:buNone/>
            </a:pPr>
            <a:r>
              <a:rPr b="1" i="0" lang="en-US" sz="1450" u="none" cap="none" strike="noStrike">
                <a:solidFill>
                  <a:srgbClr val="10233F"/>
                </a:solidFill>
                <a:latin typeface="Calibri"/>
                <a:ea typeface="Calibri"/>
                <a:cs typeface="Calibri"/>
                <a:sym typeface="Calibri"/>
              </a:rPr>
              <a:t>Responding to change</a:t>
            </a:r>
            <a:endParaRPr b="0" i="0" sz="1450" u="none" cap="none" strike="noStrike">
              <a:solidFill>
                <a:schemeClr val="dk1"/>
              </a:solidFill>
              <a:latin typeface="Calibri"/>
              <a:ea typeface="Calibri"/>
              <a:cs typeface="Calibri"/>
              <a:sym typeface="Calibri"/>
            </a:endParaRPr>
          </a:p>
        </p:txBody>
      </p:sp>
      <p:sp>
        <p:nvSpPr>
          <p:cNvPr id="251" name="Google Shape;251;p9"/>
          <p:cNvSpPr/>
          <p:nvPr/>
        </p:nvSpPr>
        <p:spPr>
          <a:xfrm>
            <a:off x="548640" y="4690872"/>
            <a:ext cx="10881360" cy="685800"/>
          </a:xfrm>
          <a:prstGeom prst="roundRect">
            <a:avLst>
              <a:gd fmla="val 8000" name="adj"/>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777240" y="4764024"/>
            <a:ext cx="530352" cy="530352"/>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rocket.png" id="253" name="Google Shape;253;p9"/>
          <p:cNvPicPr preferRelativeResize="0"/>
          <p:nvPr/>
        </p:nvPicPr>
        <p:blipFill rotWithShape="1">
          <a:blip r:embed="rId3">
            <a:alphaModFix/>
          </a:blip>
          <a:srcRect b="0" l="0" r="0" t="0"/>
          <a:stretch/>
        </p:blipFill>
        <p:spPr>
          <a:xfrm>
            <a:off x="893917" y="4880701"/>
            <a:ext cx="296997" cy="296997"/>
          </a:xfrm>
          <a:prstGeom prst="rect">
            <a:avLst/>
          </a:prstGeom>
          <a:noFill/>
          <a:ln>
            <a:noFill/>
          </a:ln>
        </p:spPr>
      </p:pic>
      <p:sp>
        <p:nvSpPr>
          <p:cNvPr id="254" name="Google Shape;254;p9"/>
          <p:cNvSpPr/>
          <p:nvPr/>
        </p:nvSpPr>
        <p:spPr>
          <a:xfrm>
            <a:off x="1508760" y="4690872"/>
            <a:ext cx="96926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0" i="0" lang="en-US" sz="1450" u="none" cap="none" strike="noStrike">
                <a:solidFill>
                  <a:srgbClr val="FFFFFF"/>
                </a:solidFill>
                <a:latin typeface="Calibri"/>
                <a:ea typeface="Calibri"/>
                <a:cs typeface="Calibri"/>
                <a:sym typeface="Calibri"/>
              </a:rPr>
              <a:t>Delivers value in short, frequent releases — often weekly or daily.</a:t>
            </a:r>
            <a:endParaRPr b="0" i="0" sz="1450" u="none" cap="none" strike="noStrike">
              <a:solidFill>
                <a:schemeClr val="dk1"/>
              </a:solidFill>
              <a:latin typeface="Calibri"/>
              <a:ea typeface="Calibri"/>
              <a:cs typeface="Calibri"/>
              <a:sym typeface="Calibri"/>
            </a:endParaRPr>
          </a:p>
        </p:txBody>
      </p:sp>
      <p:sp>
        <p:nvSpPr>
          <p:cNvPr id="255" name="Google Shape;255;p9"/>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256" name="Google Shape;256;p9"/>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0"/>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MODERN PROCESS MODELS</a:t>
            </a:r>
            <a:endParaRPr b="0" i="0" sz="1200" u="none" cap="none" strike="noStrike">
              <a:solidFill>
                <a:schemeClr val="dk1"/>
              </a:solidFill>
              <a:latin typeface="Calibri"/>
              <a:ea typeface="Calibri"/>
              <a:cs typeface="Calibri"/>
              <a:sym typeface="Calibri"/>
            </a:endParaRPr>
          </a:p>
        </p:txBody>
      </p:sp>
      <p:sp>
        <p:nvSpPr>
          <p:cNvPr id="263" name="Google Shape;263;p10"/>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The Scrum Framework</a:t>
            </a:r>
            <a:endParaRPr b="0" i="0" sz="3200" u="none" cap="none" strike="noStrike">
              <a:solidFill>
                <a:schemeClr val="dk1"/>
              </a:solidFill>
              <a:latin typeface="Calibri"/>
              <a:ea typeface="Calibri"/>
              <a:cs typeface="Calibri"/>
              <a:sym typeface="Calibri"/>
            </a:endParaRPr>
          </a:p>
        </p:txBody>
      </p:sp>
      <p:sp>
        <p:nvSpPr>
          <p:cNvPr id="264" name="Google Shape;264;p10"/>
          <p:cNvSpPr/>
          <p:nvPr/>
        </p:nvSpPr>
        <p:spPr>
          <a:xfrm>
            <a:off x="548640" y="1828800"/>
            <a:ext cx="5669280" cy="36576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Roles: Product Owner, Scrum Master, Development Team</a:t>
            </a:r>
            <a:endParaRPr b="0" i="0" sz="1500" u="none" cap="none" strike="noStrike">
              <a:solidFill>
                <a:schemeClr val="dk1"/>
              </a:solidFill>
              <a:latin typeface="Calibri"/>
              <a:ea typeface="Calibri"/>
              <a:cs typeface="Calibri"/>
              <a:sym typeface="Calibri"/>
            </a:endParaRPr>
          </a:p>
          <a:p>
            <a:pPr indent="-228600" lvl="0" marL="228600" marR="0" rtl="0" algn="l">
              <a:spcBef>
                <a:spcPts val="17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Artifacts: Product Backlog, Sprint Backlog, Increment</a:t>
            </a:r>
            <a:endParaRPr b="0" i="0" sz="1500" u="none" cap="none" strike="noStrike">
              <a:solidFill>
                <a:schemeClr val="dk1"/>
              </a:solidFill>
              <a:latin typeface="Calibri"/>
              <a:ea typeface="Calibri"/>
              <a:cs typeface="Calibri"/>
              <a:sym typeface="Calibri"/>
            </a:endParaRPr>
          </a:p>
          <a:p>
            <a:pPr indent="-228600" lvl="0" marL="228600" marR="0" rtl="0" algn="l">
              <a:spcBef>
                <a:spcPts val="17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Sprint length is typically one to four weeks</a:t>
            </a:r>
            <a:endParaRPr b="0" i="0" sz="1500" u="none" cap="none" strike="noStrike">
              <a:solidFill>
                <a:schemeClr val="dk1"/>
              </a:solidFill>
              <a:latin typeface="Calibri"/>
              <a:ea typeface="Calibri"/>
              <a:cs typeface="Calibri"/>
              <a:sym typeface="Calibri"/>
            </a:endParaRPr>
          </a:p>
          <a:p>
            <a:pPr indent="-228600" lvl="0" marL="228600" marR="0" rtl="0" algn="l">
              <a:spcBef>
                <a:spcPts val="17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Built on inspect, adapt, and transparency</a:t>
            </a:r>
            <a:endParaRPr b="0" i="0" sz="1500" u="none" cap="none" strike="noStrike">
              <a:solidFill>
                <a:schemeClr val="dk1"/>
              </a:solidFill>
              <a:latin typeface="Calibri"/>
              <a:ea typeface="Calibri"/>
              <a:cs typeface="Calibri"/>
              <a:sym typeface="Calibri"/>
            </a:endParaRPr>
          </a:p>
          <a:p>
            <a:pPr indent="-228600" lvl="0" marL="228600" marR="0" rtl="0" algn="l">
              <a:spcBef>
                <a:spcPts val="17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Used by Spotify, Amazon, and Microsoft teams</a:t>
            </a:r>
            <a:endParaRPr b="0" i="0" sz="1500" u="none" cap="none" strike="noStrike">
              <a:solidFill>
                <a:schemeClr val="dk1"/>
              </a:solidFill>
              <a:latin typeface="Calibri"/>
              <a:ea typeface="Calibri"/>
              <a:cs typeface="Calibri"/>
              <a:sym typeface="Calibri"/>
            </a:endParaRPr>
          </a:p>
        </p:txBody>
      </p:sp>
      <p:sp>
        <p:nvSpPr>
          <p:cNvPr id="265" name="Google Shape;265;p10"/>
          <p:cNvSpPr/>
          <p:nvPr/>
        </p:nvSpPr>
        <p:spPr>
          <a:xfrm>
            <a:off x="8577072" y="3044952"/>
            <a:ext cx="1133856" cy="1133856"/>
          </a:xfrm>
          <a:prstGeom prst="ellipse">
            <a:avLst/>
          </a:prstGeom>
          <a:solidFill>
            <a:srgbClr val="F2994A"/>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8577072" y="3044952"/>
            <a:ext cx="1133856" cy="11338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233F"/>
              </a:buClr>
              <a:buSzPts val="1050"/>
              <a:buFont typeface="Calibri"/>
              <a:buNone/>
            </a:pPr>
            <a:r>
              <a:rPr b="1" i="0" lang="en-US" sz="1050" u="none" cap="none" strike="noStrike">
                <a:solidFill>
                  <a:srgbClr val="10233F"/>
                </a:solidFill>
                <a:latin typeface="Calibri"/>
                <a:ea typeface="Calibri"/>
                <a:cs typeface="Calibri"/>
                <a:sym typeface="Calibri"/>
              </a:rPr>
              <a:t>SPRINT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0233F"/>
              </a:buClr>
              <a:buSzPts val="1050"/>
              <a:buFont typeface="Calibri"/>
              <a:buNone/>
            </a:pPr>
            <a:r>
              <a:rPr b="1" i="0" lang="en-US" sz="1050" u="none" cap="none" strike="noStrike">
                <a:solidFill>
                  <a:srgbClr val="10233F"/>
                </a:solidFill>
                <a:latin typeface="Calibri"/>
                <a:ea typeface="Calibri"/>
                <a:cs typeface="Calibri"/>
                <a:sym typeface="Calibri"/>
              </a:rPr>
              <a:t>1–4 wks</a:t>
            </a:r>
            <a:endParaRPr b="0" i="0" sz="1050" u="none" cap="none" strike="noStrike">
              <a:solidFill>
                <a:schemeClr val="dk1"/>
              </a:solidFill>
              <a:latin typeface="Calibri"/>
              <a:ea typeface="Calibri"/>
              <a:cs typeface="Calibri"/>
              <a:sym typeface="Calibri"/>
            </a:endParaRPr>
          </a:p>
        </p:txBody>
      </p:sp>
      <p:sp>
        <p:nvSpPr>
          <p:cNvPr id="267" name="Google Shape;267;p10"/>
          <p:cNvSpPr/>
          <p:nvPr/>
        </p:nvSpPr>
        <p:spPr>
          <a:xfrm>
            <a:off x="8526780" y="1440180"/>
            <a:ext cx="1234440" cy="1234440"/>
          </a:xfrm>
          <a:prstGeom prst="ellipse">
            <a:avLst/>
          </a:prstGeom>
          <a:solidFill>
            <a:srgbClr val="2D82B7"/>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8526780" y="1440180"/>
            <a:ext cx="1234440" cy="123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Sprint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Planning</a:t>
            </a:r>
            <a:endParaRPr b="0" i="0" sz="1050" u="none" cap="none" strike="noStrike">
              <a:solidFill>
                <a:schemeClr val="dk1"/>
              </a:solidFill>
              <a:latin typeface="Calibri"/>
              <a:ea typeface="Calibri"/>
              <a:cs typeface="Calibri"/>
              <a:sym typeface="Calibri"/>
            </a:endParaRPr>
          </a:p>
        </p:txBody>
      </p:sp>
      <p:sp>
        <p:nvSpPr>
          <p:cNvPr id="269" name="Google Shape;269;p10"/>
          <p:cNvSpPr/>
          <p:nvPr/>
        </p:nvSpPr>
        <p:spPr>
          <a:xfrm>
            <a:off x="10081260" y="2994660"/>
            <a:ext cx="1234440" cy="1234440"/>
          </a:xfrm>
          <a:prstGeom prst="ellipse">
            <a:avLst/>
          </a:prstGeom>
          <a:solidFill>
            <a:srgbClr val="2D82B7"/>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10081260" y="2994660"/>
            <a:ext cx="1234440" cy="123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Daily</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Scrum</a:t>
            </a:r>
            <a:endParaRPr b="0" i="0" sz="1050" u="none" cap="none" strike="noStrike">
              <a:solidFill>
                <a:schemeClr val="dk1"/>
              </a:solidFill>
              <a:latin typeface="Calibri"/>
              <a:ea typeface="Calibri"/>
              <a:cs typeface="Calibri"/>
              <a:sym typeface="Calibri"/>
            </a:endParaRPr>
          </a:p>
        </p:txBody>
      </p:sp>
      <p:sp>
        <p:nvSpPr>
          <p:cNvPr id="271" name="Google Shape;271;p10"/>
          <p:cNvSpPr/>
          <p:nvPr/>
        </p:nvSpPr>
        <p:spPr>
          <a:xfrm>
            <a:off x="8526780" y="4549140"/>
            <a:ext cx="1234440" cy="1234440"/>
          </a:xfrm>
          <a:prstGeom prst="ellipse">
            <a:avLst/>
          </a:prstGeom>
          <a:solidFill>
            <a:srgbClr val="2D82B7"/>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8526780" y="4549140"/>
            <a:ext cx="1234440" cy="123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Sprint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Review</a:t>
            </a:r>
            <a:endParaRPr b="0" i="0" sz="1050" u="none" cap="none" strike="noStrike">
              <a:solidFill>
                <a:schemeClr val="dk1"/>
              </a:solidFill>
              <a:latin typeface="Calibri"/>
              <a:ea typeface="Calibri"/>
              <a:cs typeface="Calibri"/>
              <a:sym typeface="Calibri"/>
            </a:endParaRPr>
          </a:p>
        </p:txBody>
      </p:sp>
      <p:sp>
        <p:nvSpPr>
          <p:cNvPr id="273" name="Google Shape;273;p10"/>
          <p:cNvSpPr/>
          <p:nvPr/>
        </p:nvSpPr>
        <p:spPr>
          <a:xfrm>
            <a:off x="6972300" y="2994660"/>
            <a:ext cx="1234440" cy="1234440"/>
          </a:xfrm>
          <a:prstGeom prst="ellipse">
            <a:avLst/>
          </a:prstGeom>
          <a:solidFill>
            <a:srgbClr val="2D82B7"/>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6972300" y="2994660"/>
            <a:ext cx="1234440" cy="123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Retro-</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spective</a:t>
            </a:r>
            <a:endParaRPr b="0" i="0" sz="1050" u="none" cap="none" strike="noStrike">
              <a:solidFill>
                <a:schemeClr val="dk1"/>
              </a:solidFill>
              <a:latin typeface="Calibri"/>
              <a:ea typeface="Calibri"/>
              <a:cs typeface="Calibri"/>
              <a:sym typeface="Calibri"/>
            </a:endParaRPr>
          </a:p>
        </p:txBody>
      </p:sp>
      <p:cxnSp>
        <p:nvCxnSpPr>
          <p:cNvPr id="275" name="Google Shape;275;p10"/>
          <p:cNvCxnSpPr/>
          <p:nvPr/>
        </p:nvCxnSpPr>
        <p:spPr>
          <a:xfrm>
            <a:off x="9646920" y="2468880"/>
            <a:ext cx="731520" cy="640080"/>
          </a:xfrm>
          <a:prstGeom prst="straightConnector1">
            <a:avLst/>
          </a:prstGeom>
          <a:noFill/>
          <a:ln cap="flat" cmpd="sng" w="22225">
            <a:solidFill>
              <a:srgbClr val="5B6B85"/>
            </a:solidFill>
            <a:prstDash val="solid"/>
            <a:round/>
            <a:headEnd len="sm" w="sm" type="none"/>
            <a:tailEnd len="med" w="med" type="triangle"/>
          </a:ln>
        </p:spPr>
      </p:cxnSp>
      <p:cxnSp>
        <p:nvCxnSpPr>
          <p:cNvPr id="276" name="Google Shape;276;p10"/>
          <p:cNvCxnSpPr/>
          <p:nvPr/>
        </p:nvCxnSpPr>
        <p:spPr>
          <a:xfrm flipH="1">
            <a:off x="9646920" y="4114800"/>
            <a:ext cx="731520" cy="640080"/>
          </a:xfrm>
          <a:prstGeom prst="straightConnector1">
            <a:avLst/>
          </a:prstGeom>
          <a:noFill/>
          <a:ln cap="flat" cmpd="sng" w="22225">
            <a:solidFill>
              <a:srgbClr val="5B6B85"/>
            </a:solidFill>
            <a:prstDash val="solid"/>
            <a:round/>
            <a:headEnd len="sm" w="sm" type="none"/>
            <a:tailEnd len="med" w="med" type="triangle"/>
          </a:ln>
        </p:spPr>
      </p:cxnSp>
      <p:cxnSp>
        <p:nvCxnSpPr>
          <p:cNvPr id="277" name="Google Shape;277;p10"/>
          <p:cNvCxnSpPr/>
          <p:nvPr/>
        </p:nvCxnSpPr>
        <p:spPr>
          <a:xfrm rot="10800000">
            <a:off x="7909560" y="4114800"/>
            <a:ext cx="731520" cy="640080"/>
          </a:xfrm>
          <a:prstGeom prst="straightConnector1">
            <a:avLst/>
          </a:prstGeom>
          <a:noFill/>
          <a:ln cap="flat" cmpd="sng" w="22225">
            <a:solidFill>
              <a:srgbClr val="5B6B85"/>
            </a:solidFill>
            <a:prstDash val="solid"/>
            <a:round/>
            <a:headEnd len="sm" w="sm" type="none"/>
            <a:tailEnd len="med" w="med" type="triangle"/>
          </a:ln>
        </p:spPr>
      </p:cxnSp>
      <p:cxnSp>
        <p:nvCxnSpPr>
          <p:cNvPr id="278" name="Google Shape;278;p10"/>
          <p:cNvCxnSpPr/>
          <p:nvPr/>
        </p:nvCxnSpPr>
        <p:spPr>
          <a:xfrm flipH="1" rot="10800000">
            <a:off x="7909560" y="2468880"/>
            <a:ext cx="731520" cy="640080"/>
          </a:xfrm>
          <a:prstGeom prst="straightConnector1">
            <a:avLst/>
          </a:prstGeom>
          <a:noFill/>
          <a:ln cap="flat" cmpd="sng" w="22225">
            <a:solidFill>
              <a:srgbClr val="5B6B85"/>
            </a:solidFill>
            <a:prstDash val="solid"/>
            <a:round/>
            <a:headEnd len="sm" w="sm" type="none"/>
            <a:tailEnd len="med" w="med" type="triangle"/>
          </a:ln>
        </p:spPr>
      </p:cxnSp>
      <p:sp>
        <p:nvSpPr>
          <p:cNvPr id="279" name="Google Shape;279;p10"/>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280" name="Google Shape;280;p10"/>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1"/>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MODERN PROCESS MODELS</a:t>
            </a:r>
            <a:endParaRPr b="0" i="0" sz="1200" u="none" cap="none" strike="noStrike">
              <a:solidFill>
                <a:schemeClr val="dk1"/>
              </a:solidFill>
              <a:latin typeface="Calibri"/>
              <a:ea typeface="Calibri"/>
              <a:cs typeface="Calibri"/>
              <a:sym typeface="Calibri"/>
            </a:endParaRPr>
          </a:p>
        </p:txBody>
      </p:sp>
      <p:sp>
        <p:nvSpPr>
          <p:cNvPr id="287" name="Google Shape;287;p11"/>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DevOps and CI/CD</a:t>
            </a:r>
            <a:endParaRPr b="0" i="0" sz="3200" u="none" cap="none" strike="noStrike">
              <a:solidFill>
                <a:schemeClr val="dk1"/>
              </a:solidFill>
              <a:latin typeface="Calibri"/>
              <a:ea typeface="Calibri"/>
              <a:cs typeface="Calibri"/>
              <a:sym typeface="Calibri"/>
            </a:endParaRPr>
          </a:p>
        </p:txBody>
      </p:sp>
      <p:sp>
        <p:nvSpPr>
          <p:cNvPr id="288" name="Google Shape;288;p11"/>
          <p:cNvSpPr/>
          <p:nvPr/>
        </p:nvSpPr>
        <p:spPr>
          <a:xfrm>
            <a:off x="1645920" y="2331720"/>
            <a:ext cx="2834640" cy="2834640"/>
          </a:xfrm>
          <a:prstGeom prst="ellipse">
            <a:avLst/>
          </a:prstGeom>
          <a:noFill/>
          <a:ln cap="flat" cmpd="sng" w="25400">
            <a:solidFill>
              <a:srgbClr val="C7D0D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2560320" y="3246120"/>
            <a:ext cx="1005840" cy="1005840"/>
          </a:xfrm>
          <a:prstGeom prst="ellipse">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2560320" y="324612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CI / CD</a:t>
            </a:r>
            <a:endParaRPr b="0" i="0" sz="1200" u="none" cap="none" strike="noStrike">
              <a:solidFill>
                <a:schemeClr val="dk1"/>
              </a:solidFill>
              <a:latin typeface="Calibri"/>
              <a:ea typeface="Calibri"/>
              <a:cs typeface="Calibri"/>
              <a:sym typeface="Calibri"/>
            </a:endParaRPr>
          </a:p>
        </p:txBody>
      </p:sp>
      <p:sp>
        <p:nvSpPr>
          <p:cNvPr id="291" name="Google Shape;291;p11"/>
          <p:cNvSpPr/>
          <p:nvPr/>
        </p:nvSpPr>
        <p:spPr>
          <a:xfrm>
            <a:off x="2843784" y="2112264"/>
            <a:ext cx="438912" cy="438912"/>
          </a:xfrm>
          <a:prstGeom prst="ellipse">
            <a:avLst/>
          </a:prstGeom>
          <a:solidFill>
            <a:srgbClr val="2D82B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2560320" y="1636776"/>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Plan</a:t>
            </a:r>
            <a:endParaRPr b="0" i="0" sz="1000" u="none" cap="none" strike="noStrike">
              <a:solidFill>
                <a:schemeClr val="dk1"/>
              </a:solidFill>
              <a:latin typeface="Calibri"/>
              <a:ea typeface="Calibri"/>
              <a:cs typeface="Calibri"/>
              <a:sym typeface="Calibri"/>
            </a:endParaRPr>
          </a:p>
        </p:txBody>
      </p:sp>
      <p:sp>
        <p:nvSpPr>
          <p:cNvPr id="293" name="Google Shape;293;p11"/>
          <p:cNvSpPr/>
          <p:nvPr/>
        </p:nvSpPr>
        <p:spPr>
          <a:xfrm>
            <a:off x="3845981" y="2527387"/>
            <a:ext cx="438912" cy="438912"/>
          </a:xfrm>
          <a:prstGeom prst="ellipse">
            <a:avLst/>
          </a:prstGeom>
          <a:solidFill>
            <a:srgbClr val="2D82B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3950464" y="2212592"/>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Code</a:t>
            </a:r>
            <a:endParaRPr b="0" i="0" sz="1000" u="none" cap="none" strike="noStrike">
              <a:solidFill>
                <a:schemeClr val="dk1"/>
              </a:solidFill>
              <a:latin typeface="Calibri"/>
              <a:ea typeface="Calibri"/>
              <a:cs typeface="Calibri"/>
              <a:sym typeface="Calibri"/>
            </a:endParaRPr>
          </a:p>
        </p:txBody>
      </p:sp>
      <p:sp>
        <p:nvSpPr>
          <p:cNvPr id="295" name="Google Shape;295;p11"/>
          <p:cNvSpPr/>
          <p:nvPr/>
        </p:nvSpPr>
        <p:spPr>
          <a:xfrm>
            <a:off x="4261104" y="3529584"/>
            <a:ext cx="438912" cy="438912"/>
          </a:xfrm>
          <a:prstGeom prst="ellipse">
            <a:avLst/>
          </a:prstGeom>
          <a:solidFill>
            <a:srgbClr val="2D82B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4526280" y="3602736"/>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Build</a:t>
            </a:r>
            <a:endParaRPr b="0" i="0" sz="1000" u="none" cap="none" strike="noStrike">
              <a:solidFill>
                <a:schemeClr val="dk1"/>
              </a:solidFill>
              <a:latin typeface="Calibri"/>
              <a:ea typeface="Calibri"/>
              <a:cs typeface="Calibri"/>
              <a:sym typeface="Calibri"/>
            </a:endParaRPr>
          </a:p>
        </p:txBody>
      </p:sp>
      <p:sp>
        <p:nvSpPr>
          <p:cNvPr id="297" name="Google Shape;297;p11"/>
          <p:cNvSpPr/>
          <p:nvPr/>
        </p:nvSpPr>
        <p:spPr>
          <a:xfrm>
            <a:off x="3845981" y="4531781"/>
            <a:ext cx="438912" cy="438912"/>
          </a:xfrm>
          <a:prstGeom prst="ellipse">
            <a:avLst/>
          </a:prstGeom>
          <a:solidFill>
            <a:srgbClr val="2D82B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3950464" y="4992880"/>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Test</a:t>
            </a:r>
            <a:endParaRPr b="0" i="0" sz="1000" u="none" cap="none" strike="noStrike">
              <a:solidFill>
                <a:schemeClr val="dk1"/>
              </a:solidFill>
              <a:latin typeface="Calibri"/>
              <a:ea typeface="Calibri"/>
              <a:cs typeface="Calibri"/>
              <a:sym typeface="Calibri"/>
            </a:endParaRPr>
          </a:p>
        </p:txBody>
      </p:sp>
      <p:sp>
        <p:nvSpPr>
          <p:cNvPr id="299" name="Google Shape;299;p11"/>
          <p:cNvSpPr/>
          <p:nvPr/>
        </p:nvSpPr>
        <p:spPr>
          <a:xfrm>
            <a:off x="2843784" y="4946904"/>
            <a:ext cx="438912" cy="438912"/>
          </a:xfrm>
          <a:prstGeom prst="ellipse">
            <a:avLst/>
          </a:prstGeom>
          <a:solidFill>
            <a:srgbClr val="F2994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2560320" y="5568696"/>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Release</a:t>
            </a:r>
            <a:endParaRPr b="0" i="0" sz="1000" u="none" cap="none" strike="noStrike">
              <a:solidFill>
                <a:schemeClr val="dk1"/>
              </a:solidFill>
              <a:latin typeface="Calibri"/>
              <a:ea typeface="Calibri"/>
              <a:cs typeface="Calibri"/>
              <a:sym typeface="Calibri"/>
            </a:endParaRPr>
          </a:p>
        </p:txBody>
      </p:sp>
      <p:sp>
        <p:nvSpPr>
          <p:cNvPr id="301" name="Google Shape;301;p11"/>
          <p:cNvSpPr/>
          <p:nvPr/>
        </p:nvSpPr>
        <p:spPr>
          <a:xfrm>
            <a:off x="1841587" y="4531781"/>
            <a:ext cx="438912" cy="438912"/>
          </a:xfrm>
          <a:prstGeom prst="ellipse">
            <a:avLst/>
          </a:prstGeom>
          <a:solidFill>
            <a:srgbClr val="F2994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1170176" y="4992880"/>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Deploy</a:t>
            </a:r>
            <a:endParaRPr b="0" i="0" sz="1000" u="none" cap="none" strike="noStrike">
              <a:solidFill>
                <a:schemeClr val="dk1"/>
              </a:solidFill>
              <a:latin typeface="Calibri"/>
              <a:ea typeface="Calibri"/>
              <a:cs typeface="Calibri"/>
              <a:sym typeface="Calibri"/>
            </a:endParaRPr>
          </a:p>
        </p:txBody>
      </p:sp>
      <p:sp>
        <p:nvSpPr>
          <p:cNvPr id="303" name="Google Shape;303;p11"/>
          <p:cNvSpPr/>
          <p:nvPr/>
        </p:nvSpPr>
        <p:spPr>
          <a:xfrm>
            <a:off x="1426464" y="3529584"/>
            <a:ext cx="438912" cy="438912"/>
          </a:xfrm>
          <a:prstGeom prst="ellipse">
            <a:avLst/>
          </a:prstGeom>
          <a:solidFill>
            <a:srgbClr val="F2994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594360" y="3602736"/>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Operate</a:t>
            </a:r>
            <a:endParaRPr b="0" i="0" sz="1000" u="none" cap="none" strike="noStrike">
              <a:solidFill>
                <a:schemeClr val="dk1"/>
              </a:solidFill>
              <a:latin typeface="Calibri"/>
              <a:ea typeface="Calibri"/>
              <a:cs typeface="Calibri"/>
              <a:sym typeface="Calibri"/>
            </a:endParaRPr>
          </a:p>
        </p:txBody>
      </p:sp>
      <p:sp>
        <p:nvSpPr>
          <p:cNvPr id="305" name="Google Shape;305;p11"/>
          <p:cNvSpPr/>
          <p:nvPr/>
        </p:nvSpPr>
        <p:spPr>
          <a:xfrm>
            <a:off x="1841587" y="2527387"/>
            <a:ext cx="438912" cy="438912"/>
          </a:xfrm>
          <a:prstGeom prst="ellipse">
            <a:avLst/>
          </a:prstGeom>
          <a:solidFill>
            <a:srgbClr val="F2994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1170176" y="2212592"/>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F"/>
              </a:buClr>
              <a:buSzPts val="1000"/>
              <a:buFont typeface="Calibri"/>
              <a:buNone/>
            </a:pPr>
            <a:r>
              <a:rPr b="1" i="0" lang="en-US" sz="1000" u="none" cap="none" strike="noStrike">
                <a:solidFill>
                  <a:srgbClr val="10233F"/>
                </a:solidFill>
                <a:latin typeface="Calibri"/>
                <a:ea typeface="Calibri"/>
                <a:cs typeface="Calibri"/>
                <a:sym typeface="Calibri"/>
              </a:rPr>
              <a:t>Monitor</a:t>
            </a:r>
            <a:endParaRPr b="0" i="0" sz="1000" u="none" cap="none" strike="noStrike">
              <a:solidFill>
                <a:schemeClr val="dk1"/>
              </a:solidFill>
              <a:latin typeface="Calibri"/>
              <a:ea typeface="Calibri"/>
              <a:cs typeface="Calibri"/>
              <a:sym typeface="Calibri"/>
            </a:endParaRPr>
          </a:p>
        </p:txBody>
      </p:sp>
      <p:sp>
        <p:nvSpPr>
          <p:cNvPr id="307" name="Google Shape;307;p11"/>
          <p:cNvSpPr/>
          <p:nvPr/>
        </p:nvSpPr>
        <p:spPr>
          <a:xfrm>
            <a:off x="1325880" y="1645920"/>
            <a:ext cx="914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2B7"/>
              </a:buClr>
              <a:buSzPts val="1100"/>
              <a:buFont typeface="Calibri"/>
              <a:buNone/>
            </a:pPr>
            <a:r>
              <a:rPr b="1" i="0" lang="en-US" sz="1100" u="none" cap="none" strike="noStrike">
                <a:solidFill>
                  <a:srgbClr val="2D82B7"/>
                </a:solidFill>
                <a:latin typeface="Calibri"/>
                <a:ea typeface="Calibri"/>
                <a:cs typeface="Calibri"/>
                <a:sym typeface="Calibri"/>
              </a:rPr>
              <a:t>DEV</a:t>
            </a:r>
            <a:endParaRPr b="0" i="0" sz="1100" u="none" cap="none" strike="noStrike">
              <a:solidFill>
                <a:schemeClr val="dk1"/>
              </a:solidFill>
              <a:latin typeface="Calibri"/>
              <a:ea typeface="Calibri"/>
              <a:cs typeface="Calibri"/>
              <a:sym typeface="Calibri"/>
            </a:endParaRPr>
          </a:p>
        </p:txBody>
      </p:sp>
      <p:sp>
        <p:nvSpPr>
          <p:cNvPr id="308" name="Google Shape;308;p11"/>
          <p:cNvSpPr/>
          <p:nvPr/>
        </p:nvSpPr>
        <p:spPr>
          <a:xfrm>
            <a:off x="3886200" y="5550408"/>
            <a:ext cx="9144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994A"/>
              </a:buClr>
              <a:buSzPts val="1100"/>
              <a:buFont typeface="Calibri"/>
              <a:buNone/>
            </a:pPr>
            <a:r>
              <a:rPr b="1" i="0" lang="en-US" sz="1100" u="none" cap="none" strike="noStrike">
                <a:solidFill>
                  <a:srgbClr val="F2994A"/>
                </a:solidFill>
                <a:latin typeface="Calibri"/>
                <a:ea typeface="Calibri"/>
                <a:cs typeface="Calibri"/>
                <a:sym typeface="Calibri"/>
              </a:rPr>
              <a:t>OPS</a:t>
            </a:r>
            <a:endParaRPr b="0" i="0" sz="1100" u="none" cap="none" strike="noStrike">
              <a:solidFill>
                <a:schemeClr val="dk1"/>
              </a:solidFill>
              <a:latin typeface="Calibri"/>
              <a:ea typeface="Calibri"/>
              <a:cs typeface="Calibri"/>
              <a:sym typeface="Calibri"/>
            </a:endParaRPr>
          </a:p>
        </p:txBody>
      </p:sp>
      <p:sp>
        <p:nvSpPr>
          <p:cNvPr id="309" name="Google Shape;309;p11"/>
          <p:cNvSpPr/>
          <p:nvPr/>
        </p:nvSpPr>
        <p:spPr>
          <a:xfrm>
            <a:off x="6309360" y="1965960"/>
            <a:ext cx="5349240" cy="36576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Unifies development and operations culture</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Automation replaces manual build and release steps</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Continuous Integration: merge and test code frequently</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Continuous Delivery: deploy reliably at any time</a:t>
            </a:r>
            <a:endParaRPr b="0" i="0" sz="1500" u="none" cap="none" strike="noStrike">
              <a:solidFill>
                <a:schemeClr val="dk1"/>
              </a:solidFill>
              <a:latin typeface="Calibri"/>
              <a:ea typeface="Calibri"/>
              <a:cs typeface="Calibri"/>
              <a:sym typeface="Calibri"/>
            </a:endParaRPr>
          </a:p>
          <a:p>
            <a:pPr indent="-228600" lvl="0" marL="228600" marR="0" rtl="0" algn="l">
              <a:spcBef>
                <a:spcPts val="1800"/>
              </a:spcBef>
              <a:spcAft>
                <a:spcPts val="0"/>
              </a:spcAft>
              <a:buClr>
                <a:srgbClr val="212A3B"/>
              </a:buClr>
              <a:buSzPts val="1500"/>
              <a:buFont typeface="Calibri"/>
              <a:buChar char="▪"/>
            </a:pPr>
            <a:r>
              <a:rPr b="0" i="0" lang="en-US" sz="1500" u="none" cap="none" strike="noStrike">
                <a:solidFill>
                  <a:srgbClr val="212A3B"/>
                </a:solidFill>
                <a:latin typeface="Calibri"/>
                <a:ea typeface="Calibri"/>
                <a:cs typeface="Calibri"/>
                <a:sym typeface="Calibri"/>
              </a:rPr>
              <a:t>Example: Netflix deploys thousands of times daily</a:t>
            </a:r>
            <a:endParaRPr b="0" i="0" sz="1500" u="none" cap="none" strike="noStrike">
              <a:solidFill>
                <a:schemeClr val="dk1"/>
              </a:solidFill>
              <a:latin typeface="Calibri"/>
              <a:ea typeface="Calibri"/>
              <a:cs typeface="Calibri"/>
              <a:sym typeface="Calibri"/>
            </a:endParaRPr>
          </a:p>
        </p:txBody>
      </p:sp>
      <p:sp>
        <p:nvSpPr>
          <p:cNvPr id="310" name="Google Shape;310;p11"/>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311" name="Google Shape;311;p11"/>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2"/>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SYNTHESIS</a:t>
            </a:r>
            <a:endParaRPr b="0" i="0" sz="1200" u="none" cap="none" strike="noStrike">
              <a:solidFill>
                <a:schemeClr val="dk1"/>
              </a:solidFill>
              <a:latin typeface="Calibri"/>
              <a:ea typeface="Calibri"/>
              <a:cs typeface="Calibri"/>
              <a:sym typeface="Calibri"/>
            </a:endParaRPr>
          </a:p>
        </p:txBody>
      </p:sp>
      <p:sp>
        <p:nvSpPr>
          <p:cNvPr id="318" name="Google Shape;318;p12"/>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Process Model Comparison</a:t>
            </a:r>
            <a:endParaRPr b="0" i="0" sz="3200" u="none" cap="none" strike="noStrike">
              <a:solidFill>
                <a:schemeClr val="dk1"/>
              </a:solidFill>
              <a:latin typeface="Calibri"/>
              <a:ea typeface="Calibri"/>
              <a:cs typeface="Calibri"/>
              <a:sym typeface="Calibri"/>
            </a:endParaRPr>
          </a:p>
        </p:txBody>
      </p:sp>
      <p:graphicFrame>
        <p:nvGraphicFramePr>
          <p:cNvPr id="319" name="Google Shape;319;p12"/>
          <p:cNvGraphicFramePr/>
          <p:nvPr/>
        </p:nvGraphicFramePr>
        <p:xfrm>
          <a:off x="548640" y="1737360"/>
          <a:ext cx="3000000" cy="3000000"/>
        </p:xfrm>
        <a:graphic>
          <a:graphicData uri="http://schemas.openxmlformats.org/drawingml/2006/table">
            <a:tbl>
              <a:tblPr>
                <a:noFill/>
                <a:tableStyleId>{B1E763DF-59A6-4D72-B765-AAB0D4DB4EBE}</a:tableStyleId>
              </a:tblPr>
              <a:tblGrid>
                <a:gridCol w="2011675"/>
                <a:gridCol w="2267700"/>
                <a:gridCol w="2267700"/>
                <a:gridCol w="2267700"/>
                <a:gridCol w="2276850"/>
              </a:tblGrid>
              <a:tr h="624850">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Model</a:t>
                      </a:r>
                      <a:endParaRPr sz="135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0233F"/>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Flexibility</a:t>
                      </a:r>
                      <a:endParaRPr sz="135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0233F"/>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Risk Handling</a:t>
                      </a:r>
                      <a:endParaRPr sz="135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0233F"/>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Speed</a:t>
                      </a:r>
                      <a:endParaRPr sz="135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0233F"/>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Customer Involvement</a:t>
                      </a:r>
                      <a:endParaRPr sz="135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0233F"/>
                    </a:solidFill>
                  </a:tcPr>
                </a:tc>
              </a:tr>
              <a:tr h="6248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Waterfall</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B3B6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Low</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Low</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Slow</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Minimal</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r>
              <a:tr h="6248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Iterative</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B3B6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Moderate</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r>
              <a:tr h="6248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Spiral</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B3B6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High</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Moderate</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r>
              <a:tr h="6248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Agile</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B3B6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High</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Fast</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High</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EEF2F9"/>
                    </a:solidFill>
                  </a:tcPr>
                </a:tc>
              </a:tr>
              <a:tr h="6248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DevOps</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1B3B6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High</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Medium–High</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Very Fast</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12A3B"/>
                        </a:buClr>
                        <a:buSzPts val="1300"/>
                        <a:buFont typeface="Calibri"/>
                        <a:buNone/>
                      </a:pPr>
                      <a:r>
                        <a:rPr lang="en-US" sz="1300" u="none" cap="none" strike="noStrike">
                          <a:solidFill>
                            <a:srgbClr val="212A3B"/>
                          </a:solidFill>
                          <a:latin typeface="Calibri"/>
                          <a:ea typeface="Calibri"/>
                          <a:cs typeface="Calibri"/>
                          <a:sym typeface="Calibri"/>
                        </a:rPr>
                        <a:t>Continuous</a:t>
                      </a:r>
                      <a:endParaRPr sz="1300" u="none" cap="none" strike="noStrike">
                        <a:latin typeface="Calibri"/>
                        <a:ea typeface="Calibri"/>
                        <a:cs typeface="Calibri"/>
                        <a:sym typeface="Calibri"/>
                      </a:endParaRPr>
                    </a:p>
                  </a:txBody>
                  <a:tcPr marT="50800" marB="50800" marR="76200" marL="76200" anchor="ctr">
                    <a:lnL cap="flat" cmpd="sng" w="9525">
                      <a:solidFill>
                        <a:srgbClr val="DCE3EE"/>
                      </a:solidFill>
                      <a:prstDash val="solid"/>
                      <a:round/>
                      <a:headEnd len="sm" w="sm" type="none"/>
                      <a:tailEnd len="sm" w="sm" type="none"/>
                    </a:lnL>
                    <a:lnR cap="flat" cmpd="sng" w="9525">
                      <a:solidFill>
                        <a:srgbClr val="DCE3EE"/>
                      </a:solidFill>
                      <a:prstDash val="solid"/>
                      <a:round/>
                      <a:headEnd len="sm" w="sm" type="none"/>
                      <a:tailEnd len="sm" w="sm" type="none"/>
                    </a:lnR>
                    <a:lnT cap="flat" cmpd="sng" w="9525">
                      <a:solidFill>
                        <a:srgbClr val="DCE3EE"/>
                      </a:solidFill>
                      <a:prstDash val="solid"/>
                      <a:round/>
                      <a:headEnd len="sm" w="sm" type="none"/>
                      <a:tailEnd len="sm" w="sm" type="none"/>
                    </a:lnT>
                    <a:lnB cap="flat" cmpd="sng" w="9525">
                      <a:solidFill>
                        <a:srgbClr val="DCE3EE"/>
                      </a:solidFill>
                      <a:prstDash val="solid"/>
                      <a:round/>
                      <a:headEnd len="sm" w="sm" type="none"/>
                      <a:tailEnd len="sm" w="sm" type="none"/>
                    </a:lnB>
                    <a:solidFill>
                      <a:srgbClr val="FFFFFF"/>
                    </a:solidFill>
                  </a:tcPr>
                </a:tc>
              </a:tr>
            </a:tbl>
          </a:graphicData>
        </a:graphic>
      </p:graphicFrame>
      <p:sp>
        <p:nvSpPr>
          <p:cNvPr id="320" name="Google Shape;320;p12"/>
          <p:cNvSpPr/>
          <p:nvPr/>
        </p:nvSpPr>
        <p:spPr>
          <a:xfrm>
            <a:off x="548640" y="566928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250"/>
              <a:buFont typeface="Calibri"/>
              <a:buNone/>
            </a:pPr>
            <a:r>
              <a:rPr b="0" i="1" lang="en-US" sz="1250" u="none" cap="none" strike="noStrike">
                <a:solidFill>
                  <a:srgbClr val="5B6B85"/>
                </a:solidFill>
                <a:latin typeface="Calibri"/>
                <a:ea typeface="Calibri"/>
                <a:cs typeface="Calibri"/>
                <a:sym typeface="Calibri"/>
              </a:rPr>
              <a:t>Flexibility and speed generally rise as feedback loops shorten; DevOps sustains both by automating verification.</a:t>
            </a:r>
            <a:endParaRPr b="0" i="0" sz="1250" u="none" cap="none" strike="noStrike">
              <a:solidFill>
                <a:schemeClr val="dk1"/>
              </a:solidFill>
              <a:latin typeface="Calibri"/>
              <a:ea typeface="Calibri"/>
              <a:cs typeface="Calibri"/>
              <a:sym typeface="Calibri"/>
            </a:endParaRPr>
          </a:p>
        </p:txBody>
      </p:sp>
      <p:sp>
        <p:nvSpPr>
          <p:cNvPr id="321" name="Google Shape;321;p12"/>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322" name="Google Shape;322;p12"/>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3"/>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THE AI ERA</a:t>
            </a:r>
            <a:endParaRPr b="0" i="0" sz="1200" u="none" cap="none" strike="noStrike">
              <a:solidFill>
                <a:schemeClr val="dk1"/>
              </a:solidFill>
              <a:latin typeface="Calibri"/>
              <a:ea typeface="Calibri"/>
              <a:cs typeface="Calibri"/>
              <a:sym typeface="Calibri"/>
            </a:endParaRPr>
          </a:p>
        </p:txBody>
      </p:sp>
      <p:sp>
        <p:nvSpPr>
          <p:cNvPr id="329" name="Google Shape;329;p13"/>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AI in Software Engineering</a:t>
            </a:r>
            <a:endParaRPr b="0" i="0" sz="3200" u="none" cap="none" strike="noStrike">
              <a:solidFill>
                <a:schemeClr val="dk1"/>
              </a:solidFill>
              <a:latin typeface="Calibri"/>
              <a:ea typeface="Calibri"/>
              <a:cs typeface="Calibri"/>
              <a:sym typeface="Calibri"/>
            </a:endParaRPr>
          </a:p>
        </p:txBody>
      </p:sp>
      <p:sp>
        <p:nvSpPr>
          <p:cNvPr id="330" name="Google Shape;330;p13"/>
          <p:cNvSpPr/>
          <p:nvPr/>
        </p:nvSpPr>
        <p:spPr>
          <a:xfrm>
            <a:off x="548640" y="1920240"/>
            <a:ext cx="2057400" cy="3566160"/>
          </a:xfrm>
          <a:prstGeom prst="roundRect">
            <a:avLst>
              <a:gd fmla="val 3111"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1284732" y="2212848"/>
            <a:ext cx="585216" cy="585216"/>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robot.png" id="332" name="Google Shape;332;p13"/>
          <p:cNvPicPr preferRelativeResize="0"/>
          <p:nvPr/>
        </p:nvPicPr>
        <p:blipFill rotWithShape="1">
          <a:blip r:embed="rId3">
            <a:alphaModFix/>
          </a:blip>
          <a:srcRect b="0" l="0" r="0" t="0"/>
          <a:stretch/>
        </p:blipFill>
        <p:spPr>
          <a:xfrm>
            <a:off x="1413480" y="2341596"/>
            <a:ext cx="327721" cy="327721"/>
          </a:xfrm>
          <a:prstGeom prst="rect">
            <a:avLst/>
          </a:prstGeom>
          <a:noFill/>
          <a:ln>
            <a:noFill/>
          </a:ln>
        </p:spPr>
      </p:pic>
      <p:sp>
        <p:nvSpPr>
          <p:cNvPr id="333" name="Google Shape;333;p13"/>
          <p:cNvSpPr/>
          <p:nvPr/>
        </p:nvSpPr>
        <p:spPr>
          <a:xfrm>
            <a:off x="658368" y="3017520"/>
            <a:ext cx="1837944" cy="685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300"/>
              <a:buFont typeface="Calibri"/>
              <a:buNone/>
            </a:pPr>
            <a:r>
              <a:rPr b="1" i="0" lang="en-US" sz="1300" u="none" cap="none" strike="noStrike">
                <a:solidFill>
                  <a:srgbClr val="10233F"/>
                </a:solidFill>
                <a:latin typeface="Calibri"/>
                <a:ea typeface="Calibri"/>
                <a:cs typeface="Calibri"/>
                <a:sym typeface="Calibri"/>
              </a:rPr>
              <a:t>Coding Assistants</a:t>
            </a:r>
            <a:endParaRPr b="0" i="0" sz="1300" u="none" cap="none" strike="noStrike">
              <a:solidFill>
                <a:schemeClr val="dk1"/>
              </a:solidFill>
              <a:latin typeface="Calibri"/>
              <a:ea typeface="Calibri"/>
              <a:cs typeface="Calibri"/>
              <a:sym typeface="Calibri"/>
            </a:endParaRPr>
          </a:p>
        </p:txBody>
      </p:sp>
      <p:sp>
        <p:nvSpPr>
          <p:cNvPr id="334" name="Google Shape;334;p13"/>
          <p:cNvSpPr/>
          <p:nvPr/>
        </p:nvSpPr>
        <p:spPr>
          <a:xfrm>
            <a:off x="713232" y="3703320"/>
            <a:ext cx="1728216" cy="1691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GitHub Copilot and Amazon CodeWhisperer suggest code in real time.</a:t>
            </a:r>
            <a:endParaRPr b="0" i="0" sz="1100" u="none" cap="none" strike="noStrike">
              <a:solidFill>
                <a:schemeClr val="dk1"/>
              </a:solidFill>
              <a:latin typeface="Calibri"/>
              <a:ea typeface="Calibri"/>
              <a:cs typeface="Calibri"/>
              <a:sym typeface="Calibri"/>
            </a:endParaRPr>
          </a:p>
        </p:txBody>
      </p:sp>
      <p:sp>
        <p:nvSpPr>
          <p:cNvPr id="335" name="Google Shape;335;p13"/>
          <p:cNvSpPr/>
          <p:nvPr/>
        </p:nvSpPr>
        <p:spPr>
          <a:xfrm>
            <a:off x="2807208" y="1920240"/>
            <a:ext cx="2057400" cy="3566160"/>
          </a:xfrm>
          <a:prstGeom prst="roundRect">
            <a:avLst>
              <a:gd fmla="val 3111"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3543300" y="2212848"/>
            <a:ext cx="585216" cy="585216"/>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vial.png" id="337" name="Google Shape;337;p13"/>
          <p:cNvPicPr preferRelativeResize="0"/>
          <p:nvPr/>
        </p:nvPicPr>
        <p:blipFill rotWithShape="1">
          <a:blip r:embed="rId4">
            <a:alphaModFix/>
          </a:blip>
          <a:srcRect b="0" l="0" r="0" t="0"/>
          <a:stretch/>
        </p:blipFill>
        <p:spPr>
          <a:xfrm>
            <a:off x="3672048" y="2341596"/>
            <a:ext cx="327721" cy="327721"/>
          </a:xfrm>
          <a:prstGeom prst="rect">
            <a:avLst/>
          </a:prstGeom>
          <a:noFill/>
          <a:ln>
            <a:noFill/>
          </a:ln>
        </p:spPr>
      </p:pic>
      <p:sp>
        <p:nvSpPr>
          <p:cNvPr id="338" name="Google Shape;338;p13"/>
          <p:cNvSpPr/>
          <p:nvPr/>
        </p:nvSpPr>
        <p:spPr>
          <a:xfrm>
            <a:off x="2916936" y="3017520"/>
            <a:ext cx="1837944" cy="685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300"/>
              <a:buFont typeface="Calibri"/>
              <a:buNone/>
            </a:pPr>
            <a:r>
              <a:rPr b="1" i="0" lang="en-US" sz="1300" u="none" cap="none" strike="noStrike">
                <a:solidFill>
                  <a:srgbClr val="10233F"/>
                </a:solidFill>
                <a:latin typeface="Calibri"/>
                <a:ea typeface="Calibri"/>
                <a:cs typeface="Calibri"/>
                <a:sym typeface="Calibri"/>
              </a:rPr>
              <a:t>Automated Testing</a:t>
            </a:r>
            <a:endParaRPr b="0" i="0" sz="1300" u="none" cap="none" strike="noStrike">
              <a:solidFill>
                <a:schemeClr val="dk1"/>
              </a:solidFill>
              <a:latin typeface="Calibri"/>
              <a:ea typeface="Calibri"/>
              <a:cs typeface="Calibri"/>
              <a:sym typeface="Calibri"/>
            </a:endParaRPr>
          </a:p>
        </p:txBody>
      </p:sp>
      <p:sp>
        <p:nvSpPr>
          <p:cNvPr id="339" name="Google Shape;339;p13"/>
          <p:cNvSpPr/>
          <p:nvPr/>
        </p:nvSpPr>
        <p:spPr>
          <a:xfrm>
            <a:off x="2971800" y="3703320"/>
            <a:ext cx="1728216" cy="1691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AI generates and prioritizes test cases automatically.</a:t>
            </a:r>
            <a:endParaRPr b="0" i="0" sz="1100" u="none" cap="none" strike="noStrike">
              <a:solidFill>
                <a:schemeClr val="dk1"/>
              </a:solidFill>
              <a:latin typeface="Calibri"/>
              <a:ea typeface="Calibri"/>
              <a:cs typeface="Calibri"/>
              <a:sym typeface="Calibri"/>
            </a:endParaRPr>
          </a:p>
        </p:txBody>
      </p:sp>
      <p:sp>
        <p:nvSpPr>
          <p:cNvPr id="340" name="Google Shape;340;p13"/>
          <p:cNvSpPr/>
          <p:nvPr/>
        </p:nvSpPr>
        <p:spPr>
          <a:xfrm>
            <a:off x="5065776" y="1920240"/>
            <a:ext cx="2057400" cy="3566160"/>
          </a:xfrm>
          <a:prstGeom prst="roundRect">
            <a:avLst>
              <a:gd fmla="val 3111"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a:off x="5801868" y="2212848"/>
            <a:ext cx="585216" cy="585216"/>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file.png" id="342" name="Google Shape;342;p13"/>
          <p:cNvPicPr preferRelativeResize="0"/>
          <p:nvPr/>
        </p:nvPicPr>
        <p:blipFill rotWithShape="1">
          <a:blip r:embed="rId5">
            <a:alphaModFix/>
          </a:blip>
          <a:srcRect b="0" l="0" r="0" t="0"/>
          <a:stretch/>
        </p:blipFill>
        <p:spPr>
          <a:xfrm>
            <a:off x="5930616" y="2341596"/>
            <a:ext cx="327721" cy="327721"/>
          </a:xfrm>
          <a:prstGeom prst="rect">
            <a:avLst/>
          </a:prstGeom>
          <a:noFill/>
          <a:ln>
            <a:noFill/>
          </a:ln>
        </p:spPr>
      </p:pic>
      <p:sp>
        <p:nvSpPr>
          <p:cNvPr id="343" name="Google Shape;343;p13"/>
          <p:cNvSpPr/>
          <p:nvPr/>
        </p:nvSpPr>
        <p:spPr>
          <a:xfrm>
            <a:off x="5175504" y="3017520"/>
            <a:ext cx="1837944" cy="685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300"/>
              <a:buFont typeface="Calibri"/>
              <a:buNone/>
            </a:pPr>
            <a:r>
              <a:rPr b="1" i="0" lang="en-US" sz="1300" u="none" cap="none" strike="noStrike">
                <a:solidFill>
                  <a:srgbClr val="10233F"/>
                </a:solidFill>
                <a:latin typeface="Calibri"/>
                <a:ea typeface="Calibri"/>
                <a:cs typeface="Calibri"/>
                <a:sym typeface="Calibri"/>
              </a:rPr>
              <a:t>Documentation</a:t>
            </a:r>
            <a:endParaRPr b="0" i="0" sz="1300" u="none" cap="none" strike="noStrike">
              <a:solidFill>
                <a:schemeClr val="dk1"/>
              </a:solidFill>
              <a:latin typeface="Calibri"/>
              <a:ea typeface="Calibri"/>
              <a:cs typeface="Calibri"/>
              <a:sym typeface="Calibri"/>
            </a:endParaRPr>
          </a:p>
        </p:txBody>
      </p:sp>
      <p:sp>
        <p:nvSpPr>
          <p:cNvPr id="344" name="Google Shape;344;p13"/>
          <p:cNvSpPr/>
          <p:nvPr/>
        </p:nvSpPr>
        <p:spPr>
          <a:xfrm>
            <a:off x="5230368" y="3703320"/>
            <a:ext cx="1728216" cy="1691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AI drafts technical docs and code comments.</a:t>
            </a:r>
            <a:endParaRPr b="0" i="0" sz="1100" u="none" cap="none" strike="noStrike">
              <a:solidFill>
                <a:schemeClr val="dk1"/>
              </a:solidFill>
              <a:latin typeface="Calibri"/>
              <a:ea typeface="Calibri"/>
              <a:cs typeface="Calibri"/>
              <a:sym typeface="Calibri"/>
            </a:endParaRPr>
          </a:p>
        </p:txBody>
      </p:sp>
      <p:sp>
        <p:nvSpPr>
          <p:cNvPr id="345" name="Google Shape;345;p13"/>
          <p:cNvSpPr/>
          <p:nvPr/>
        </p:nvSpPr>
        <p:spPr>
          <a:xfrm>
            <a:off x="7324344" y="1920240"/>
            <a:ext cx="2057400" cy="3566160"/>
          </a:xfrm>
          <a:prstGeom prst="roundRect">
            <a:avLst>
              <a:gd fmla="val 3111"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8060436" y="2212848"/>
            <a:ext cx="585216" cy="585216"/>
          </a:xfrm>
          <a:prstGeom prst="ellipse">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search.png" id="347" name="Google Shape;347;p13"/>
          <p:cNvPicPr preferRelativeResize="0"/>
          <p:nvPr/>
        </p:nvPicPr>
        <p:blipFill rotWithShape="1">
          <a:blip r:embed="rId6">
            <a:alphaModFix/>
          </a:blip>
          <a:srcRect b="0" l="0" r="0" t="0"/>
          <a:stretch/>
        </p:blipFill>
        <p:spPr>
          <a:xfrm>
            <a:off x="8189184" y="2341596"/>
            <a:ext cx="327721" cy="327721"/>
          </a:xfrm>
          <a:prstGeom prst="rect">
            <a:avLst/>
          </a:prstGeom>
          <a:noFill/>
          <a:ln>
            <a:noFill/>
          </a:ln>
        </p:spPr>
      </p:pic>
      <p:sp>
        <p:nvSpPr>
          <p:cNvPr id="348" name="Google Shape;348;p13"/>
          <p:cNvSpPr/>
          <p:nvPr/>
        </p:nvSpPr>
        <p:spPr>
          <a:xfrm>
            <a:off x="7434072" y="3017520"/>
            <a:ext cx="1837944" cy="685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300"/>
              <a:buFont typeface="Calibri"/>
              <a:buNone/>
            </a:pPr>
            <a:r>
              <a:rPr b="1" i="0" lang="en-US" sz="1300" u="none" cap="none" strike="noStrike">
                <a:solidFill>
                  <a:srgbClr val="10233F"/>
                </a:solidFill>
                <a:latin typeface="Calibri"/>
                <a:ea typeface="Calibri"/>
                <a:cs typeface="Calibri"/>
                <a:sym typeface="Calibri"/>
              </a:rPr>
              <a:t>Requirement Analysis</a:t>
            </a:r>
            <a:endParaRPr b="0" i="0" sz="1300" u="none" cap="none" strike="noStrike">
              <a:solidFill>
                <a:schemeClr val="dk1"/>
              </a:solidFill>
              <a:latin typeface="Calibri"/>
              <a:ea typeface="Calibri"/>
              <a:cs typeface="Calibri"/>
              <a:sym typeface="Calibri"/>
            </a:endParaRPr>
          </a:p>
        </p:txBody>
      </p:sp>
      <p:sp>
        <p:nvSpPr>
          <p:cNvPr id="349" name="Google Shape;349;p13"/>
          <p:cNvSpPr/>
          <p:nvPr/>
        </p:nvSpPr>
        <p:spPr>
          <a:xfrm>
            <a:off x="7488936" y="3703320"/>
            <a:ext cx="1728216" cy="1691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AI clusters and clarifies ambiguous user needs.</a:t>
            </a:r>
            <a:endParaRPr b="0" i="0" sz="1100" u="none" cap="none" strike="noStrike">
              <a:solidFill>
                <a:schemeClr val="dk1"/>
              </a:solidFill>
              <a:latin typeface="Calibri"/>
              <a:ea typeface="Calibri"/>
              <a:cs typeface="Calibri"/>
              <a:sym typeface="Calibri"/>
            </a:endParaRPr>
          </a:p>
        </p:txBody>
      </p:sp>
      <p:sp>
        <p:nvSpPr>
          <p:cNvPr id="350" name="Google Shape;350;p13"/>
          <p:cNvSpPr/>
          <p:nvPr/>
        </p:nvSpPr>
        <p:spPr>
          <a:xfrm>
            <a:off x="9582912" y="1920240"/>
            <a:ext cx="2057400" cy="3566160"/>
          </a:xfrm>
          <a:prstGeom prst="roundRect">
            <a:avLst>
              <a:gd fmla="val 3111" name="adj"/>
            </a:avLst>
          </a:prstGeom>
          <a:solidFill>
            <a:srgbClr val="FFFFFF"/>
          </a:solidFill>
          <a:ln cap="flat" cmpd="sng" w="12700">
            <a:solidFill>
              <a:srgbClr val="DC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10319004" y="2212848"/>
            <a:ext cx="585216" cy="585216"/>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usercheck.png" id="352" name="Google Shape;352;p13"/>
          <p:cNvPicPr preferRelativeResize="0"/>
          <p:nvPr/>
        </p:nvPicPr>
        <p:blipFill rotWithShape="1">
          <a:blip r:embed="rId7">
            <a:alphaModFix/>
          </a:blip>
          <a:srcRect b="0" l="0" r="0" t="0"/>
          <a:stretch/>
        </p:blipFill>
        <p:spPr>
          <a:xfrm>
            <a:off x="10447752" y="2341596"/>
            <a:ext cx="327721" cy="327721"/>
          </a:xfrm>
          <a:prstGeom prst="rect">
            <a:avLst/>
          </a:prstGeom>
          <a:noFill/>
          <a:ln>
            <a:noFill/>
          </a:ln>
        </p:spPr>
      </p:pic>
      <p:sp>
        <p:nvSpPr>
          <p:cNvPr id="353" name="Google Shape;353;p13"/>
          <p:cNvSpPr/>
          <p:nvPr/>
        </p:nvSpPr>
        <p:spPr>
          <a:xfrm>
            <a:off x="9692640" y="3017520"/>
            <a:ext cx="1837944" cy="685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0233F"/>
              </a:buClr>
              <a:buSzPts val="1300"/>
              <a:buFont typeface="Calibri"/>
              <a:buNone/>
            </a:pPr>
            <a:r>
              <a:rPr b="1" i="0" lang="en-US" sz="1300" u="none" cap="none" strike="noStrike">
                <a:solidFill>
                  <a:srgbClr val="10233F"/>
                </a:solidFill>
                <a:latin typeface="Calibri"/>
                <a:ea typeface="Calibri"/>
                <a:cs typeface="Calibri"/>
                <a:sym typeface="Calibri"/>
              </a:rPr>
              <a:t>Human Oversight</a:t>
            </a:r>
            <a:endParaRPr b="0" i="0" sz="1300" u="none" cap="none" strike="noStrike">
              <a:solidFill>
                <a:schemeClr val="dk1"/>
              </a:solidFill>
              <a:latin typeface="Calibri"/>
              <a:ea typeface="Calibri"/>
              <a:cs typeface="Calibri"/>
              <a:sym typeface="Calibri"/>
            </a:endParaRPr>
          </a:p>
        </p:txBody>
      </p:sp>
      <p:sp>
        <p:nvSpPr>
          <p:cNvPr id="354" name="Google Shape;354;p13"/>
          <p:cNvSpPr/>
          <p:nvPr/>
        </p:nvSpPr>
        <p:spPr>
          <a:xfrm>
            <a:off x="9747504" y="3703320"/>
            <a:ext cx="1728216" cy="1691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Engineers remain essential for critical decisions.</a:t>
            </a:r>
            <a:endParaRPr b="0" i="0" sz="1100" u="none" cap="none" strike="noStrike">
              <a:solidFill>
                <a:schemeClr val="dk1"/>
              </a:solidFill>
              <a:latin typeface="Calibri"/>
              <a:ea typeface="Calibri"/>
              <a:cs typeface="Calibri"/>
              <a:sym typeface="Calibri"/>
            </a:endParaRPr>
          </a:p>
        </p:txBody>
      </p:sp>
      <p:sp>
        <p:nvSpPr>
          <p:cNvPr id="355" name="Google Shape;355;p13"/>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356" name="Google Shape;356;p13"/>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4"/>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LOOKING AHEAD · 2026–2035</a:t>
            </a:r>
            <a:endParaRPr b="0" i="0" sz="1200" u="none" cap="none" strike="noStrike">
              <a:solidFill>
                <a:schemeClr val="dk1"/>
              </a:solidFill>
              <a:latin typeface="Calibri"/>
              <a:ea typeface="Calibri"/>
              <a:cs typeface="Calibri"/>
              <a:sym typeface="Calibri"/>
            </a:endParaRPr>
          </a:p>
        </p:txBody>
      </p:sp>
      <p:sp>
        <p:nvSpPr>
          <p:cNvPr id="363" name="Google Shape;363;p14"/>
          <p:cNvSpPr/>
          <p:nvPr/>
        </p:nvSpPr>
        <p:spPr>
          <a:xfrm>
            <a:off x="548640" y="658368"/>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F"/>
              </a:buClr>
              <a:buSzPts val="3200"/>
              <a:buFont typeface="Cambria"/>
              <a:buNone/>
            </a:pPr>
            <a:r>
              <a:rPr b="1" i="0" lang="en-US" sz="3200" u="none" cap="none" strike="noStrike">
                <a:solidFill>
                  <a:srgbClr val="10233F"/>
                </a:solidFill>
                <a:latin typeface="Cambria"/>
                <a:ea typeface="Cambria"/>
                <a:cs typeface="Cambria"/>
                <a:sym typeface="Cambria"/>
              </a:rPr>
              <a:t>Future Trends in Software Engineering</a:t>
            </a:r>
            <a:endParaRPr b="0" i="0" sz="3200" u="none" cap="none" strike="noStrike">
              <a:solidFill>
                <a:schemeClr val="dk1"/>
              </a:solidFill>
              <a:latin typeface="Calibri"/>
              <a:ea typeface="Calibri"/>
              <a:cs typeface="Calibri"/>
              <a:sym typeface="Calibri"/>
            </a:endParaRPr>
          </a:p>
        </p:txBody>
      </p:sp>
      <p:sp>
        <p:nvSpPr>
          <p:cNvPr id="364" name="Google Shape;364;p14"/>
          <p:cNvSpPr/>
          <p:nvPr/>
        </p:nvSpPr>
        <p:spPr>
          <a:xfrm>
            <a:off x="548640" y="1828800"/>
            <a:ext cx="3337560" cy="1783080"/>
          </a:xfrm>
          <a:prstGeom prst="roundRect">
            <a:avLst>
              <a:gd fmla="val 3590" name="adj"/>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777240" y="2057400"/>
            <a:ext cx="566928" cy="566928"/>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brain.png" id="366" name="Google Shape;366;p14"/>
          <p:cNvPicPr preferRelativeResize="0"/>
          <p:nvPr/>
        </p:nvPicPr>
        <p:blipFill rotWithShape="1">
          <a:blip r:embed="rId3">
            <a:alphaModFix/>
          </a:blip>
          <a:srcRect b="0" l="0" r="0" t="0"/>
          <a:stretch/>
        </p:blipFill>
        <p:spPr>
          <a:xfrm>
            <a:off x="901964" y="2182124"/>
            <a:ext cx="317480" cy="317480"/>
          </a:xfrm>
          <a:prstGeom prst="rect">
            <a:avLst/>
          </a:prstGeom>
          <a:noFill/>
          <a:ln>
            <a:noFill/>
          </a:ln>
        </p:spPr>
      </p:pic>
      <p:sp>
        <p:nvSpPr>
          <p:cNvPr id="367" name="Google Shape;367;p14"/>
          <p:cNvSpPr/>
          <p:nvPr/>
        </p:nvSpPr>
        <p:spPr>
          <a:xfrm>
            <a:off x="1508760" y="1993392"/>
            <a:ext cx="2194560"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AI-Native</a:t>
            </a:r>
            <a:endParaRPr b="0" i="0" sz="13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Software Engineering</a:t>
            </a:r>
            <a:endParaRPr b="0" i="0" sz="1350" u="none" cap="none" strike="noStrike">
              <a:solidFill>
                <a:schemeClr val="dk1"/>
              </a:solidFill>
              <a:latin typeface="Calibri"/>
              <a:ea typeface="Calibri"/>
              <a:cs typeface="Calibri"/>
              <a:sym typeface="Calibri"/>
            </a:endParaRPr>
          </a:p>
        </p:txBody>
      </p:sp>
      <p:sp>
        <p:nvSpPr>
          <p:cNvPr id="368" name="Google Shape;368;p14"/>
          <p:cNvSpPr/>
          <p:nvPr/>
        </p:nvSpPr>
        <p:spPr>
          <a:xfrm>
            <a:off x="777240" y="2788920"/>
            <a:ext cx="2880360"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7D3E8"/>
              </a:buClr>
              <a:buSzPts val="1100"/>
              <a:buFont typeface="Calibri"/>
              <a:buNone/>
            </a:pPr>
            <a:r>
              <a:rPr b="0" i="0" lang="en-US" sz="1100" u="none" cap="none" strike="noStrike">
                <a:solidFill>
                  <a:srgbClr val="C7D3E8"/>
                </a:solidFill>
                <a:latin typeface="Calibri"/>
                <a:ea typeface="Calibri"/>
                <a:cs typeface="Calibri"/>
                <a:sym typeface="Calibri"/>
              </a:rPr>
              <a:t>AI embedded directly into daily workflows.</a:t>
            </a:r>
            <a:endParaRPr b="0" i="0" sz="1100" u="none" cap="none" strike="noStrike">
              <a:solidFill>
                <a:schemeClr val="dk1"/>
              </a:solidFill>
              <a:latin typeface="Calibri"/>
              <a:ea typeface="Calibri"/>
              <a:cs typeface="Calibri"/>
              <a:sym typeface="Calibri"/>
            </a:endParaRPr>
          </a:p>
        </p:txBody>
      </p:sp>
      <p:sp>
        <p:nvSpPr>
          <p:cNvPr id="369" name="Google Shape;369;p14"/>
          <p:cNvSpPr/>
          <p:nvPr/>
        </p:nvSpPr>
        <p:spPr>
          <a:xfrm>
            <a:off x="4105656" y="1828800"/>
            <a:ext cx="3337560" cy="1783080"/>
          </a:xfrm>
          <a:prstGeom prst="roundRect">
            <a:avLst>
              <a:gd fmla="val 3590"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
          <p:cNvSpPr/>
          <p:nvPr/>
        </p:nvSpPr>
        <p:spPr>
          <a:xfrm>
            <a:off x="4334256" y="2057400"/>
            <a:ext cx="566928" cy="566928"/>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network.png" id="371" name="Google Shape;371;p14"/>
          <p:cNvPicPr preferRelativeResize="0"/>
          <p:nvPr/>
        </p:nvPicPr>
        <p:blipFill rotWithShape="1">
          <a:blip r:embed="rId4">
            <a:alphaModFix/>
          </a:blip>
          <a:srcRect b="0" l="0" r="0" t="0"/>
          <a:stretch/>
        </p:blipFill>
        <p:spPr>
          <a:xfrm>
            <a:off x="4458980" y="2182124"/>
            <a:ext cx="317480" cy="317480"/>
          </a:xfrm>
          <a:prstGeom prst="rect">
            <a:avLst/>
          </a:prstGeom>
          <a:noFill/>
          <a:ln>
            <a:noFill/>
          </a:ln>
        </p:spPr>
      </p:pic>
      <p:sp>
        <p:nvSpPr>
          <p:cNvPr id="372" name="Google Shape;372;p14"/>
          <p:cNvSpPr/>
          <p:nvPr/>
        </p:nvSpPr>
        <p:spPr>
          <a:xfrm>
            <a:off x="5065776" y="1993392"/>
            <a:ext cx="2194560"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Agentic AI</a:t>
            </a:r>
            <a:endParaRPr b="0" i="0" sz="1350" u="none" cap="none" strike="noStrike">
              <a:solidFill>
                <a:schemeClr val="dk1"/>
              </a:solidFill>
              <a:latin typeface="Calibri"/>
              <a:ea typeface="Calibri"/>
              <a:cs typeface="Calibri"/>
              <a:sym typeface="Calibri"/>
            </a:endParaRPr>
          </a:p>
        </p:txBody>
      </p:sp>
      <p:sp>
        <p:nvSpPr>
          <p:cNvPr id="373" name="Google Shape;373;p14"/>
          <p:cNvSpPr/>
          <p:nvPr/>
        </p:nvSpPr>
        <p:spPr>
          <a:xfrm>
            <a:off x="4334256" y="2788920"/>
            <a:ext cx="2880360"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7D3E8"/>
              </a:buClr>
              <a:buSzPts val="1100"/>
              <a:buFont typeface="Calibri"/>
              <a:buNone/>
            </a:pPr>
            <a:r>
              <a:rPr b="0" i="0" lang="en-US" sz="1100" u="none" cap="none" strike="noStrike">
                <a:solidFill>
                  <a:srgbClr val="C7D3E8"/>
                </a:solidFill>
                <a:latin typeface="Calibri"/>
                <a:ea typeface="Calibri"/>
                <a:cs typeface="Calibri"/>
                <a:sym typeface="Calibri"/>
              </a:rPr>
              <a:t>Autonomous agents complete multi-step coding tasks.</a:t>
            </a:r>
            <a:endParaRPr b="0" i="0" sz="1100" u="none" cap="none" strike="noStrike">
              <a:solidFill>
                <a:schemeClr val="dk1"/>
              </a:solidFill>
              <a:latin typeface="Calibri"/>
              <a:ea typeface="Calibri"/>
              <a:cs typeface="Calibri"/>
              <a:sym typeface="Calibri"/>
            </a:endParaRPr>
          </a:p>
        </p:txBody>
      </p:sp>
      <p:sp>
        <p:nvSpPr>
          <p:cNvPr id="374" name="Google Shape;374;p14"/>
          <p:cNvSpPr/>
          <p:nvPr/>
        </p:nvSpPr>
        <p:spPr>
          <a:xfrm>
            <a:off x="7662672" y="1828800"/>
            <a:ext cx="3337560" cy="1783080"/>
          </a:xfrm>
          <a:prstGeom prst="roundRect">
            <a:avLst>
              <a:gd fmla="val 3590" name="adj"/>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7891272" y="2057400"/>
            <a:ext cx="566928" cy="566928"/>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layers.png" id="376" name="Google Shape;376;p14"/>
          <p:cNvPicPr preferRelativeResize="0"/>
          <p:nvPr/>
        </p:nvPicPr>
        <p:blipFill rotWithShape="1">
          <a:blip r:embed="rId5">
            <a:alphaModFix/>
          </a:blip>
          <a:srcRect b="0" l="0" r="0" t="0"/>
          <a:stretch/>
        </p:blipFill>
        <p:spPr>
          <a:xfrm>
            <a:off x="8015996" y="2182124"/>
            <a:ext cx="317480" cy="317480"/>
          </a:xfrm>
          <a:prstGeom prst="rect">
            <a:avLst/>
          </a:prstGeom>
          <a:noFill/>
          <a:ln>
            <a:noFill/>
          </a:ln>
        </p:spPr>
      </p:pic>
      <p:sp>
        <p:nvSpPr>
          <p:cNvPr id="377" name="Google Shape;377;p14"/>
          <p:cNvSpPr/>
          <p:nvPr/>
        </p:nvSpPr>
        <p:spPr>
          <a:xfrm>
            <a:off x="8622792" y="1993392"/>
            <a:ext cx="2194560"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Platform</a:t>
            </a:r>
            <a:endParaRPr b="0" i="0" sz="13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Engineering</a:t>
            </a:r>
            <a:endParaRPr b="0" i="0" sz="1350" u="none" cap="none" strike="noStrike">
              <a:solidFill>
                <a:schemeClr val="dk1"/>
              </a:solidFill>
              <a:latin typeface="Calibri"/>
              <a:ea typeface="Calibri"/>
              <a:cs typeface="Calibri"/>
              <a:sym typeface="Calibri"/>
            </a:endParaRPr>
          </a:p>
        </p:txBody>
      </p:sp>
      <p:sp>
        <p:nvSpPr>
          <p:cNvPr id="378" name="Google Shape;378;p14"/>
          <p:cNvSpPr/>
          <p:nvPr/>
        </p:nvSpPr>
        <p:spPr>
          <a:xfrm>
            <a:off x="7891272" y="2788920"/>
            <a:ext cx="2880360"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7D3E8"/>
              </a:buClr>
              <a:buSzPts val="1100"/>
              <a:buFont typeface="Calibri"/>
              <a:buNone/>
            </a:pPr>
            <a:r>
              <a:rPr b="0" i="0" lang="en-US" sz="1100" u="none" cap="none" strike="noStrike">
                <a:solidFill>
                  <a:srgbClr val="C7D3E8"/>
                </a:solidFill>
                <a:latin typeface="Calibri"/>
                <a:ea typeface="Calibri"/>
                <a:cs typeface="Calibri"/>
                <a:sym typeface="Calibri"/>
              </a:rPr>
              <a:t>Internal developer platforms accelerate delivery.</a:t>
            </a:r>
            <a:endParaRPr b="0" i="0" sz="1100" u="none" cap="none" strike="noStrike">
              <a:solidFill>
                <a:schemeClr val="dk1"/>
              </a:solidFill>
              <a:latin typeface="Calibri"/>
              <a:ea typeface="Calibri"/>
              <a:cs typeface="Calibri"/>
              <a:sym typeface="Calibri"/>
            </a:endParaRPr>
          </a:p>
        </p:txBody>
      </p:sp>
      <p:sp>
        <p:nvSpPr>
          <p:cNvPr id="379" name="Google Shape;379;p14"/>
          <p:cNvSpPr/>
          <p:nvPr/>
        </p:nvSpPr>
        <p:spPr>
          <a:xfrm>
            <a:off x="2327148" y="3886200"/>
            <a:ext cx="3337560" cy="1783080"/>
          </a:xfrm>
          <a:prstGeom prst="roundRect">
            <a:avLst>
              <a:gd fmla="val 3590" name="adj"/>
            </a:avLst>
          </a:prstGeom>
          <a:solidFill>
            <a:srgbClr val="1B3B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2555748" y="4114800"/>
            <a:ext cx="566928" cy="566928"/>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cloud.png" id="381" name="Google Shape;381;p14"/>
          <p:cNvPicPr preferRelativeResize="0"/>
          <p:nvPr/>
        </p:nvPicPr>
        <p:blipFill rotWithShape="1">
          <a:blip r:embed="rId6">
            <a:alphaModFix/>
          </a:blip>
          <a:srcRect b="0" l="0" r="0" t="0"/>
          <a:stretch/>
        </p:blipFill>
        <p:spPr>
          <a:xfrm>
            <a:off x="2680472" y="4239524"/>
            <a:ext cx="317480" cy="317480"/>
          </a:xfrm>
          <a:prstGeom prst="rect">
            <a:avLst/>
          </a:prstGeom>
          <a:noFill/>
          <a:ln>
            <a:noFill/>
          </a:ln>
        </p:spPr>
      </p:pic>
      <p:sp>
        <p:nvSpPr>
          <p:cNvPr id="382" name="Google Shape;382;p14"/>
          <p:cNvSpPr/>
          <p:nvPr/>
        </p:nvSpPr>
        <p:spPr>
          <a:xfrm>
            <a:off x="3287268" y="4050792"/>
            <a:ext cx="2194560"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Cloud-Native</a:t>
            </a:r>
            <a:endParaRPr b="0" i="0" sz="13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Development</a:t>
            </a:r>
            <a:endParaRPr b="0" i="0" sz="1350" u="none" cap="none" strike="noStrike">
              <a:solidFill>
                <a:schemeClr val="dk1"/>
              </a:solidFill>
              <a:latin typeface="Calibri"/>
              <a:ea typeface="Calibri"/>
              <a:cs typeface="Calibri"/>
              <a:sym typeface="Calibri"/>
            </a:endParaRPr>
          </a:p>
        </p:txBody>
      </p:sp>
      <p:sp>
        <p:nvSpPr>
          <p:cNvPr id="383" name="Google Shape;383;p14"/>
          <p:cNvSpPr/>
          <p:nvPr/>
        </p:nvSpPr>
        <p:spPr>
          <a:xfrm>
            <a:off x="2555748" y="4846320"/>
            <a:ext cx="2880360"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7D3E8"/>
              </a:buClr>
              <a:buSzPts val="1100"/>
              <a:buFont typeface="Calibri"/>
              <a:buNone/>
            </a:pPr>
            <a:r>
              <a:rPr b="0" i="0" lang="en-US" sz="1100" u="none" cap="none" strike="noStrike">
                <a:solidFill>
                  <a:srgbClr val="C7D3E8"/>
                </a:solidFill>
                <a:latin typeface="Calibri"/>
                <a:ea typeface="Calibri"/>
                <a:cs typeface="Calibri"/>
                <a:sym typeface="Calibri"/>
              </a:rPr>
              <a:t>Scalable, containerized, serverless architectures.</a:t>
            </a:r>
            <a:endParaRPr b="0" i="0" sz="1100" u="none" cap="none" strike="noStrike">
              <a:solidFill>
                <a:schemeClr val="dk1"/>
              </a:solidFill>
              <a:latin typeface="Calibri"/>
              <a:ea typeface="Calibri"/>
              <a:cs typeface="Calibri"/>
              <a:sym typeface="Calibri"/>
            </a:endParaRPr>
          </a:p>
        </p:txBody>
      </p:sp>
      <p:sp>
        <p:nvSpPr>
          <p:cNvPr id="384" name="Google Shape;384;p14"/>
          <p:cNvSpPr/>
          <p:nvPr/>
        </p:nvSpPr>
        <p:spPr>
          <a:xfrm>
            <a:off x="5884164" y="3886200"/>
            <a:ext cx="3337560" cy="1783080"/>
          </a:xfrm>
          <a:prstGeom prst="roundRect">
            <a:avLst>
              <a:gd fmla="val 3590" name="adj"/>
            </a:avLst>
          </a:prstGeom>
          <a:solidFill>
            <a:srgbClr val="10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6112764" y="4114800"/>
            <a:ext cx="566928" cy="566928"/>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leaf.png" id="386" name="Google Shape;386;p14"/>
          <p:cNvPicPr preferRelativeResize="0"/>
          <p:nvPr/>
        </p:nvPicPr>
        <p:blipFill rotWithShape="1">
          <a:blip r:embed="rId7">
            <a:alphaModFix/>
          </a:blip>
          <a:srcRect b="0" l="0" r="0" t="0"/>
          <a:stretch/>
        </p:blipFill>
        <p:spPr>
          <a:xfrm>
            <a:off x="6237488" y="4239524"/>
            <a:ext cx="317480" cy="317480"/>
          </a:xfrm>
          <a:prstGeom prst="rect">
            <a:avLst/>
          </a:prstGeom>
          <a:noFill/>
          <a:ln>
            <a:noFill/>
          </a:ln>
        </p:spPr>
      </p:pic>
      <p:sp>
        <p:nvSpPr>
          <p:cNvPr id="387" name="Google Shape;387;p14"/>
          <p:cNvSpPr/>
          <p:nvPr/>
        </p:nvSpPr>
        <p:spPr>
          <a:xfrm>
            <a:off x="6844284" y="4050792"/>
            <a:ext cx="2194560"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Green Software</a:t>
            </a:r>
            <a:endParaRPr b="0" i="0" sz="13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Engineering</a:t>
            </a:r>
            <a:endParaRPr b="0" i="0" sz="1350" u="none" cap="none" strike="noStrike">
              <a:solidFill>
                <a:schemeClr val="dk1"/>
              </a:solidFill>
              <a:latin typeface="Calibri"/>
              <a:ea typeface="Calibri"/>
              <a:cs typeface="Calibri"/>
              <a:sym typeface="Calibri"/>
            </a:endParaRPr>
          </a:p>
        </p:txBody>
      </p:sp>
      <p:sp>
        <p:nvSpPr>
          <p:cNvPr id="388" name="Google Shape;388;p14"/>
          <p:cNvSpPr/>
          <p:nvPr/>
        </p:nvSpPr>
        <p:spPr>
          <a:xfrm>
            <a:off x="6112764" y="4846320"/>
            <a:ext cx="2880360"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7D3E8"/>
              </a:buClr>
              <a:buSzPts val="1100"/>
              <a:buFont typeface="Calibri"/>
              <a:buNone/>
            </a:pPr>
            <a:r>
              <a:rPr b="0" i="0" lang="en-US" sz="1100" u="none" cap="none" strike="noStrike">
                <a:solidFill>
                  <a:srgbClr val="C7D3E8"/>
                </a:solidFill>
                <a:latin typeface="Calibri"/>
                <a:ea typeface="Calibri"/>
                <a:cs typeface="Calibri"/>
                <a:sym typeface="Calibri"/>
              </a:rPr>
              <a:t>Energy-efficient, sustainable code design.</a:t>
            </a:r>
            <a:endParaRPr b="0" i="0" sz="1100" u="none" cap="none" strike="noStrike">
              <a:solidFill>
                <a:schemeClr val="dk1"/>
              </a:solidFill>
              <a:latin typeface="Calibri"/>
              <a:ea typeface="Calibri"/>
              <a:cs typeface="Calibri"/>
              <a:sym typeface="Calibri"/>
            </a:endParaRPr>
          </a:p>
        </p:txBody>
      </p:sp>
      <p:sp>
        <p:nvSpPr>
          <p:cNvPr id="389" name="Google Shape;389;p14"/>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390" name="Google Shape;390;p14"/>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33F"/>
        </a:solidFill>
      </p:bgPr>
    </p:bg>
    <p:spTree>
      <p:nvGrpSpPr>
        <p:cNvPr id="395" name="Shape 395"/>
        <p:cNvGrpSpPr/>
        <p:nvPr/>
      </p:nvGrpSpPr>
      <p:grpSpPr>
        <a:xfrm>
          <a:off x="0" y="0"/>
          <a:ext cx="0" cy="0"/>
          <a:chOff x="0" y="0"/>
          <a:chExt cx="0" cy="0"/>
        </a:xfrm>
      </p:grpSpPr>
      <p:sp>
        <p:nvSpPr>
          <p:cNvPr id="396" name="Google Shape;396;p15"/>
          <p:cNvSpPr/>
          <p:nvPr/>
        </p:nvSpPr>
        <p:spPr>
          <a:xfrm>
            <a:off x="548640" y="384048"/>
            <a:ext cx="9144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APPLY WHAT YOU LEARNED</a:t>
            </a:r>
            <a:endParaRPr b="0" i="0" sz="1200" u="none" cap="none" strike="noStrike">
              <a:solidFill>
                <a:schemeClr val="dk1"/>
              </a:solidFill>
              <a:latin typeface="Calibri"/>
              <a:ea typeface="Calibri"/>
              <a:cs typeface="Calibri"/>
              <a:sym typeface="Calibri"/>
            </a:endParaRPr>
          </a:p>
        </p:txBody>
      </p:sp>
      <p:sp>
        <p:nvSpPr>
          <p:cNvPr id="397" name="Google Shape;397;p1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Case Study &amp; Discussion</a:t>
            </a:r>
            <a:endParaRPr b="0" i="0" sz="3000" u="none" cap="none" strike="noStrike">
              <a:solidFill>
                <a:schemeClr val="dk1"/>
              </a:solidFill>
              <a:latin typeface="Calibri"/>
              <a:ea typeface="Calibri"/>
              <a:cs typeface="Calibri"/>
              <a:sym typeface="Calibri"/>
            </a:endParaRPr>
          </a:p>
        </p:txBody>
      </p:sp>
      <p:sp>
        <p:nvSpPr>
          <p:cNvPr id="398" name="Google Shape;398;p15"/>
          <p:cNvSpPr/>
          <p:nvPr/>
        </p:nvSpPr>
        <p:spPr>
          <a:xfrm>
            <a:off x="548640" y="1417320"/>
            <a:ext cx="11091672" cy="777240"/>
          </a:xfrm>
          <a:prstGeom prst="roundRect">
            <a:avLst>
              <a:gd fmla="val 8235" name="adj"/>
            </a:avLst>
          </a:prstGeom>
          <a:solidFill>
            <a:srgbClr val="16305A"/>
          </a:solidFill>
          <a:ln cap="flat" cmpd="sng" w="12700">
            <a:solidFill>
              <a:srgbClr val="2A4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749808" y="1536192"/>
            <a:ext cx="530352" cy="530352"/>
          </a:xfrm>
          <a:prstGeom prst="ellipse">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dlc_deck/icons/university.png" id="400" name="Google Shape;400;p15"/>
          <p:cNvPicPr preferRelativeResize="0"/>
          <p:nvPr/>
        </p:nvPicPr>
        <p:blipFill rotWithShape="1">
          <a:blip r:embed="rId3">
            <a:alphaModFix/>
          </a:blip>
          <a:srcRect b="0" l="0" r="0" t="0"/>
          <a:stretch/>
        </p:blipFill>
        <p:spPr>
          <a:xfrm>
            <a:off x="866485" y="1652869"/>
            <a:ext cx="296997" cy="296997"/>
          </a:xfrm>
          <a:prstGeom prst="rect">
            <a:avLst/>
          </a:prstGeom>
          <a:noFill/>
          <a:ln>
            <a:noFill/>
          </a:ln>
        </p:spPr>
      </p:pic>
      <p:sp>
        <p:nvSpPr>
          <p:cNvPr id="401" name="Google Shape;401;p15"/>
          <p:cNvSpPr/>
          <p:nvPr/>
        </p:nvSpPr>
        <p:spPr>
          <a:xfrm>
            <a:off x="1463040" y="1417320"/>
            <a:ext cx="9966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400"/>
              <a:buFont typeface="Calibri"/>
              <a:buNone/>
            </a:pPr>
            <a:r>
              <a:rPr b="1" i="0" lang="en-US" sz="1400" u="none" cap="none" strike="noStrike">
                <a:solidFill>
                  <a:srgbClr val="F2994A"/>
                </a:solidFill>
                <a:latin typeface="Calibri"/>
                <a:ea typeface="Calibri"/>
                <a:cs typeface="Calibri"/>
                <a:sym typeface="Calibri"/>
              </a:rPr>
              <a:t>Case: </a:t>
            </a:r>
            <a:r>
              <a:rPr b="0" i="0" lang="en-US" sz="1400" u="none" cap="none" strike="noStrike">
                <a:solidFill>
                  <a:srgbClr val="FFFFFF"/>
                </a:solidFill>
                <a:latin typeface="Calibri"/>
                <a:ea typeface="Calibri"/>
                <a:cs typeface="Calibri"/>
                <a:sym typeface="Calibri"/>
              </a:rPr>
              <a:t>A University Academic Information System (student registration &amp; grading platform)</a:t>
            </a:r>
            <a:endParaRPr b="0" i="0" sz="1400" u="none" cap="none" strike="noStrike">
              <a:solidFill>
                <a:schemeClr val="dk1"/>
              </a:solidFill>
              <a:latin typeface="Calibri"/>
              <a:ea typeface="Calibri"/>
              <a:cs typeface="Calibri"/>
              <a:sym typeface="Calibri"/>
            </a:endParaRPr>
          </a:p>
        </p:txBody>
      </p:sp>
      <p:sp>
        <p:nvSpPr>
          <p:cNvPr id="402" name="Google Shape;402;p15"/>
          <p:cNvSpPr/>
          <p:nvPr/>
        </p:nvSpPr>
        <p:spPr>
          <a:xfrm>
            <a:off x="548640" y="2423160"/>
            <a:ext cx="5486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THREE LENSES ON ONE SYSTEM</a:t>
            </a:r>
            <a:endParaRPr b="0" i="0" sz="1200" u="none" cap="none" strike="noStrike">
              <a:solidFill>
                <a:schemeClr val="dk1"/>
              </a:solidFill>
              <a:latin typeface="Calibri"/>
              <a:ea typeface="Calibri"/>
              <a:cs typeface="Calibri"/>
              <a:sym typeface="Calibri"/>
            </a:endParaRPr>
          </a:p>
        </p:txBody>
      </p:sp>
      <p:sp>
        <p:nvSpPr>
          <p:cNvPr id="403" name="Google Shape;403;p15"/>
          <p:cNvSpPr/>
          <p:nvPr/>
        </p:nvSpPr>
        <p:spPr>
          <a:xfrm>
            <a:off x="548640" y="2788920"/>
            <a:ext cx="1325880" cy="384048"/>
          </a:xfrm>
          <a:prstGeom prst="roundRect">
            <a:avLst>
              <a:gd fmla="val 14286"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548640" y="278892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Waterfall</a:t>
            </a:r>
            <a:endParaRPr b="0" i="0" sz="1100" u="none" cap="none" strike="noStrike">
              <a:solidFill>
                <a:schemeClr val="dk1"/>
              </a:solidFill>
              <a:latin typeface="Calibri"/>
              <a:ea typeface="Calibri"/>
              <a:cs typeface="Calibri"/>
              <a:sym typeface="Calibri"/>
            </a:endParaRPr>
          </a:p>
        </p:txBody>
      </p:sp>
      <p:sp>
        <p:nvSpPr>
          <p:cNvPr id="405" name="Google Shape;405;p15"/>
          <p:cNvSpPr/>
          <p:nvPr/>
        </p:nvSpPr>
        <p:spPr>
          <a:xfrm>
            <a:off x="2011680" y="2788920"/>
            <a:ext cx="3977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9F2"/>
              </a:buClr>
              <a:buSzPts val="1200"/>
              <a:buFont typeface="Calibri"/>
              <a:buNone/>
            </a:pPr>
            <a:r>
              <a:rPr b="0" i="0" lang="en-US" sz="1200" u="none" cap="none" strike="noStrike">
                <a:solidFill>
                  <a:srgbClr val="E4E9F2"/>
                </a:solidFill>
                <a:latin typeface="Calibri"/>
                <a:ea typeface="Calibri"/>
                <a:cs typeface="Calibri"/>
                <a:sym typeface="Calibri"/>
              </a:rPr>
              <a:t>Fixed scope fits rigid academic regulations</a:t>
            </a:r>
            <a:endParaRPr b="0" i="0" sz="1200" u="none" cap="none" strike="noStrike">
              <a:solidFill>
                <a:schemeClr val="dk1"/>
              </a:solidFill>
              <a:latin typeface="Calibri"/>
              <a:ea typeface="Calibri"/>
              <a:cs typeface="Calibri"/>
              <a:sym typeface="Calibri"/>
            </a:endParaRPr>
          </a:p>
        </p:txBody>
      </p:sp>
      <p:sp>
        <p:nvSpPr>
          <p:cNvPr id="406" name="Google Shape;406;p15"/>
          <p:cNvSpPr/>
          <p:nvPr/>
        </p:nvSpPr>
        <p:spPr>
          <a:xfrm>
            <a:off x="548640" y="3300984"/>
            <a:ext cx="1325880" cy="384048"/>
          </a:xfrm>
          <a:prstGeom prst="roundRect">
            <a:avLst>
              <a:gd fmla="val 14286"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548640" y="3300984"/>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Agile</a:t>
            </a:r>
            <a:endParaRPr b="0" i="0" sz="1100" u="none" cap="none" strike="noStrike">
              <a:solidFill>
                <a:schemeClr val="dk1"/>
              </a:solidFill>
              <a:latin typeface="Calibri"/>
              <a:ea typeface="Calibri"/>
              <a:cs typeface="Calibri"/>
              <a:sym typeface="Calibri"/>
            </a:endParaRPr>
          </a:p>
        </p:txBody>
      </p:sp>
      <p:sp>
        <p:nvSpPr>
          <p:cNvPr id="408" name="Google Shape;408;p15"/>
          <p:cNvSpPr/>
          <p:nvPr/>
        </p:nvSpPr>
        <p:spPr>
          <a:xfrm>
            <a:off x="2011680" y="3300984"/>
            <a:ext cx="3977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9F2"/>
              </a:buClr>
              <a:buSzPts val="1200"/>
              <a:buFont typeface="Calibri"/>
              <a:buNone/>
            </a:pPr>
            <a:r>
              <a:rPr b="0" i="0" lang="en-US" sz="1200" u="none" cap="none" strike="noStrike">
                <a:solidFill>
                  <a:srgbClr val="E4E9F2"/>
                </a:solidFill>
                <a:latin typeface="Calibri"/>
                <a:ea typeface="Calibri"/>
                <a:cs typeface="Calibri"/>
                <a:sym typeface="Calibri"/>
              </a:rPr>
              <a:t>Adapts to evolving needs each semester</a:t>
            </a:r>
            <a:endParaRPr b="0" i="0" sz="1200" u="none" cap="none" strike="noStrike">
              <a:solidFill>
                <a:schemeClr val="dk1"/>
              </a:solidFill>
              <a:latin typeface="Calibri"/>
              <a:ea typeface="Calibri"/>
              <a:cs typeface="Calibri"/>
              <a:sym typeface="Calibri"/>
            </a:endParaRPr>
          </a:p>
        </p:txBody>
      </p:sp>
      <p:sp>
        <p:nvSpPr>
          <p:cNvPr id="409" name="Google Shape;409;p15"/>
          <p:cNvSpPr/>
          <p:nvPr/>
        </p:nvSpPr>
        <p:spPr>
          <a:xfrm>
            <a:off x="548640" y="3813048"/>
            <a:ext cx="1325880" cy="384048"/>
          </a:xfrm>
          <a:prstGeom prst="roundRect">
            <a:avLst>
              <a:gd fmla="val 14286" name="adj"/>
            </a:avLst>
          </a:prstGeom>
          <a:solidFill>
            <a:srgbClr val="2D82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548640" y="3813048"/>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DevOps</a:t>
            </a:r>
            <a:endParaRPr b="0" i="0" sz="1100" u="none" cap="none" strike="noStrike">
              <a:solidFill>
                <a:schemeClr val="dk1"/>
              </a:solidFill>
              <a:latin typeface="Calibri"/>
              <a:ea typeface="Calibri"/>
              <a:cs typeface="Calibri"/>
              <a:sym typeface="Calibri"/>
            </a:endParaRPr>
          </a:p>
        </p:txBody>
      </p:sp>
      <p:sp>
        <p:nvSpPr>
          <p:cNvPr id="411" name="Google Shape;411;p15"/>
          <p:cNvSpPr/>
          <p:nvPr/>
        </p:nvSpPr>
        <p:spPr>
          <a:xfrm>
            <a:off x="2011680" y="3813048"/>
            <a:ext cx="3977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9F2"/>
              </a:buClr>
              <a:buSzPts val="1200"/>
              <a:buFont typeface="Calibri"/>
              <a:buNone/>
            </a:pPr>
            <a:r>
              <a:rPr b="0" i="0" lang="en-US" sz="1200" u="none" cap="none" strike="noStrike">
                <a:solidFill>
                  <a:srgbClr val="E4E9F2"/>
                </a:solidFill>
                <a:latin typeface="Calibri"/>
                <a:ea typeface="Calibri"/>
                <a:cs typeface="Calibri"/>
                <a:sym typeface="Calibri"/>
              </a:rPr>
              <a:t>Sustains uptime during registration peaks</a:t>
            </a:r>
            <a:endParaRPr b="0" i="0" sz="1200" u="none" cap="none" strike="noStrike">
              <a:solidFill>
                <a:schemeClr val="dk1"/>
              </a:solidFill>
              <a:latin typeface="Calibri"/>
              <a:ea typeface="Calibri"/>
              <a:cs typeface="Calibri"/>
              <a:sym typeface="Calibri"/>
            </a:endParaRPr>
          </a:p>
        </p:txBody>
      </p:sp>
      <p:sp>
        <p:nvSpPr>
          <p:cNvPr id="412" name="Google Shape;412;p15"/>
          <p:cNvSpPr/>
          <p:nvPr/>
        </p:nvSpPr>
        <p:spPr>
          <a:xfrm>
            <a:off x="548640" y="4462272"/>
            <a:ext cx="5486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KEY TAKEAWAYS</a:t>
            </a:r>
            <a:endParaRPr b="0" i="0" sz="1200" u="none" cap="none" strike="noStrike">
              <a:solidFill>
                <a:schemeClr val="dk1"/>
              </a:solidFill>
              <a:latin typeface="Calibri"/>
              <a:ea typeface="Calibri"/>
              <a:cs typeface="Calibri"/>
              <a:sym typeface="Calibri"/>
            </a:endParaRPr>
          </a:p>
        </p:txBody>
      </p:sp>
      <p:sp>
        <p:nvSpPr>
          <p:cNvPr id="413" name="Google Shape;413;p15"/>
          <p:cNvSpPr/>
          <p:nvPr/>
        </p:nvSpPr>
        <p:spPr>
          <a:xfrm>
            <a:off x="548640" y="4782312"/>
            <a:ext cx="5669280" cy="14630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E4E9F2"/>
              </a:buClr>
              <a:buSzPts val="1300"/>
              <a:buFont typeface="Calibri"/>
              <a:buChar char="▪"/>
            </a:pPr>
            <a:r>
              <a:rPr b="0" i="0" lang="en-US" sz="1300" u="none" cap="none" strike="noStrike">
                <a:solidFill>
                  <a:srgbClr val="E4E9F2"/>
                </a:solidFill>
                <a:latin typeface="Calibri"/>
                <a:ea typeface="Calibri"/>
                <a:cs typeface="Calibri"/>
                <a:sym typeface="Calibri"/>
              </a:rPr>
              <a:t>No single model fits every project context</a:t>
            </a:r>
            <a:endParaRPr b="0" i="0" sz="13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E4E9F2"/>
              </a:buClr>
              <a:buSzPts val="1300"/>
              <a:buFont typeface="Calibri"/>
              <a:buChar char="▪"/>
            </a:pPr>
            <a:r>
              <a:rPr b="0" i="0" lang="en-US" sz="1300" u="none" cap="none" strike="noStrike">
                <a:solidFill>
                  <a:srgbClr val="E4E9F2"/>
                </a:solidFill>
                <a:latin typeface="Calibri"/>
                <a:ea typeface="Calibri"/>
                <a:cs typeface="Calibri"/>
                <a:sym typeface="Calibri"/>
              </a:rPr>
              <a:t>Modern engineering blends process, automation, and AI</a:t>
            </a:r>
            <a:endParaRPr b="0" i="0" sz="1300" u="none" cap="none" strike="noStrike">
              <a:solidFill>
                <a:schemeClr val="dk1"/>
              </a:solidFill>
              <a:latin typeface="Calibri"/>
              <a:ea typeface="Calibri"/>
              <a:cs typeface="Calibri"/>
              <a:sym typeface="Calibri"/>
            </a:endParaRPr>
          </a:p>
          <a:p>
            <a:pPr indent="-228600" lvl="0" marL="228600" marR="0" rtl="0" algn="l">
              <a:spcBef>
                <a:spcPts val="1000"/>
              </a:spcBef>
              <a:spcAft>
                <a:spcPts val="0"/>
              </a:spcAft>
              <a:buClr>
                <a:srgbClr val="E4E9F2"/>
              </a:buClr>
              <a:buSzPts val="1300"/>
              <a:buFont typeface="Calibri"/>
              <a:buChar char="▪"/>
            </a:pPr>
            <a:r>
              <a:rPr b="0" i="0" lang="en-US" sz="1300" u="none" cap="none" strike="noStrike">
                <a:solidFill>
                  <a:srgbClr val="E4E9F2"/>
                </a:solidFill>
                <a:latin typeface="Calibri"/>
                <a:ea typeface="Calibri"/>
                <a:cs typeface="Calibri"/>
                <a:sym typeface="Calibri"/>
              </a:rPr>
              <a:t>Match your process to your team’s risk and pace</a:t>
            </a:r>
            <a:endParaRPr b="0" i="0" sz="1300" u="none" cap="none" strike="noStrike">
              <a:solidFill>
                <a:schemeClr val="dk1"/>
              </a:solidFill>
              <a:latin typeface="Calibri"/>
              <a:ea typeface="Calibri"/>
              <a:cs typeface="Calibri"/>
              <a:sym typeface="Calibri"/>
            </a:endParaRPr>
          </a:p>
        </p:txBody>
      </p:sp>
      <p:sp>
        <p:nvSpPr>
          <p:cNvPr id="414" name="Google Shape;414;p15"/>
          <p:cNvSpPr/>
          <p:nvPr/>
        </p:nvSpPr>
        <p:spPr>
          <a:xfrm>
            <a:off x="6583680" y="2423160"/>
            <a:ext cx="5056632" cy="3977640"/>
          </a:xfrm>
          <a:prstGeom prst="roundRect">
            <a:avLst>
              <a:gd fmla="val 1839" name="adj"/>
            </a:avLst>
          </a:prstGeom>
          <a:solidFill>
            <a:srgbClr val="16305A"/>
          </a:solidFill>
          <a:ln cap="flat" cmpd="sng" w="12700">
            <a:solidFill>
              <a:srgbClr val="2A4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6812280" y="2606040"/>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994A"/>
              </a:buClr>
              <a:buSzPts val="1200"/>
              <a:buFont typeface="Calibri"/>
              <a:buNone/>
            </a:pPr>
            <a:r>
              <a:rPr b="1" i="0" lang="en-US" sz="1200" u="none" cap="none" strike="noStrike">
                <a:solidFill>
                  <a:srgbClr val="F2994A"/>
                </a:solidFill>
                <a:latin typeface="Calibri"/>
                <a:ea typeface="Calibri"/>
                <a:cs typeface="Calibri"/>
                <a:sym typeface="Calibri"/>
              </a:rPr>
              <a:t>DISCUSS IN GROUPS</a:t>
            </a:r>
            <a:endParaRPr b="0" i="0" sz="1200" u="none" cap="none" strike="noStrike">
              <a:solidFill>
                <a:schemeClr val="dk1"/>
              </a:solidFill>
              <a:latin typeface="Calibri"/>
              <a:ea typeface="Calibri"/>
              <a:cs typeface="Calibri"/>
              <a:sym typeface="Calibri"/>
            </a:endParaRPr>
          </a:p>
        </p:txBody>
      </p:sp>
      <p:sp>
        <p:nvSpPr>
          <p:cNvPr id="416" name="Google Shape;416;p15"/>
          <p:cNvSpPr/>
          <p:nvPr/>
        </p:nvSpPr>
        <p:spPr>
          <a:xfrm>
            <a:off x="6812280" y="2971800"/>
            <a:ext cx="461772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1.  Which model fits fixed academic regulations best?</a:t>
            </a:r>
            <a:endParaRPr b="0" i="0" sz="1350" u="none" cap="none" strike="noStrike">
              <a:solidFill>
                <a:schemeClr val="dk1"/>
              </a:solidFill>
              <a:latin typeface="Calibri"/>
              <a:ea typeface="Calibri"/>
              <a:cs typeface="Calibri"/>
              <a:sym typeface="Calibri"/>
            </a:endParaRPr>
          </a:p>
          <a:p>
            <a:pPr indent="0" lvl="0" marL="0" marR="0" rtl="0" algn="l">
              <a:spcBef>
                <a:spcPts val="160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2.  How would Agile handle sudden policy changes?</a:t>
            </a:r>
            <a:endParaRPr b="0" i="0" sz="1350" u="none" cap="none" strike="noStrike">
              <a:solidFill>
                <a:schemeClr val="dk1"/>
              </a:solidFill>
              <a:latin typeface="Calibri"/>
              <a:ea typeface="Calibri"/>
              <a:cs typeface="Calibri"/>
              <a:sym typeface="Calibri"/>
            </a:endParaRPr>
          </a:p>
          <a:p>
            <a:pPr indent="0" lvl="0" marL="0" marR="0" rtl="0" algn="l">
              <a:spcBef>
                <a:spcPts val="160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3.  Can DevOps sustain uptime during registration peaks?</a:t>
            </a:r>
            <a:endParaRPr b="0" i="0" sz="1350" u="none" cap="none" strike="noStrike">
              <a:solidFill>
                <a:schemeClr val="dk1"/>
              </a:solidFill>
              <a:latin typeface="Calibri"/>
              <a:ea typeface="Calibri"/>
              <a:cs typeface="Calibri"/>
              <a:sym typeface="Calibri"/>
            </a:endParaRPr>
          </a:p>
          <a:p>
            <a:pPr indent="0" lvl="0" marL="0" marR="0" rtl="0" algn="l">
              <a:spcBef>
                <a:spcPts val="160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4.  What risks arise from mixing models mid-project?</a:t>
            </a:r>
            <a:endParaRPr b="0" i="0" sz="1350" u="none" cap="none" strike="noStrike">
              <a:solidFill>
                <a:schemeClr val="dk1"/>
              </a:solidFill>
              <a:latin typeface="Calibri"/>
              <a:ea typeface="Calibri"/>
              <a:cs typeface="Calibri"/>
              <a:sym typeface="Calibri"/>
            </a:endParaRPr>
          </a:p>
          <a:p>
            <a:pPr indent="0" lvl="0" marL="0" marR="0" rtl="0" algn="l">
              <a:spcBef>
                <a:spcPts val="160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5.  How might AI assist each approach differently?</a:t>
            </a:r>
            <a:endParaRPr b="0" i="0" sz="1350" u="none" cap="none" strike="noStrike">
              <a:solidFill>
                <a:schemeClr val="dk1"/>
              </a:solidFill>
              <a:latin typeface="Calibri"/>
              <a:ea typeface="Calibri"/>
              <a:cs typeface="Calibri"/>
              <a:sym typeface="Calibri"/>
            </a:endParaRPr>
          </a:p>
        </p:txBody>
      </p:sp>
      <p:sp>
        <p:nvSpPr>
          <p:cNvPr id="417" name="Google Shape;417;p15"/>
          <p:cNvSpPr/>
          <p:nvPr/>
        </p:nvSpPr>
        <p:spPr>
          <a:xfrm>
            <a:off x="54864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SOFTWARE PROCESS MODELS &amp; SDLC</a:t>
            </a:r>
            <a:endParaRPr b="0" i="0" sz="900" u="none" cap="none" strike="noStrike">
              <a:solidFill>
                <a:schemeClr val="dk1"/>
              </a:solidFill>
              <a:latin typeface="Calibri"/>
              <a:ea typeface="Calibri"/>
              <a:cs typeface="Calibri"/>
              <a:sym typeface="Calibri"/>
            </a:endParaRPr>
          </a:p>
        </p:txBody>
      </p:sp>
      <p:sp>
        <p:nvSpPr>
          <p:cNvPr id="418" name="Google Shape;418;p15"/>
          <p:cNvSpPr/>
          <p:nvPr/>
        </p:nvSpPr>
        <p:spPr>
          <a:xfrm>
            <a:off x="1118585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2026-09-10T01:26:24Z</dcterms:created>
  <dc:creator>PptxGenJS</dc:creator>
</cp:coreProperties>
</file>